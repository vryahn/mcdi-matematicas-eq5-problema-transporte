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77" r:id="rId6"/>
    <p:sldId id="260" r:id="rId7"/>
    <p:sldId id="261" r:id="rId8"/>
    <p:sldId id="262" r:id="rId9"/>
    <p:sldId id="263" r:id="rId10"/>
    <p:sldId id="264" r:id="rId11"/>
    <p:sldId id="265" r:id="rId12"/>
    <p:sldId id="278" r:id="rId13"/>
    <p:sldId id="276" r:id="rId14"/>
    <p:sldId id="280" r:id="rId15"/>
    <p:sldId id="281" r:id="rId16"/>
    <p:sldId id="282" r:id="rId17"/>
    <p:sldId id="283" r:id="rId18"/>
    <p:sldId id="284" r:id="rId19"/>
    <p:sldId id="279" r:id="rId20"/>
    <p:sldId id="271" r:id="rId21"/>
    <p:sldId id="285" r:id="rId22"/>
    <p:sldId id="274" r:id="rId23"/>
    <p:sldId id="275"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6F4064-AF9A-0295-436C-6752765058C0}" v="9" dt="2026-05-14T16:20:05.643"/>
    <p1510:client id="{3E5DE420-34C4-A3D5-F374-3202F253AA9D}" v="12" dt="2026-05-14T21:01:42.895"/>
    <p1510:client id="{5F105DDC-CAE8-4F98-5689-93690316343D}" v="141" dt="2026-05-15T00:11:58.226"/>
    <p1510:client id="{64422FC6-C12E-C00F-B13E-2D351F49B8EC}" v="189" dt="2026-05-14T22:25:26.039"/>
    <p1510:client id="{D3997E88-E6BB-8041-AA32-4DD61D4F44FC}" v="712" dt="2026-05-15T01:05:20.158"/>
    <p1510:client id="{DF39327A-327C-1A2A-BE19-27765084B726}" v="40" dt="2026-05-14T19:59:22.7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76"/>
    <p:restoredTop sz="75357"/>
  </p:normalViewPr>
  <p:slideViewPr>
    <p:cSldViewPr snapToGrid="0">
      <p:cViewPr>
        <p:scale>
          <a:sx n="108" d="100"/>
          <a:sy n="108" d="100"/>
        </p:scale>
        <p:origin x="320" y="1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E877CC-227C-F548-B727-2DB8AB4D4AF4}" type="datetimeFigureOut">
              <a:rPr lang="en-MX" smtClean="0"/>
              <a:t>05/14/2026</a:t>
            </a:fld>
            <a:endParaRPr lang="en-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E6EBF6-62CB-DE44-8131-CAD60934E5D7}" type="slidenum">
              <a:rPr lang="en-MX" smtClean="0"/>
              <a:t>‹#›</a:t>
            </a:fld>
            <a:endParaRPr lang="en-MX"/>
          </a:p>
        </p:txBody>
      </p:sp>
    </p:spTree>
    <p:extLst>
      <p:ext uri="{BB962C8B-B14F-4D97-AF65-F5344CB8AC3E}">
        <p14:creationId xmlns:p14="http://schemas.microsoft.com/office/powerpoint/2010/main" val="27547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7FE6EBF6-62CB-DE44-8131-CAD60934E5D7}" type="slidenum">
              <a:rPr lang="en-MX" smtClean="0"/>
              <a:t>1</a:t>
            </a:fld>
            <a:endParaRPr lang="en-MX"/>
          </a:p>
        </p:txBody>
      </p:sp>
    </p:spTree>
    <p:extLst>
      <p:ext uri="{BB962C8B-B14F-4D97-AF65-F5344CB8AC3E}">
        <p14:creationId xmlns:p14="http://schemas.microsoft.com/office/powerpoint/2010/main" val="3975643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7FE6EBF6-62CB-DE44-8131-CAD60934E5D7}" type="slidenum">
              <a:rPr lang="en-MX" smtClean="0"/>
              <a:t>2</a:t>
            </a:fld>
            <a:endParaRPr lang="en-MX"/>
          </a:p>
        </p:txBody>
      </p:sp>
    </p:spTree>
    <p:extLst>
      <p:ext uri="{BB962C8B-B14F-4D97-AF65-F5344CB8AC3E}">
        <p14:creationId xmlns:p14="http://schemas.microsoft.com/office/powerpoint/2010/main" val="1059652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7FE6EBF6-62CB-DE44-8131-CAD60934E5D7}" type="slidenum">
              <a:rPr lang="en-MX" smtClean="0"/>
              <a:t>3</a:t>
            </a:fld>
            <a:endParaRPr lang="en-MX"/>
          </a:p>
        </p:txBody>
      </p:sp>
    </p:spTree>
    <p:extLst>
      <p:ext uri="{BB962C8B-B14F-4D97-AF65-F5344CB8AC3E}">
        <p14:creationId xmlns:p14="http://schemas.microsoft.com/office/powerpoint/2010/main" val="2527773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7FE6EBF6-62CB-DE44-8131-CAD60934E5D7}" type="slidenum">
              <a:rPr lang="en-MX" smtClean="0"/>
              <a:t>4</a:t>
            </a:fld>
            <a:endParaRPr lang="en-MX"/>
          </a:p>
        </p:txBody>
      </p:sp>
    </p:spTree>
    <p:extLst>
      <p:ext uri="{BB962C8B-B14F-4D97-AF65-F5344CB8AC3E}">
        <p14:creationId xmlns:p14="http://schemas.microsoft.com/office/powerpoint/2010/main" val="39172238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7FE6EBF6-62CB-DE44-8131-CAD60934E5D7}" type="slidenum">
              <a:rPr lang="en-MX" smtClean="0"/>
              <a:t>5</a:t>
            </a:fld>
            <a:endParaRPr lang="en-MX"/>
          </a:p>
        </p:txBody>
      </p:sp>
    </p:spTree>
    <p:extLst>
      <p:ext uri="{BB962C8B-B14F-4D97-AF65-F5344CB8AC3E}">
        <p14:creationId xmlns:p14="http://schemas.microsoft.com/office/powerpoint/2010/main" val="41002820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7FE6EBF6-62CB-DE44-8131-CAD60934E5D7}" type="slidenum">
              <a:rPr lang="en-MX" smtClean="0"/>
              <a:t>6</a:t>
            </a:fld>
            <a:endParaRPr lang="en-MX"/>
          </a:p>
        </p:txBody>
      </p:sp>
    </p:spTree>
    <p:extLst>
      <p:ext uri="{BB962C8B-B14F-4D97-AF65-F5344CB8AC3E}">
        <p14:creationId xmlns:p14="http://schemas.microsoft.com/office/powerpoint/2010/main" val="3149814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7FE6EBF6-62CB-DE44-8131-CAD60934E5D7}" type="slidenum">
              <a:rPr lang="en-MX" smtClean="0"/>
              <a:t>7</a:t>
            </a:fld>
            <a:endParaRPr lang="en-MX"/>
          </a:p>
        </p:txBody>
      </p:sp>
    </p:spTree>
    <p:extLst>
      <p:ext uri="{BB962C8B-B14F-4D97-AF65-F5344CB8AC3E}">
        <p14:creationId xmlns:p14="http://schemas.microsoft.com/office/powerpoint/2010/main" val="2741687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7FE6EBF6-62CB-DE44-8131-CAD60934E5D7}" type="slidenum">
              <a:rPr lang="en-MX" smtClean="0"/>
              <a:t>8</a:t>
            </a:fld>
            <a:endParaRPr lang="en-MX"/>
          </a:p>
        </p:txBody>
      </p:sp>
    </p:spTree>
    <p:extLst>
      <p:ext uri="{BB962C8B-B14F-4D97-AF65-F5344CB8AC3E}">
        <p14:creationId xmlns:p14="http://schemas.microsoft.com/office/powerpoint/2010/main" val="18426378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7FE6EBF6-62CB-DE44-8131-CAD60934E5D7}" type="slidenum">
              <a:rPr lang="en-MX" smtClean="0"/>
              <a:t>9</a:t>
            </a:fld>
            <a:endParaRPr lang="en-MX"/>
          </a:p>
        </p:txBody>
      </p:sp>
    </p:spTree>
    <p:extLst>
      <p:ext uri="{BB962C8B-B14F-4D97-AF65-F5344CB8AC3E}">
        <p14:creationId xmlns:p14="http://schemas.microsoft.com/office/powerpoint/2010/main" val="42676048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7FE6EBF6-62CB-DE44-8131-CAD60934E5D7}" type="slidenum">
              <a:rPr lang="en-MX" smtClean="0"/>
              <a:t>10</a:t>
            </a:fld>
            <a:endParaRPr lang="en-MX"/>
          </a:p>
        </p:txBody>
      </p:sp>
    </p:spTree>
    <p:extLst>
      <p:ext uri="{BB962C8B-B14F-4D97-AF65-F5344CB8AC3E}">
        <p14:creationId xmlns:p14="http://schemas.microsoft.com/office/powerpoint/2010/main" val="27580292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7FE6EBF6-62CB-DE44-8131-CAD60934E5D7}" type="slidenum">
              <a:rPr lang="en-MX" smtClean="0"/>
              <a:t>11</a:t>
            </a:fld>
            <a:endParaRPr lang="en-MX"/>
          </a:p>
        </p:txBody>
      </p:sp>
    </p:spTree>
    <p:extLst>
      <p:ext uri="{BB962C8B-B14F-4D97-AF65-F5344CB8AC3E}">
        <p14:creationId xmlns:p14="http://schemas.microsoft.com/office/powerpoint/2010/main" val="40068546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7FE6EBF6-62CB-DE44-8131-CAD60934E5D7}" type="slidenum">
              <a:rPr lang="en-MX" smtClean="0"/>
              <a:t>12</a:t>
            </a:fld>
            <a:endParaRPr lang="en-MX"/>
          </a:p>
        </p:txBody>
      </p:sp>
    </p:spTree>
    <p:extLst>
      <p:ext uri="{BB962C8B-B14F-4D97-AF65-F5344CB8AC3E}">
        <p14:creationId xmlns:p14="http://schemas.microsoft.com/office/powerpoint/2010/main" val="5595191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7FE6EBF6-62CB-DE44-8131-CAD60934E5D7}" type="slidenum">
              <a:rPr lang="en-MX" smtClean="0"/>
              <a:t>13</a:t>
            </a:fld>
            <a:endParaRPr lang="en-MX"/>
          </a:p>
        </p:txBody>
      </p:sp>
    </p:spTree>
    <p:extLst>
      <p:ext uri="{BB962C8B-B14F-4D97-AF65-F5344CB8AC3E}">
        <p14:creationId xmlns:p14="http://schemas.microsoft.com/office/powerpoint/2010/main" val="33935478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7FE6EBF6-62CB-DE44-8131-CAD60934E5D7}" type="slidenum">
              <a:rPr lang="en-MX" smtClean="0"/>
              <a:t>14</a:t>
            </a:fld>
            <a:endParaRPr lang="en-MX"/>
          </a:p>
        </p:txBody>
      </p:sp>
    </p:spTree>
    <p:extLst>
      <p:ext uri="{BB962C8B-B14F-4D97-AF65-F5344CB8AC3E}">
        <p14:creationId xmlns:p14="http://schemas.microsoft.com/office/powerpoint/2010/main" val="13899040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7FE6EBF6-62CB-DE44-8131-CAD60934E5D7}" type="slidenum">
              <a:rPr lang="en-MX" smtClean="0"/>
              <a:t>15</a:t>
            </a:fld>
            <a:endParaRPr lang="en-MX"/>
          </a:p>
        </p:txBody>
      </p:sp>
    </p:spTree>
    <p:extLst>
      <p:ext uri="{BB962C8B-B14F-4D97-AF65-F5344CB8AC3E}">
        <p14:creationId xmlns:p14="http://schemas.microsoft.com/office/powerpoint/2010/main" val="16155206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7FE6EBF6-62CB-DE44-8131-CAD60934E5D7}" type="slidenum">
              <a:rPr lang="en-MX" smtClean="0"/>
              <a:t>16</a:t>
            </a:fld>
            <a:endParaRPr lang="en-MX"/>
          </a:p>
        </p:txBody>
      </p:sp>
    </p:spTree>
    <p:extLst>
      <p:ext uri="{BB962C8B-B14F-4D97-AF65-F5344CB8AC3E}">
        <p14:creationId xmlns:p14="http://schemas.microsoft.com/office/powerpoint/2010/main" val="3151083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7FE6EBF6-62CB-DE44-8131-CAD60934E5D7}" type="slidenum">
              <a:rPr lang="en-MX" smtClean="0"/>
              <a:t>17</a:t>
            </a:fld>
            <a:endParaRPr lang="en-MX"/>
          </a:p>
        </p:txBody>
      </p:sp>
    </p:spTree>
    <p:extLst>
      <p:ext uri="{BB962C8B-B14F-4D97-AF65-F5344CB8AC3E}">
        <p14:creationId xmlns:p14="http://schemas.microsoft.com/office/powerpoint/2010/main" val="38694083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7FE6EBF6-62CB-DE44-8131-CAD60934E5D7}" type="slidenum">
              <a:rPr lang="en-MX" smtClean="0"/>
              <a:t>18</a:t>
            </a:fld>
            <a:endParaRPr lang="en-MX"/>
          </a:p>
        </p:txBody>
      </p:sp>
    </p:spTree>
    <p:extLst>
      <p:ext uri="{BB962C8B-B14F-4D97-AF65-F5344CB8AC3E}">
        <p14:creationId xmlns:p14="http://schemas.microsoft.com/office/powerpoint/2010/main" val="34531449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7FE6EBF6-62CB-DE44-8131-CAD60934E5D7}" type="slidenum">
              <a:rPr lang="en-MX" smtClean="0"/>
              <a:t>19</a:t>
            </a:fld>
            <a:endParaRPr lang="en-MX"/>
          </a:p>
        </p:txBody>
      </p:sp>
    </p:spTree>
    <p:extLst>
      <p:ext uri="{BB962C8B-B14F-4D97-AF65-F5344CB8AC3E}">
        <p14:creationId xmlns:p14="http://schemas.microsoft.com/office/powerpoint/2010/main" val="17063168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7FE6EBF6-62CB-DE44-8131-CAD60934E5D7}" type="slidenum">
              <a:rPr lang="en-MX" smtClean="0"/>
              <a:t>20</a:t>
            </a:fld>
            <a:endParaRPr lang="en-MX"/>
          </a:p>
        </p:txBody>
      </p:sp>
    </p:spTree>
    <p:extLst>
      <p:ext uri="{BB962C8B-B14F-4D97-AF65-F5344CB8AC3E}">
        <p14:creationId xmlns:p14="http://schemas.microsoft.com/office/powerpoint/2010/main" val="14537936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7FE6EBF6-62CB-DE44-8131-CAD60934E5D7}" type="slidenum">
              <a:rPr lang="en-MX" smtClean="0"/>
              <a:t>21</a:t>
            </a:fld>
            <a:endParaRPr lang="en-MX"/>
          </a:p>
        </p:txBody>
      </p:sp>
    </p:spTree>
    <p:extLst>
      <p:ext uri="{BB962C8B-B14F-4D97-AF65-F5344CB8AC3E}">
        <p14:creationId xmlns:p14="http://schemas.microsoft.com/office/powerpoint/2010/main" val="27914657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7FE6EBF6-62CB-DE44-8131-CAD60934E5D7}" type="slidenum">
              <a:rPr lang="en-MX" smtClean="0"/>
              <a:t>22</a:t>
            </a:fld>
            <a:endParaRPr lang="en-MX"/>
          </a:p>
        </p:txBody>
      </p:sp>
    </p:spTree>
    <p:extLst>
      <p:ext uri="{BB962C8B-B14F-4D97-AF65-F5344CB8AC3E}">
        <p14:creationId xmlns:p14="http://schemas.microsoft.com/office/powerpoint/2010/main" val="28369789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7FE6EBF6-62CB-DE44-8131-CAD60934E5D7}" type="slidenum">
              <a:rPr lang="en-MX" smtClean="0"/>
              <a:t>23</a:t>
            </a:fld>
            <a:endParaRPr lang="en-MX"/>
          </a:p>
        </p:txBody>
      </p:sp>
    </p:spTree>
    <p:extLst>
      <p:ext uri="{BB962C8B-B14F-4D97-AF65-F5344CB8AC3E}">
        <p14:creationId xmlns:p14="http://schemas.microsoft.com/office/powerpoint/2010/main" val="4030375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rcRect/>
          <a:stretch/>
        </p:blipFill>
        <p:spPr>
          <a:xfrm>
            <a:off x="640080" y="502920"/>
            <a:ext cx="1271016" cy="914400"/>
          </a:xfrm>
          <a:prstGeom prst="rect">
            <a:avLst/>
          </a:prstGeom>
        </p:spPr>
      </p:pic>
      <p:sp>
        <p:nvSpPr>
          <p:cNvPr id="3" name="Text 0"/>
          <p:cNvSpPr/>
          <p:nvPr/>
        </p:nvSpPr>
        <p:spPr>
          <a:xfrm>
            <a:off x="640080" y="1508760"/>
            <a:ext cx="5486400" cy="365760"/>
          </a:xfrm>
          <a:prstGeom prst="rect">
            <a:avLst/>
          </a:prstGeom>
          <a:noFill/>
          <a:ln/>
        </p:spPr>
        <p:txBody>
          <a:bodyPr wrap="square" lIns="0" tIns="0" rIns="0" bIns="0" rtlCol="0" anchor="t"/>
          <a:lstStyle/>
          <a:p>
            <a:pPr marL="0" indent="0" algn="l">
              <a:lnSpc>
                <a:spcPct val="115000"/>
              </a:lnSpc>
              <a:buNone/>
            </a:pPr>
            <a:r>
              <a:rPr lang="en-US" sz="950" i="1">
                <a:solidFill>
                  <a:srgbClr val="B89E94"/>
                </a:solidFill>
                <a:latin typeface="Inter" pitchFamily="34" charset="0"/>
                <a:ea typeface="Inter" pitchFamily="34" charset="-122"/>
                <a:cs typeface="Inter" pitchFamily="34" charset="-120"/>
              </a:rPr>
              <a:t>Centro de Investigación e Innovación en</a:t>
            </a:r>
            <a:endParaRPr lang="en-US" sz="950"/>
          </a:p>
          <a:p>
            <a:pPr marL="0" indent="0" algn="l">
              <a:lnSpc>
                <a:spcPct val="115000"/>
              </a:lnSpc>
              <a:buNone/>
            </a:pPr>
            <a:r>
              <a:rPr lang="en-US" sz="950" i="1">
                <a:solidFill>
                  <a:srgbClr val="B89E94"/>
                </a:solidFill>
                <a:latin typeface="Inter" pitchFamily="34" charset="0"/>
                <a:ea typeface="Inter" pitchFamily="34" charset="-122"/>
                <a:cs typeface="Inter" pitchFamily="34" charset="-120"/>
              </a:rPr>
              <a:t>Tecnologías de la Información y Comunicación</a:t>
            </a:r>
            <a:endParaRPr lang="en-US" sz="950"/>
          </a:p>
        </p:txBody>
      </p:sp>
      <p:sp>
        <p:nvSpPr>
          <p:cNvPr id="4" name="Text 1"/>
          <p:cNvSpPr/>
          <p:nvPr/>
        </p:nvSpPr>
        <p:spPr>
          <a:xfrm>
            <a:off x="640080" y="1965960"/>
            <a:ext cx="7315200" cy="228600"/>
          </a:xfrm>
          <a:prstGeom prst="rect">
            <a:avLst/>
          </a:prstGeom>
          <a:noFill/>
          <a:ln/>
        </p:spPr>
        <p:txBody>
          <a:bodyPr wrap="square" lIns="0" tIns="0" rIns="0" bIns="0" rtlCol="0" anchor="t"/>
          <a:lstStyle/>
          <a:p>
            <a:pPr marL="0" indent="0" algn="l">
              <a:buNone/>
            </a:pPr>
            <a:r>
              <a:rPr lang="en-US" sz="900" b="1" kern="0" spc="800">
                <a:solidFill>
                  <a:srgbClr val="B89058"/>
                </a:solidFill>
                <a:latin typeface="Inter" pitchFamily="34" charset="0"/>
                <a:ea typeface="Inter" pitchFamily="34" charset="-122"/>
                <a:cs typeface="Inter" pitchFamily="34" charset="-120"/>
              </a:rPr>
              <a:t>MAESTRÍA EN CIENCIA DE DATOS E INFORMACIÓN</a:t>
            </a:r>
            <a:endParaRPr lang="en-US" sz="900"/>
          </a:p>
        </p:txBody>
      </p:sp>
      <p:sp>
        <p:nvSpPr>
          <p:cNvPr id="5" name="Shape 2"/>
          <p:cNvSpPr/>
          <p:nvPr/>
        </p:nvSpPr>
        <p:spPr>
          <a:xfrm>
            <a:off x="640080" y="2331720"/>
            <a:ext cx="6400800" cy="73152"/>
          </a:xfrm>
          <a:prstGeom prst="rect">
            <a:avLst/>
          </a:prstGeom>
          <a:solidFill>
            <a:srgbClr val="B89058"/>
          </a:solidFill>
          <a:ln w="12700">
            <a:solidFill>
              <a:srgbClr val="B89058"/>
            </a:solidFill>
            <a:prstDash val="solid"/>
          </a:ln>
        </p:spPr>
        <p:txBody>
          <a:bodyPr/>
          <a:lstStyle/>
          <a:p>
            <a:endParaRPr lang="en-MX"/>
          </a:p>
        </p:txBody>
      </p:sp>
      <p:sp>
        <p:nvSpPr>
          <p:cNvPr id="6" name="Shape 3"/>
          <p:cNvSpPr/>
          <p:nvPr/>
        </p:nvSpPr>
        <p:spPr>
          <a:xfrm>
            <a:off x="640080" y="2450592"/>
            <a:ext cx="6400800" cy="22860"/>
          </a:xfrm>
          <a:prstGeom prst="rect">
            <a:avLst/>
          </a:prstGeom>
          <a:solidFill>
            <a:srgbClr val="B89058"/>
          </a:solidFill>
          <a:ln w="12700">
            <a:solidFill>
              <a:srgbClr val="B89058"/>
            </a:solidFill>
            <a:prstDash val="solid"/>
          </a:ln>
        </p:spPr>
        <p:txBody>
          <a:bodyPr/>
          <a:lstStyle/>
          <a:p>
            <a:endParaRPr lang="en-MX"/>
          </a:p>
        </p:txBody>
      </p:sp>
      <p:sp>
        <p:nvSpPr>
          <p:cNvPr id="7" name="Text 4"/>
          <p:cNvSpPr/>
          <p:nvPr/>
        </p:nvSpPr>
        <p:spPr>
          <a:xfrm>
            <a:off x="640080" y="2743200"/>
            <a:ext cx="7315200" cy="274320"/>
          </a:xfrm>
          <a:prstGeom prst="rect">
            <a:avLst/>
          </a:prstGeom>
          <a:noFill/>
          <a:ln/>
        </p:spPr>
        <p:txBody>
          <a:bodyPr wrap="square" lIns="0" tIns="0" rIns="0" bIns="0" rtlCol="0" anchor="t"/>
          <a:lstStyle/>
          <a:p>
            <a:pPr marL="0" indent="0" algn="l">
              <a:buNone/>
            </a:pPr>
            <a:r>
              <a:rPr lang="en-US" sz="1100" b="1" kern="0" spc="300">
                <a:solidFill>
                  <a:srgbClr val="B89058"/>
                </a:solidFill>
                <a:latin typeface="Inter" pitchFamily="34" charset="0"/>
                <a:ea typeface="Inter" pitchFamily="34" charset="-122"/>
                <a:cs typeface="Inter" pitchFamily="34" charset="-120"/>
              </a:rPr>
              <a:t>Actividad 4A — Reporte de Investigación</a:t>
            </a:r>
            <a:endParaRPr lang="en-US" sz="1100" spc="300"/>
          </a:p>
        </p:txBody>
      </p:sp>
      <p:sp>
        <p:nvSpPr>
          <p:cNvPr id="8" name="Text 5"/>
          <p:cNvSpPr/>
          <p:nvPr/>
        </p:nvSpPr>
        <p:spPr>
          <a:xfrm>
            <a:off x="640080" y="3108960"/>
            <a:ext cx="10058400" cy="1463040"/>
          </a:xfrm>
          <a:prstGeom prst="rect">
            <a:avLst/>
          </a:prstGeom>
          <a:noFill/>
          <a:ln/>
        </p:spPr>
        <p:txBody>
          <a:bodyPr wrap="square" lIns="0" tIns="0" rIns="0" bIns="0" rtlCol="0" anchor="t"/>
          <a:lstStyle/>
          <a:p>
            <a:pPr marL="0" indent="0" algn="l">
              <a:lnSpc>
                <a:spcPct val="105000"/>
              </a:lnSpc>
              <a:buNone/>
            </a:pPr>
            <a:r>
              <a:rPr lang="en-US" sz="2600" b="1" kern="0">
                <a:solidFill>
                  <a:srgbClr val="F0E5D8"/>
                </a:solidFill>
                <a:latin typeface="Garamond" pitchFamily="34" charset="0"/>
                <a:ea typeface="Garamond" pitchFamily="34" charset="-122"/>
                <a:cs typeface="Garamond" pitchFamily="34" charset="-120"/>
              </a:rPr>
              <a:t>El Problema del Transporte: Formulación Primal-Dual, Representación en Grafos y Aplicaciones</a:t>
            </a:r>
            <a:endParaRPr lang="en-US" sz="5400"/>
          </a:p>
        </p:txBody>
      </p:sp>
      <p:sp>
        <p:nvSpPr>
          <p:cNvPr id="9" name="Text 6"/>
          <p:cNvSpPr/>
          <p:nvPr/>
        </p:nvSpPr>
        <p:spPr>
          <a:xfrm>
            <a:off x="640080" y="4617720"/>
            <a:ext cx="10058400" cy="457200"/>
          </a:xfrm>
          <a:prstGeom prst="rect">
            <a:avLst/>
          </a:prstGeom>
          <a:noFill/>
          <a:ln/>
        </p:spPr>
        <p:txBody>
          <a:bodyPr wrap="square" lIns="0" tIns="0" rIns="0" bIns="0" rtlCol="0" anchor="t"/>
          <a:lstStyle/>
          <a:p>
            <a:pPr marL="0" indent="0" algn="l">
              <a:buNone/>
            </a:pPr>
            <a:r>
              <a:rPr lang="en-US" sz="1800" i="1">
                <a:solidFill>
                  <a:srgbClr val="D4B988"/>
                </a:solidFill>
                <a:latin typeface="Garamond" pitchFamily="34" charset="0"/>
                <a:ea typeface="Garamond" pitchFamily="34" charset="-122"/>
                <a:cs typeface="Garamond" pitchFamily="34" charset="-120"/>
              </a:rPr>
              <a:t>Tema 5: El Problema del Transporte</a:t>
            </a:r>
            <a:endParaRPr lang="en-US" sz="1800"/>
          </a:p>
        </p:txBody>
      </p:sp>
      <p:sp>
        <p:nvSpPr>
          <p:cNvPr id="10" name="Shape 7"/>
          <p:cNvSpPr/>
          <p:nvPr/>
        </p:nvSpPr>
        <p:spPr>
          <a:xfrm>
            <a:off x="640080" y="5166360"/>
            <a:ext cx="5486400" cy="16459"/>
          </a:xfrm>
          <a:prstGeom prst="rect">
            <a:avLst/>
          </a:prstGeom>
          <a:solidFill>
            <a:srgbClr val="B89058"/>
          </a:solidFill>
          <a:ln w="12700">
            <a:solidFill>
              <a:srgbClr val="B89058"/>
            </a:solidFill>
            <a:prstDash val="solid"/>
          </a:ln>
        </p:spPr>
        <p:txBody>
          <a:bodyPr/>
          <a:lstStyle/>
          <a:p>
            <a:endParaRPr lang="en-MX"/>
          </a:p>
        </p:txBody>
      </p:sp>
      <p:sp>
        <p:nvSpPr>
          <p:cNvPr id="11" name="Text 8"/>
          <p:cNvSpPr/>
          <p:nvPr/>
        </p:nvSpPr>
        <p:spPr>
          <a:xfrm>
            <a:off x="640080" y="5394960"/>
            <a:ext cx="1463040" cy="201168"/>
          </a:xfrm>
          <a:prstGeom prst="rect">
            <a:avLst/>
          </a:prstGeom>
          <a:noFill/>
          <a:ln/>
        </p:spPr>
        <p:txBody>
          <a:bodyPr wrap="square" lIns="0" tIns="0" rIns="0" bIns="0" rtlCol="0" anchor="ctr"/>
          <a:lstStyle/>
          <a:p>
            <a:pPr marL="0" indent="0" algn="l">
              <a:buNone/>
            </a:pPr>
            <a:r>
              <a:rPr lang="en-US" sz="800" b="1" kern="0" spc="600">
                <a:solidFill>
                  <a:srgbClr val="B89E94"/>
                </a:solidFill>
                <a:latin typeface="Inter" pitchFamily="34" charset="0"/>
                <a:ea typeface="Inter" pitchFamily="34" charset="-122"/>
                <a:cs typeface="Inter" pitchFamily="34" charset="-120"/>
              </a:rPr>
              <a:t>ASIGNATURA</a:t>
            </a:r>
            <a:endParaRPr lang="en-US" sz="800"/>
          </a:p>
        </p:txBody>
      </p:sp>
      <p:sp>
        <p:nvSpPr>
          <p:cNvPr id="12" name="Text 9"/>
          <p:cNvSpPr/>
          <p:nvPr/>
        </p:nvSpPr>
        <p:spPr>
          <a:xfrm>
            <a:off x="2194560" y="5394960"/>
            <a:ext cx="5486400" cy="201168"/>
          </a:xfrm>
          <a:prstGeom prst="rect">
            <a:avLst/>
          </a:prstGeom>
          <a:noFill/>
          <a:ln/>
        </p:spPr>
        <p:txBody>
          <a:bodyPr wrap="square" lIns="0" tIns="0" rIns="0" bIns="0" rtlCol="0" anchor="ctr"/>
          <a:lstStyle/>
          <a:p>
            <a:pPr marL="0" indent="0" algn="l">
              <a:buNone/>
            </a:pPr>
            <a:r>
              <a:rPr lang="en-US" sz="1000">
                <a:solidFill>
                  <a:srgbClr val="F0E5D8"/>
                </a:solidFill>
                <a:latin typeface="Inter" pitchFamily="34" charset="0"/>
                <a:ea typeface="Inter" pitchFamily="34" charset="-122"/>
                <a:cs typeface="Inter" pitchFamily="34" charset="-120"/>
              </a:rPr>
              <a:t>Matemáticas 2026-1</a:t>
            </a:r>
            <a:endParaRPr lang="en-US" sz="1000"/>
          </a:p>
        </p:txBody>
      </p:sp>
      <p:sp>
        <p:nvSpPr>
          <p:cNvPr id="13" name="Text 10"/>
          <p:cNvSpPr/>
          <p:nvPr/>
        </p:nvSpPr>
        <p:spPr>
          <a:xfrm>
            <a:off x="640080" y="5650992"/>
            <a:ext cx="1463040" cy="201168"/>
          </a:xfrm>
          <a:prstGeom prst="rect">
            <a:avLst/>
          </a:prstGeom>
          <a:noFill/>
          <a:ln/>
        </p:spPr>
        <p:txBody>
          <a:bodyPr wrap="square" lIns="0" tIns="0" rIns="0" bIns="0" rtlCol="0" anchor="ctr"/>
          <a:lstStyle/>
          <a:p>
            <a:pPr marL="0" indent="0" algn="l">
              <a:buNone/>
            </a:pPr>
            <a:r>
              <a:rPr lang="en-US" sz="800" b="1" kern="0" spc="600">
                <a:solidFill>
                  <a:srgbClr val="B89E94"/>
                </a:solidFill>
                <a:latin typeface="Inter" pitchFamily="34" charset="0"/>
                <a:ea typeface="Inter" pitchFamily="34" charset="-122"/>
                <a:cs typeface="Inter" pitchFamily="34" charset="-120"/>
              </a:rPr>
              <a:t>DOCENTE</a:t>
            </a:r>
            <a:endParaRPr lang="en-US" sz="800"/>
          </a:p>
        </p:txBody>
      </p:sp>
      <p:sp>
        <p:nvSpPr>
          <p:cNvPr id="14" name="Text 11"/>
          <p:cNvSpPr/>
          <p:nvPr/>
        </p:nvSpPr>
        <p:spPr>
          <a:xfrm>
            <a:off x="2194560" y="5650992"/>
            <a:ext cx="5486400" cy="201168"/>
          </a:xfrm>
          <a:prstGeom prst="rect">
            <a:avLst/>
          </a:prstGeom>
          <a:noFill/>
          <a:ln/>
        </p:spPr>
        <p:txBody>
          <a:bodyPr wrap="square" lIns="0" tIns="0" rIns="0" bIns="0" rtlCol="0" anchor="ctr"/>
          <a:lstStyle/>
          <a:p>
            <a:pPr marL="0" indent="0" algn="l">
              <a:buNone/>
            </a:pPr>
            <a:r>
              <a:rPr lang="en-US" sz="1000">
                <a:solidFill>
                  <a:srgbClr val="F0E5D8"/>
                </a:solidFill>
                <a:latin typeface="Inter" pitchFamily="34" charset="0"/>
                <a:ea typeface="Inter" pitchFamily="34" charset="-122"/>
                <a:cs typeface="Inter" pitchFamily="34" charset="-120"/>
              </a:rPr>
              <a:t>Dra. Briceyda B. Delgado</a:t>
            </a:r>
            <a:endParaRPr lang="en-US" sz="1000"/>
          </a:p>
        </p:txBody>
      </p:sp>
      <p:sp>
        <p:nvSpPr>
          <p:cNvPr id="15" name="Text 12"/>
          <p:cNvSpPr/>
          <p:nvPr/>
        </p:nvSpPr>
        <p:spPr>
          <a:xfrm>
            <a:off x="640080" y="5907024"/>
            <a:ext cx="1463040" cy="201168"/>
          </a:xfrm>
          <a:prstGeom prst="rect">
            <a:avLst/>
          </a:prstGeom>
          <a:noFill/>
          <a:ln/>
        </p:spPr>
        <p:txBody>
          <a:bodyPr wrap="square" lIns="0" tIns="0" rIns="0" bIns="0" rtlCol="0" anchor="ctr"/>
          <a:lstStyle/>
          <a:p>
            <a:pPr marL="0" indent="0" algn="l">
              <a:buNone/>
            </a:pPr>
            <a:r>
              <a:rPr lang="en-US" sz="800" b="1" kern="0" spc="600">
                <a:solidFill>
                  <a:srgbClr val="B89E94"/>
                </a:solidFill>
                <a:latin typeface="Inter" pitchFamily="34" charset="0"/>
                <a:ea typeface="Inter" pitchFamily="34" charset="-122"/>
                <a:cs typeface="Inter" pitchFamily="34" charset="-120"/>
              </a:rPr>
              <a:t>UNIDAD</a:t>
            </a:r>
            <a:endParaRPr lang="en-US" sz="800"/>
          </a:p>
        </p:txBody>
      </p:sp>
      <p:sp>
        <p:nvSpPr>
          <p:cNvPr id="16" name="Text 13"/>
          <p:cNvSpPr/>
          <p:nvPr/>
        </p:nvSpPr>
        <p:spPr>
          <a:xfrm>
            <a:off x="2194560" y="5907024"/>
            <a:ext cx="5486400" cy="201168"/>
          </a:xfrm>
          <a:prstGeom prst="rect">
            <a:avLst/>
          </a:prstGeom>
          <a:noFill/>
          <a:ln/>
        </p:spPr>
        <p:txBody>
          <a:bodyPr wrap="square" lIns="0" tIns="0" rIns="0" bIns="0" rtlCol="0" anchor="ctr"/>
          <a:lstStyle/>
          <a:p>
            <a:pPr marL="0" indent="0" algn="l">
              <a:buNone/>
            </a:pPr>
            <a:r>
              <a:rPr lang="en-US" sz="1000">
                <a:solidFill>
                  <a:srgbClr val="F0E5D8"/>
                </a:solidFill>
                <a:latin typeface="Inter" pitchFamily="34" charset="0"/>
                <a:ea typeface="Inter" pitchFamily="34" charset="-122"/>
                <a:cs typeface="Inter" pitchFamily="34" charset="-120"/>
              </a:rPr>
              <a:t>Unidad 3  —  Optimización y Programación Lineal</a:t>
            </a:r>
            <a:endParaRPr lang="en-US" sz="1000"/>
          </a:p>
        </p:txBody>
      </p:sp>
      <p:sp>
        <p:nvSpPr>
          <p:cNvPr id="17" name="Text 14"/>
          <p:cNvSpPr/>
          <p:nvPr/>
        </p:nvSpPr>
        <p:spPr>
          <a:xfrm>
            <a:off x="8046720" y="5394960"/>
            <a:ext cx="1828800" cy="201168"/>
          </a:xfrm>
          <a:prstGeom prst="rect">
            <a:avLst/>
          </a:prstGeom>
          <a:noFill/>
          <a:ln/>
        </p:spPr>
        <p:txBody>
          <a:bodyPr wrap="square" lIns="0" tIns="0" rIns="0" bIns="0" rtlCol="0" anchor="ctr"/>
          <a:lstStyle/>
          <a:p>
            <a:pPr marL="0" indent="0" algn="l">
              <a:buNone/>
            </a:pPr>
            <a:r>
              <a:rPr lang="en-US" sz="800" b="1" kern="0" spc="1000">
                <a:solidFill>
                  <a:srgbClr val="B89058"/>
                </a:solidFill>
                <a:latin typeface="Inter" pitchFamily="34" charset="0"/>
                <a:ea typeface="Inter" pitchFamily="34" charset="-122"/>
                <a:cs typeface="Inter" pitchFamily="34" charset="-120"/>
              </a:rPr>
              <a:t>POR</a:t>
            </a:r>
            <a:endParaRPr lang="en-US" sz="800"/>
          </a:p>
        </p:txBody>
      </p:sp>
      <p:sp>
        <p:nvSpPr>
          <p:cNvPr id="18" name="Text 15"/>
          <p:cNvSpPr/>
          <p:nvPr/>
        </p:nvSpPr>
        <p:spPr>
          <a:xfrm>
            <a:off x="8046720" y="5596128"/>
            <a:ext cx="3657600" cy="365760"/>
          </a:xfrm>
          <a:prstGeom prst="rect">
            <a:avLst/>
          </a:prstGeom>
          <a:noFill/>
          <a:ln/>
        </p:spPr>
        <p:txBody>
          <a:bodyPr wrap="square" lIns="0" tIns="0" rIns="0" bIns="0" rtlCol="0" anchor="ctr"/>
          <a:lstStyle/>
          <a:p>
            <a:pPr marL="0" indent="0" algn="l">
              <a:buNone/>
            </a:pPr>
            <a:r>
              <a:rPr lang="en-US" sz="1300" b="1">
                <a:solidFill>
                  <a:srgbClr val="F0E5D8"/>
                </a:solidFill>
                <a:latin typeface="Garamond" pitchFamily="34" charset="0"/>
                <a:ea typeface="Garamond" pitchFamily="34" charset="-122"/>
                <a:cs typeface="Garamond" pitchFamily="34" charset="-120"/>
              </a:rPr>
              <a:t>Equipo 5: Andrés Rangel · Santiago Mendoza · David Rodríguez · Bryan Rodríguez</a:t>
            </a:r>
            <a:endParaRPr lang="en-US" sz="1800"/>
          </a:p>
        </p:txBody>
      </p:sp>
      <p:sp>
        <p:nvSpPr>
          <p:cNvPr id="19" name="Text 16"/>
          <p:cNvSpPr/>
          <p:nvPr/>
        </p:nvSpPr>
        <p:spPr>
          <a:xfrm>
            <a:off x="8046720" y="5943600"/>
            <a:ext cx="3657600" cy="201168"/>
          </a:xfrm>
          <a:prstGeom prst="rect">
            <a:avLst/>
          </a:prstGeom>
          <a:noFill/>
          <a:ln/>
        </p:spPr>
        <p:txBody>
          <a:bodyPr wrap="square" lIns="0" tIns="0" rIns="0" bIns="0" rtlCol="0" anchor="ctr"/>
          <a:lstStyle/>
          <a:p>
            <a:pPr marL="0" indent="0" algn="l">
              <a:buNone/>
            </a:pPr>
            <a:endParaRPr lang="en-US" sz="900"/>
          </a:p>
        </p:txBody>
      </p:sp>
      <p:sp>
        <p:nvSpPr>
          <p:cNvPr id="20" name="Shape 17"/>
          <p:cNvSpPr/>
          <p:nvPr/>
        </p:nvSpPr>
        <p:spPr>
          <a:xfrm>
            <a:off x="640080" y="6355080"/>
            <a:ext cx="10911535" cy="10973"/>
          </a:xfrm>
          <a:prstGeom prst="rect">
            <a:avLst/>
          </a:prstGeom>
          <a:solidFill>
            <a:srgbClr val="5A2840"/>
          </a:solidFill>
          <a:ln w="12700">
            <a:solidFill>
              <a:srgbClr val="5A2840"/>
            </a:solidFill>
            <a:prstDash val="solid"/>
          </a:ln>
        </p:spPr>
        <p:txBody>
          <a:bodyPr/>
          <a:lstStyle/>
          <a:p>
            <a:endParaRPr lang="en-MX"/>
          </a:p>
        </p:txBody>
      </p:sp>
      <p:sp>
        <p:nvSpPr>
          <p:cNvPr id="21" name="Text 18"/>
          <p:cNvSpPr/>
          <p:nvPr/>
        </p:nvSpPr>
        <p:spPr>
          <a:xfrm>
            <a:off x="640080" y="6446520"/>
            <a:ext cx="3657600" cy="274320"/>
          </a:xfrm>
          <a:prstGeom prst="rect">
            <a:avLst/>
          </a:prstGeom>
          <a:noFill/>
          <a:ln/>
        </p:spPr>
        <p:txBody>
          <a:bodyPr wrap="square" lIns="0" tIns="0" rIns="0" bIns="0" rtlCol="0" anchor="ctr"/>
          <a:lstStyle/>
          <a:p>
            <a:pPr marL="0" indent="0" algn="l">
              <a:buNone/>
            </a:pPr>
            <a:r>
              <a:rPr lang="en-US" sz="900" b="1" kern="0" spc="800">
                <a:solidFill>
                  <a:srgbClr val="B89E94"/>
                </a:solidFill>
                <a:latin typeface="Inter" pitchFamily="34" charset="0"/>
                <a:ea typeface="Inter" pitchFamily="34" charset="-122"/>
                <a:cs typeface="Inter" pitchFamily="34" charset="-120"/>
              </a:rPr>
              <a:t>CIUDAD DE MÉXICO</a:t>
            </a:r>
            <a:endParaRPr lang="en-US" sz="900"/>
          </a:p>
        </p:txBody>
      </p:sp>
      <p:sp>
        <p:nvSpPr>
          <p:cNvPr id="22" name="Text 19"/>
          <p:cNvSpPr/>
          <p:nvPr/>
        </p:nvSpPr>
        <p:spPr>
          <a:xfrm>
            <a:off x="7894015" y="6446520"/>
            <a:ext cx="3657600" cy="274320"/>
          </a:xfrm>
          <a:prstGeom prst="rect">
            <a:avLst/>
          </a:prstGeom>
          <a:noFill/>
          <a:ln/>
        </p:spPr>
        <p:txBody>
          <a:bodyPr wrap="square" lIns="0" tIns="0" rIns="0" bIns="0" rtlCol="0" anchor="ctr"/>
          <a:lstStyle/>
          <a:p>
            <a:pPr marL="0" indent="0" algn="r">
              <a:buNone/>
            </a:pPr>
            <a:r>
              <a:rPr lang="en-US" sz="900" b="1" kern="0" spc="800">
                <a:solidFill>
                  <a:srgbClr val="B89E94"/>
                </a:solidFill>
                <a:latin typeface="Inter" pitchFamily="34" charset="0"/>
                <a:ea typeface="Inter" pitchFamily="34" charset="-122"/>
                <a:cs typeface="Inter" pitchFamily="34" charset="-120"/>
              </a:rPr>
              <a:t>Mayo de 2026</a:t>
            </a:r>
            <a:endParaRPr lang="en-US" sz="9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228600"/>
          </a:xfrm>
          <a:prstGeom prst="rect">
            <a:avLst/>
          </a:prstGeom>
          <a:noFill/>
          <a:ln/>
        </p:spPr>
        <p:txBody>
          <a:bodyPr wrap="square" lIns="0" tIns="0" rIns="0" bIns="0" rtlCol="0" anchor="ctr"/>
          <a:lstStyle/>
          <a:p>
            <a:pPr marL="0" indent="0" algn="l">
              <a:buNone/>
            </a:pPr>
            <a:r>
              <a:rPr lang="en-US" sz="800" b="1" kern="0" spc="600">
                <a:solidFill>
                  <a:srgbClr val="4A0F22"/>
                </a:solidFill>
                <a:latin typeface="Inter" pitchFamily="34" charset="0"/>
                <a:ea typeface="Inter" pitchFamily="34" charset="-122"/>
                <a:cs typeface="Inter" pitchFamily="34" charset="-120"/>
              </a:rPr>
              <a:t>INFOTEC   ·   M.C.D.I.   ·   Matemáticas 2026-1</a:t>
            </a:r>
            <a:endParaRPr lang="en-US" sz="800"/>
          </a:p>
        </p:txBody>
      </p:sp>
      <p:sp>
        <p:nvSpPr>
          <p:cNvPr id="3" name="Shape 1"/>
          <p:cNvSpPr/>
          <p:nvPr/>
        </p:nvSpPr>
        <p:spPr>
          <a:xfrm>
            <a:off x="548640" y="566928"/>
            <a:ext cx="11094415" cy="10973"/>
          </a:xfrm>
          <a:prstGeom prst="rect">
            <a:avLst/>
          </a:prstGeom>
          <a:solidFill>
            <a:srgbClr val="000000"/>
          </a:solidFill>
          <a:ln w="12700">
            <a:solidFill>
              <a:srgbClr val="333333"/>
            </a:solidFill>
            <a:prstDash val="solid"/>
          </a:ln>
        </p:spPr>
        <p:txBody>
          <a:bodyPr/>
          <a:lstStyle/>
          <a:p>
            <a:endParaRPr lang="en-MX"/>
          </a:p>
        </p:txBody>
      </p:sp>
      <p:sp>
        <p:nvSpPr>
          <p:cNvPr id="4" name="Text 2"/>
          <p:cNvSpPr/>
          <p:nvPr/>
        </p:nvSpPr>
        <p:spPr>
          <a:xfrm>
            <a:off x="640080" y="868680"/>
            <a:ext cx="5486400" cy="274320"/>
          </a:xfrm>
          <a:prstGeom prst="rect">
            <a:avLst/>
          </a:prstGeom>
          <a:noFill/>
          <a:ln/>
        </p:spPr>
        <p:txBody>
          <a:bodyPr wrap="square" lIns="0" tIns="0" rIns="0" bIns="0" rtlCol="0" anchor="t"/>
          <a:lstStyle/>
          <a:p>
            <a:pPr marL="0" indent="0" algn="l">
              <a:buNone/>
            </a:pPr>
            <a:r>
              <a:rPr lang="en-US" sz="900" b="1" kern="0" spc="1000">
                <a:solidFill>
                  <a:srgbClr val="8C6A38"/>
                </a:solidFill>
                <a:latin typeface="Inter" pitchFamily="34" charset="0"/>
                <a:ea typeface="Inter" pitchFamily="34" charset="-122"/>
                <a:cs typeface="Inter" pitchFamily="34" charset="-120"/>
              </a:rPr>
              <a:t>CONTENIDO</a:t>
            </a:r>
            <a:endParaRPr lang="en-US" sz="900"/>
          </a:p>
        </p:txBody>
      </p:sp>
      <p:sp>
        <p:nvSpPr>
          <p:cNvPr id="5" name="Text 3"/>
          <p:cNvSpPr/>
          <p:nvPr/>
        </p:nvSpPr>
        <p:spPr>
          <a:xfrm>
            <a:off x="640080" y="1143000"/>
            <a:ext cx="7315200" cy="1097280"/>
          </a:xfrm>
          <a:prstGeom prst="rect">
            <a:avLst/>
          </a:prstGeom>
          <a:noFill/>
          <a:ln/>
        </p:spPr>
        <p:txBody>
          <a:bodyPr wrap="square" lIns="0" tIns="0" rIns="0" bIns="0" rtlCol="0" anchor="t"/>
          <a:lstStyle/>
          <a:p>
            <a:pPr marL="0" indent="0" algn="l">
              <a:buNone/>
            </a:pPr>
            <a:r>
              <a:rPr lang="en-US" sz="6000" b="1" kern="0" spc="-200">
                <a:solidFill>
                  <a:srgbClr val="4A0F22"/>
                </a:solidFill>
                <a:latin typeface="Garamond" pitchFamily="34" charset="0"/>
                <a:ea typeface="Garamond" pitchFamily="34" charset="-122"/>
                <a:cs typeface="Garamond" pitchFamily="34" charset="-120"/>
              </a:rPr>
              <a:t>Índice</a:t>
            </a:r>
            <a:endParaRPr lang="en-US" sz="6000"/>
          </a:p>
        </p:txBody>
      </p:sp>
      <p:sp>
        <p:nvSpPr>
          <p:cNvPr id="6" name="Text 4"/>
          <p:cNvSpPr/>
          <p:nvPr/>
        </p:nvSpPr>
        <p:spPr>
          <a:xfrm>
            <a:off x="640080" y="2240280"/>
            <a:ext cx="7315200" cy="365760"/>
          </a:xfrm>
          <a:prstGeom prst="rect">
            <a:avLst/>
          </a:prstGeom>
          <a:noFill/>
          <a:ln/>
        </p:spPr>
        <p:txBody>
          <a:bodyPr wrap="square" lIns="0" tIns="0" rIns="0" bIns="0" rtlCol="0" anchor="t"/>
          <a:lstStyle/>
          <a:p>
            <a:pPr marL="0" indent="0" algn="l">
              <a:buNone/>
            </a:pPr>
            <a:r>
              <a:rPr lang="en-US" sz="1600" i="1">
                <a:solidFill>
                  <a:srgbClr val="681830"/>
                </a:solidFill>
                <a:latin typeface="Garamond" pitchFamily="34" charset="0"/>
                <a:ea typeface="Garamond" pitchFamily="34" charset="-122"/>
                <a:cs typeface="Garamond" pitchFamily="34" charset="-120"/>
              </a:rPr>
              <a:t>Estructura de la presentación</a:t>
            </a:r>
            <a:endParaRPr lang="en-US" sz="1600"/>
          </a:p>
        </p:txBody>
      </p:sp>
      <p:sp>
        <p:nvSpPr>
          <p:cNvPr id="7" name="Shape 5"/>
          <p:cNvSpPr/>
          <p:nvPr/>
        </p:nvSpPr>
        <p:spPr>
          <a:xfrm>
            <a:off x="640080" y="2743200"/>
            <a:ext cx="10911535" cy="73152"/>
          </a:xfrm>
          <a:prstGeom prst="rect">
            <a:avLst/>
          </a:prstGeom>
          <a:solidFill>
            <a:srgbClr val="681830"/>
          </a:solidFill>
          <a:ln w="12700">
            <a:solidFill>
              <a:srgbClr val="681830"/>
            </a:solidFill>
            <a:prstDash val="solid"/>
          </a:ln>
        </p:spPr>
        <p:txBody>
          <a:bodyPr/>
          <a:lstStyle/>
          <a:p>
            <a:endParaRPr lang="en-MX"/>
          </a:p>
        </p:txBody>
      </p:sp>
      <p:sp>
        <p:nvSpPr>
          <p:cNvPr id="8" name="Shape 6"/>
          <p:cNvSpPr/>
          <p:nvPr/>
        </p:nvSpPr>
        <p:spPr>
          <a:xfrm>
            <a:off x="640080" y="2862072"/>
            <a:ext cx="10911535" cy="22860"/>
          </a:xfrm>
          <a:prstGeom prst="rect">
            <a:avLst/>
          </a:prstGeom>
          <a:solidFill>
            <a:srgbClr val="681830"/>
          </a:solidFill>
          <a:ln w="12700">
            <a:solidFill>
              <a:srgbClr val="681830"/>
            </a:solidFill>
            <a:prstDash val="solid"/>
          </a:ln>
        </p:spPr>
        <p:txBody>
          <a:bodyPr/>
          <a:lstStyle/>
          <a:p>
            <a:endParaRPr lang="en-MX"/>
          </a:p>
        </p:txBody>
      </p:sp>
      <p:sp>
        <p:nvSpPr>
          <p:cNvPr id="9" name="Text 7"/>
          <p:cNvSpPr/>
          <p:nvPr/>
        </p:nvSpPr>
        <p:spPr>
          <a:xfrm>
            <a:off x="640080" y="3108960"/>
            <a:ext cx="822960" cy="502920"/>
          </a:xfrm>
          <a:prstGeom prst="rect">
            <a:avLst/>
          </a:prstGeom>
          <a:noFill/>
          <a:ln/>
        </p:spPr>
        <p:txBody>
          <a:bodyPr wrap="square" lIns="0" tIns="0" rIns="0" bIns="0" rtlCol="0" anchor="ctr"/>
          <a:lstStyle/>
          <a:p>
            <a:pPr marL="0" indent="0" algn="l">
              <a:buNone/>
            </a:pPr>
            <a:r>
              <a:rPr lang="en-US" sz="2800" b="1">
                <a:solidFill>
                  <a:srgbClr val="B89058"/>
                </a:solidFill>
                <a:latin typeface="Garamond" pitchFamily="34" charset="0"/>
                <a:ea typeface="Garamond" pitchFamily="34" charset="-122"/>
                <a:cs typeface="Garamond" pitchFamily="34" charset="-120"/>
              </a:rPr>
              <a:t>01</a:t>
            </a:r>
            <a:endParaRPr lang="en-US" sz="2800"/>
          </a:p>
        </p:txBody>
      </p:sp>
      <p:sp>
        <p:nvSpPr>
          <p:cNvPr id="10" name="Text 8"/>
          <p:cNvSpPr/>
          <p:nvPr/>
        </p:nvSpPr>
        <p:spPr>
          <a:xfrm>
            <a:off x="1554480" y="3108960"/>
            <a:ext cx="8321040" cy="502920"/>
          </a:xfrm>
          <a:prstGeom prst="rect">
            <a:avLst/>
          </a:prstGeom>
          <a:noFill/>
          <a:ln/>
        </p:spPr>
        <p:txBody>
          <a:bodyPr wrap="square" lIns="0" tIns="0" rIns="0" bIns="0" rtlCol="0" anchor="ctr"/>
          <a:lstStyle/>
          <a:p>
            <a:pPr marL="0" indent="0" algn="l">
              <a:buNone/>
            </a:pPr>
            <a:r>
              <a:rPr lang="en-US" sz="1800" b="1" err="1">
                <a:solidFill>
                  <a:srgbClr val="4A0F22"/>
                </a:solidFill>
                <a:latin typeface="Garamond" pitchFamily="34" charset="0"/>
                <a:ea typeface="Garamond" pitchFamily="34" charset="-122"/>
                <a:cs typeface="Garamond" pitchFamily="34" charset="-120"/>
              </a:rPr>
              <a:t>Introducción</a:t>
            </a:r>
            <a:r>
              <a:rPr lang="en-US" sz="1800" b="1">
                <a:solidFill>
                  <a:srgbClr val="4A0F22"/>
                </a:solidFill>
                <a:latin typeface="Garamond" pitchFamily="34" charset="0"/>
                <a:ea typeface="Garamond" pitchFamily="34" charset="-122"/>
                <a:cs typeface="Garamond" pitchFamily="34" charset="-120"/>
              </a:rPr>
              <a:t>, Desarrollo y </a:t>
            </a:r>
            <a:r>
              <a:rPr lang="en-US" sz="1800" b="1" err="1">
                <a:solidFill>
                  <a:srgbClr val="4A0F22"/>
                </a:solidFill>
                <a:latin typeface="Garamond" pitchFamily="34" charset="0"/>
                <a:ea typeface="Garamond" pitchFamily="34" charset="-122"/>
                <a:cs typeface="Garamond" pitchFamily="34" charset="-120"/>
              </a:rPr>
              <a:t>Formulación</a:t>
            </a:r>
            <a:r>
              <a:rPr lang="en-US" sz="1800" b="1">
                <a:solidFill>
                  <a:srgbClr val="4A0F22"/>
                </a:solidFill>
                <a:latin typeface="Garamond" pitchFamily="34" charset="0"/>
                <a:ea typeface="Garamond" pitchFamily="34" charset="-122"/>
                <a:cs typeface="Garamond" pitchFamily="34" charset="-120"/>
              </a:rPr>
              <a:t> </a:t>
            </a:r>
            <a:r>
              <a:rPr lang="en-US" sz="1800" b="1" err="1">
                <a:solidFill>
                  <a:srgbClr val="4A0F22"/>
                </a:solidFill>
                <a:latin typeface="Garamond" pitchFamily="34" charset="0"/>
                <a:ea typeface="Garamond" pitchFamily="34" charset="-122"/>
                <a:cs typeface="Garamond" pitchFamily="34" charset="-120"/>
              </a:rPr>
              <a:t>Matemática</a:t>
            </a:r>
            <a:endParaRPr lang="en-US" sz="1800"/>
          </a:p>
        </p:txBody>
      </p:sp>
      <p:sp>
        <p:nvSpPr>
          <p:cNvPr id="11" name="Shape 9"/>
          <p:cNvSpPr/>
          <p:nvPr/>
        </p:nvSpPr>
        <p:spPr>
          <a:xfrm>
            <a:off x="1554480" y="3575304"/>
            <a:ext cx="9997135" cy="7315"/>
          </a:xfrm>
          <a:prstGeom prst="rect">
            <a:avLst/>
          </a:prstGeom>
          <a:solidFill>
            <a:srgbClr val="E0D8CC"/>
          </a:solidFill>
          <a:ln w="12700">
            <a:solidFill>
              <a:srgbClr val="E0D8CC"/>
            </a:solidFill>
            <a:prstDash val="solid"/>
          </a:ln>
        </p:spPr>
        <p:txBody>
          <a:bodyPr/>
          <a:lstStyle/>
          <a:p>
            <a:endParaRPr lang="en-MX"/>
          </a:p>
        </p:txBody>
      </p:sp>
      <p:sp>
        <p:nvSpPr>
          <p:cNvPr id="12" name="Text 10"/>
          <p:cNvSpPr/>
          <p:nvPr/>
        </p:nvSpPr>
        <p:spPr>
          <a:xfrm>
            <a:off x="640080" y="3611880"/>
            <a:ext cx="822960" cy="502920"/>
          </a:xfrm>
          <a:prstGeom prst="rect">
            <a:avLst/>
          </a:prstGeom>
          <a:noFill/>
          <a:ln/>
        </p:spPr>
        <p:txBody>
          <a:bodyPr wrap="square" lIns="0" tIns="0" rIns="0" bIns="0" rtlCol="0" anchor="ctr"/>
          <a:lstStyle/>
          <a:p>
            <a:pPr marL="0" indent="0" algn="l">
              <a:buNone/>
            </a:pPr>
            <a:r>
              <a:rPr lang="en-US" sz="2800" b="1">
                <a:solidFill>
                  <a:srgbClr val="B89058"/>
                </a:solidFill>
                <a:latin typeface="Garamond" pitchFamily="34" charset="0"/>
                <a:ea typeface="Garamond" pitchFamily="34" charset="-122"/>
                <a:cs typeface="Garamond" pitchFamily="34" charset="-120"/>
              </a:rPr>
              <a:t>02</a:t>
            </a:r>
            <a:endParaRPr lang="en-US" sz="2800"/>
          </a:p>
        </p:txBody>
      </p:sp>
      <p:sp>
        <p:nvSpPr>
          <p:cNvPr id="13" name="Text 11"/>
          <p:cNvSpPr/>
          <p:nvPr/>
        </p:nvSpPr>
        <p:spPr>
          <a:xfrm>
            <a:off x="1554480" y="3611880"/>
            <a:ext cx="7772400" cy="502920"/>
          </a:xfrm>
          <a:prstGeom prst="rect">
            <a:avLst/>
          </a:prstGeom>
          <a:noFill/>
          <a:ln/>
        </p:spPr>
        <p:txBody>
          <a:bodyPr wrap="square" lIns="0" tIns="0" rIns="0" bIns="0" rtlCol="0" anchor="ctr"/>
          <a:lstStyle/>
          <a:p>
            <a:pPr marL="0" indent="0" algn="l">
              <a:buNone/>
            </a:pPr>
            <a:r>
              <a:rPr lang="en-US" sz="1800" b="1">
                <a:solidFill>
                  <a:srgbClr val="4A0F22"/>
                </a:solidFill>
                <a:latin typeface="Garamond" pitchFamily="34" charset="0"/>
                <a:ea typeface="Garamond" pitchFamily="34" charset="-122"/>
                <a:cs typeface="Garamond" pitchFamily="34" charset="-120"/>
              </a:rPr>
              <a:t>Dualidad, </a:t>
            </a:r>
            <a:r>
              <a:rPr lang="en-US" sz="1800" b="1" err="1">
                <a:solidFill>
                  <a:srgbClr val="4A0F22"/>
                </a:solidFill>
                <a:latin typeface="Garamond" pitchFamily="34" charset="0"/>
                <a:ea typeface="Garamond" pitchFamily="34" charset="-122"/>
                <a:cs typeface="Garamond" pitchFamily="34" charset="-120"/>
              </a:rPr>
              <a:t>Precios</a:t>
            </a:r>
            <a:r>
              <a:rPr lang="en-US" sz="1800" b="1">
                <a:solidFill>
                  <a:srgbClr val="4A0F22"/>
                </a:solidFill>
                <a:latin typeface="Garamond" pitchFamily="34" charset="0"/>
                <a:ea typeface="Garamond" pitchFamily="34" charset="-122"/>
                <a:cs typeface="Garamond" pitchFamily="34" charset="-120"/>
              </a:rPr>
              <a:t> Sombra y </a:t>
            </a:r>
            <a:r>
              <a:rPr lang="en-US" sz="1800" b="1" err="1">
                <a:solidFill>
                  <a:srgbClr val="4A0F22"/>
                </a:solidFill>
                <a:latin typeface="Garamond" pitchFamily="34" charset="0"/>
                <a:ea typeface="Garamond" pitchFamily="34" charset="-122"/>
                <a:cs typeface="Garamond" pitchFamily="34" charset="-120"/>
              </a:rPr>
              <a:t>Grafos</a:t>
            </a:r>
            <a:r>
              <a:rPr lang="en-US" sz="1800" b="1">
                <a:solidFill>
                  <a:srgbClr val="4A0F22"/>
                </a:solidFill>
                <a:latin typeface="Garamond" pitchFamily="34" charset="0"/>
                <a:ea typeface="Garamond" pitchFamily="34" charset="-122"/>
                <a:cs typeface="Garamond" pitchFamily="34" charset="-120"/>
              </a:rPr>
              <a:t> </a:t>
            </a:r>
            <a:r>
              <a:rPr lang="en-US" sz="1800" b="1" err="1">
                <a:solidFill>
                  <a:srgbClr val="4A0F22"/>
                </a:solidFill>
                <a:latin typeface="Garamond" pitchFamily="34" charset="0"/>
                <a:ea typeface="Garamond" pitchFamily="34" charset="-122"/>
                <a:cs typeface="Garamond" pitchFamily="34" charset="-120"/>
              </a:rPr>
              <a:t>Bipartitos</a:t>
            </a:r>
            <a:endParaRPr lang="en-US" sz="1800"/>
          </a:p>
        </p:txBody>
      </p:sp>
      <p:sp>
        <p:nvSpPr>
          <p:cNvPr id="14" name="Shape 12"/>
          <p:cNvSpPr/>
          <p:nvPr/>
        </p:nvSpPr>
        <p:spPr>
          <a:xfrm>
            <a:off x="1554480" y="4078224"/>
            <a:ext cx="9997135" cy="7315"/>
          </a:xfrm>
          <a:prstGeom prst="rect">
            <a:avLst/>
          </a:prstGeom>
          <a:solidFill>
            <a:srgbClr val="E0D8CC"/>
          </a:solidFill>
          <a:ln w="12700">
            <a:solidFill>
              <a:srgbClr val="E0D8CC"/>
            </a:solidFill>
            <a:prstDash val="solid"/>
          </a:ln>
        </p:spPr>
        <p:txBody>
          <a:bodyPr/>
          <a:lstStyle/>
          <a:p>
            <a:endParaRPr lang="en-MX"/>
          </a:p>
        </p:txBody>
      </p:sp>
      <p:sp>
        <p:nvSpPr>
          <p:cNvPr id="15" name="Text 13"/>
          <p:cNvSpPr/>
          <p:nvPr/>
        </p:nvSpPr>
        <p:spPr>
          <a:xfrm>
            <a:off x="640080" y="4114800"/>
            <a:ext cx="822960" cy="502920"/>
          </a:xfrm>
          <a:prstGeom prst="rect">
            <a:avLst/>
          </a:prstGeom>
          <a:noFill/>
          <a:ln/>
        </p:spPr>
        <p:txBody>
          <a:bodyPr wrap="square" lIns="0" tIns="0" rIns="0" bIns="0" rtlCol="0" anchor="ctr"/>
          <a:lstStyle/>
          <a:p>
            <a:pPr marL="0" indent="0" algn="l">
              <a:buNone/>
            </a:pPr>
            <a:r>
              <a:rPr lang="en-US" sz="2800" b="1">
                <a:solidFill>
                  <a:srgbClr val="B89058"/>
                </a:solidFill>
                <a:latin typeface="Garamond" pitchFamily="34" charset="0"/>
                <a:ea typeface="Garamond" pitchFamily="34" charset="-122"/>
                <a:cs typeface="Garamond" pitchFamily="34" charset="-120"/>
              </a:rPr>
              <a:t>03</a:t>
            </a:r>
            <a:endParaRPr lang="en-US" sz="2800"/>
          </a:p>
        </p:txBody>
      </p:sp>
      <p:sp>
        <p:nvSpPr>
          <p:cNvPr id="16" name="Text 14"/>
          <p:cNvSpPr/>
          <p:nvPr/>
        </p:nvSpPr>
        <p:spPr>
          <a:xfrm>
            <a:off x="1554480" y="4114800"/>
            <a:ext cx="7772400" cy="502920"/>
          </a:xfrm>
          <a:prstGeom prst="rect">
            <a:avLst/>
          </a:prstGeom>
          <a:noFill/>
          <a:ln/>
        </p:spPr>
        <p:txBody>
          <a:bodyPr wrap="square" lIns="0" tIns="0" rIns="0" bIns="0" rtlCol="0" anchor="ctr"/>
          <a:lstStyle/>
          <a:p>
            <a:pPr marL="0" indent="0" algn="l">
              <a:buNone/>
            </a:pPr>
            <a:r>
              <a:rPr lang="en-US" sz="1800" b="1" err="1">
                <a:solidFill>
                  <a:srgbClr val="4A0F22"/>
                </a:solidFill>
                <a:latin typeface="Garamond" pitchFamily="34" charset="0"/>
                <a:ea typeface="Garamond" pitchFamily="34" charset="-122"/>
                <a:cs typeface="Garamond" pitchFamily="34" charset="-120"/>
              </a:rPr>
              <a:t>Ejemplo</a:t>
            </a:r>
            <a:r>
              <a:rPr lang="en-US" sz="1800" b="1">
                <a:solidFill>
                  <a:srgbClr val="4A0F22"/>
                </a:solidFill>
                <a:latin typeface="Garamond" pitchFamily="34" charset="0"/>
                <a:ea typeface="Garamond" pitchFamily="34" charset="-122"/>
                <a:cs typeface="Garamond" pitchFamily="34" charset="-120"/>
              </a:rPr>
              <a:t> 1 y </a:t>
            </a:r>
            <a:r>
              <a:rPr lang="en-US" sz="1800" b="1" err="1">
                <a:solidFill>
                  <a:srgbClr val="4A0F22"/>
                </a:solidFill>
                <a:latin typeface="Garamond" pitchFamily="34" charset="0"/>
                <a:ea typeface="Garamond" pitchFamily="34" charset="-122"/>
                <a:cs typeface="Garamond" pitchFamily="34" charset="-120"/>
              </a:rPr>
              <a:t>otras</a:t>
            </a:r>
            <a:r>
              <a:rPr lang="en-US" sz="1800" b="1">
                <a:solidFill>
                  <a:srgbClr val="4A0F22"/>
                </a:solidFill>
                <a:latin typeface="Garamond" pitchFamily="34" charset="0"/>
                <a:ea typeface="Garamond" pitchFamily="34" charset="-122"/>
                <a:cs typeface="Garamond" pitchFamily="34" charset="-120"/>
              </a:rPr>
              <a:t> </a:t>
            </a:r>
            <a:r>
              <a:rPr lang="en-US" sz="1800" b="1" err="1">
                <a:solidFill>
                  <a:srgbClr val="4A0F22"/>
                </a:solidFill>
                <a:latin typeface="Garamond" pitchFamily="34" charset="0"/>
                <a:ea typeface="Garamond" pitchFamily="34" charset="-122"/>
                <a:cs typeface="Garamond" pitchFamily="34" charset="-120"/>
              </a:rPr>
              <a:t>Aplicaciones</a:t>
            </a:r>
            <a:r>
              <a:rPr lang="en-US" sz="1800" b="1">
                <a:solidFill>
                  <a:srgbClr val="4A0F22"/>
                </a:solidFill>
                <a:latin typeface="Garamond" pitchFamily="34" charset="0"/>
                <a:ea typeface="Garamond" pitchFamily="34" charset="-122"/>
                <a:cs typeface="Garamond" pitchFamily="34" charset="-120"/>
              </a:rPr>
              <a:t> </a:t>
            </a:r>
            <a:r>
              <a:rPr lang="en-US" b="1" err="1">
                <a:solidFill>
                  <a:srgbClr val="4A0F22"/>
                </a:solidFill>
                <a:latin typeface="Garamond" pitchFamily="34" charset="0"/>
                <a:ea typeface="Garamond" pitchFamily="34" charset="-122"/>
                <a:cs typeface="Garamond" pitchFamily="34" charset="-120"/>
              </a:rPr>
              <a:t>P</a:t>
            </a:r>
            <a:r>
              <a:rPr lang="en-US" sz="1800" b="1" err="1">
                <a:solidFill>
                  <a:srgbClr val="4A0F22"/>
                </a:solidFill>
                <a:latin typeface="Garamond" pitchFamily="34" charset="0"/>
                <a:ea typeface="Garamond" pitchFamily="34" charset="-122"/>
                <a:cs typeface="Garamond" pitchFamily="34" charset="-120"/>
              </a:rPr>
              <a:t>rácticas</a:t>
            </a:r>
            <a:endParaRPr lang="en-US" sz="1800"/>
          </a:p>
        </p:txBody>
      </p:sp>
      <p:sp>
        <p:nvSpPr>
          <p:cNvPr id="17" name="Shape 15"/>
          <p:cNvSpPr/>
          <p:nvPr/>
        </p:nvSpPr>
        <p:spPr>
          <a:xfrm>
            <a:off x="1554480" y="4581144"/>
            <a:ext cx="9997135" cy="7315"/>
          </a:xfrm>
          <a:prstGeom prst="rect">
            <a:avLst/>
          </a:prstGeom>
          <a:solidFill>
            <a:srgbClr val="E0D8CC"/>
          </a:solidFill>
          <a:ln w="12700">
            <a:solidFill>
              <a:srgbClr val="E0D8CC"/>
            </a:solidFill>
            <a:prstDash val="solid"/>
          </a:ln>
        </p:spPr>
        <p:txBody>
          <a:bodyPr/>
          <a:lstStyle/>
          <a:p>
            <a:endParaRPr lang="en-MX"/>
          </a:p>
        </p:txBody>
      </p:sp>
      <p:sp>
        <p:nvSpPr>
          <p:cNvPr id="18" name="Text 16"/>
          <p:cNvSpPr/>
          <p:nvPr/>
        </p:nvSpPr>
        <p:spPr>
          <a:xfrm>
            <a:off x="640080" y="4617720"/>
            <a:ext cx="822960" cy="502920"/>
          </a:xfrm>
          <a:prstGeom prst="rect">
            <a:avLst/>
          </a:prstGeom>
          <a:noFill/>
          <a:ln/>
        </p:spPr>
        <p:txBody>
          <a:bodyPr wrap="square" lIns="0" tIns="0" rIns="0" bIns="0" rtlCol="0" anchor="ctr"/>
          <a:lstStyle/>
          <a:p>
            <a:pPr marL="0" indent="0" algn="l">
              <a:buNone/>
            </a:pPr>
            <a:r>
              <a:rPr lang="en-US" sz="2800" b="1">
                <a:solidFill>
                  <a:srgbClr val="B89058"/>
                </a:solidFill>
                <a:latin typeface="Garamond" pitchFamily="34" charset="0"/>
                <a:ea typeface="Garamond" pitchFamily="34" charset="-122"/>
                <a:cs typeface="Garamond" pitchFamily="34" charset="-120"/>
              </a:rPr>
              <a:t>04</a:t>
            </a:r>
            <a:endParaRPr lang="en-US" sz="2800"/>
          </a:p>
        </p:txBody>
      </p:sp>
      <p:sp>
        <p:nvSpPr>
          <p:cNvPr id="19" name="Text 17"/>
          <p:cNvSpPr/>
          <p:nvPr/>
        </p:nvSpPr>
        <p:spPr>
          <a:xfrm>
            <a:off x="1554480" y="4617720"/>
            <a:ext cx="7772400" cy="502920"/>
          </a:xfrm>
          <a:prstGeom prst="rect">
            <a:avLst/>
          </a:prstGeom>
          <a:noFill/>
          <a:ln/>
        </p:spPr>
        <p:txBody>
          <a:bodyPr wrap="square" lIns="0" tIns="0" rIns="0" bIns="0" rtlCol="0" anchor="ctr"/>
          <a:lstStyle/>
          <a:p>
            <a:pPr marL="0" indent="0" algn="l">
              <a:buNone/>
            </a:pPr>
            <a:r>
              <a:rPr lang="en-US" sz="1800" b="1">
                <a:solidFill>
                  <a:srgbClr val="4A0F22"/>
                </a:solidFill>
                <a:latin typeface="Garamond" pitchFamily="34" charset="0"/>
                <a:ea typeface="Garamond" pitchFamily="34" charset="-122"/>
                <a:cs typeface="Garamond" pitchFamily="34" charset="-120"/>
              </a:rPr>
              <a:t>Ejemplo 2, </a:t>
            </a:r>
            <a:r>
              <a:rPr lang="en-US" sz="1800" b="1" err="1">
                <a:solidFill>
                  <a:srgbClr val="4A0F22"/>
                </a:solidFill>
                <a:latin typeface="Garamond" pitchFamily="34" charset="0"/>
                <a:ea typeface="Garamond" pitchFamily="34" charset="-122"/>
                <a:cs typeface="Garamond" pitchFamily="34" charset="-120"/>
              </a:rPr>
              <a:t>Limitaciones</a:t>
            </a:r>
            <a:r>
              <a:rPr lang="en-US" sz="1800" b="1">
                <a:solidFill>
                  <a:srgbClr val="4A0F22"/>
                </a:solidFill>
                <a:latin typeface="Garamond" pitchFamily="34" charset="0"/>
                <a:ea typeface="Garamond" pitchFamily="34" charset="-122"/>
                <a:cs typeface="Garamond" pitchFamily="34" charset="-120"/>
              </a:rPr>
              <a:t> y </a:t>
            </a:r>
            <a:r>
              <a:rPr lang="en-US" sz="1800" b="1" err="1">
                <a:solidFill>
                  <a:srgbClr val="4A0F22"/>
                </a:solidFill>
                <a:latin typeface="Garamond" pitchFamily="34" charset="0"/>
                <a:ea typeface="Garamond" pitchFamily="34" charset="-122"/>
                <a:cs typeface="Garamond" pitchFamily="34" charset="-120"/>
              </a:rPr>
              <a:t>Conclusiones</a:t>
            </a:r>
            <a:endParaRPr lang="en-US" sz="1800"/>
          </a:p>
        </p:txBody>
      </p:sp>
      <p:sp>
        <p:nvSpPr>
          <p:cNvPr id="20" name="Shape 18"/>
          <p:cNvSpPr/>
          <p:nvPr/>
        </p:nvSpPr>
        <p:spPr>
          <a:xfrm>
            <a:off x="1554480" y="5084064"/>
            <a:ext cx="9997135" cy="7315"/>
          </a:xfrm>
          <a:prstGeom prst="rect">
            <a:avLst/>
          </a:prstGeom>
          <a:solidFill>
            <a:srgbClr val="E0D8CC"/>
          </a:solidFill>
          <a:ln w="12700">
            <a:solidFill>
              <a:srgbClr val="E0D8CC"/>
            </a:solidFill>
            <a:prstDash val="solid"/>
          </a:ln>
        </p:spPr>
        <p:txBody>
          <a:bodyPr/>
          <a:lstStyle/>
          <a:p>
            <a:endParaRPr lang="en-MX"/>
          </a:p>
        </p:txBody>
      </p:sp>
      <p:sp>
        <p:nvSpPr>
          <p:cNvPr id="35" name="Shape 9">
            <a:extLst>
              <a:ext uri="{FF2B5EF4-FFF2-40B4-BE49-F238E27FC236}">
                <a16:creationId xmlns:a16="http://schemas.microsoft.com/office/drawing/2014/main" id="{C1F6663E-C5AD-CA67-544B-8992401E033D}"/>
              </a:ext>
            </a:extLst>
          </p:cNvPr>
          <p:cNvSpPr/>
          <p:nvPr/>
        </p:nvSpPr>
        <p:spPr>
          <a:xfrm>
            <a:off x="548640" y="6473952"/>
            <a:ext cx="11094415" cy="10973"/>
          </a:xfrm>
          <a:prstGeom prst="rect">
            <a:avLst/>
          </a:prstGeom>
          <a:solidFill>
            <a:srgbClr val="E0D8CC"/>
          </a:solidFill>
          <a:ln w="12700">
            <a:solidFill>
              <a:srgbClr val="E0D8CC"/>
            </a:solidFill>
            <a:prstDash val="solid"/>
          </a:ln>
        </p:spPr>
        <p:txBody>
          <a:bodyPr/>
          <a:lstStyle/>
          <a:p>
            <a:endParaRPr lang="en-MX"/>
          </a:p>
        </p:txBody>
      </p:sp>
      <p:sp>
        <p:nvSpPr>
          <p:cNvPr id="36" name="Text 10">
            <a:extLst>
              <a:ext uri="{FF2B5EF4-FFF2-40B4-BE49-F238E27FC236}">
                <a16:creationId xmlns:a16="http://schemas.microsoft.com/office/drawing/2014/main" id="{CC070F23-41B7-65E7-0293-6AAFE79FCC55}"/>
              </a:ext>
            </a:extLst>
          </p:cNvPr>
          <p:cNvSpPr/>
          <p:nvPr/>
        </p:nvSpPr>
        <p:spPr>
          <a:xfrm>
            <a:off x="548640" y="6565392"/>
            <a:ext cx="1828800" cy="182880"/>
          </a:xfrm>
          <a:prstGeom prst="rect">
            <a:avLst/>
          </a:prstGeom>
          <a:noFill/>
          <a:ln/>
        </p:spPr>
        <p:txBody>
          <a:bodyPr wrap="square" lIns="0" tIns="0" rIns="0" bIns="0" rtlCol="0" anchor="ctr"/>
          <a:lstStyle/>
          <a:p>
            <a:pPr marL="0" indent="0" algn="l">
              <a:buNone/>
            </a:pPr>
            <a:r>
              <a:rPr lang="en-US" sz="800" b="1" kern="0" spc="400">
                <a:solidFill>
                  <a:srgbClr val="7A6F73"/>
                </a:solidFill>
                <a:latin typeface="Inter" pitchFamily="34" charset="0"/>
                <a:ea typeface="Inter" pitchFamily="34" charset="-122"/>
                <a:cs typeface="Inter" pitchFamily="34" charset="-120"/>
              </a:rPr>
              <a:t>M.C.D.I.</a:t>
            </a:r>
            <a:endParaRPr lang="en-US" sz="800"/>
          </a:p>
        </p:txBody>
      </p:sp>
      <p:sp>
        <p:nvSpPr>
          <p:cNvPr id="37" name="Text 11">
            <a:extLst>
              <a:ext uri="{FF2B5EF4-FFF2-40B4-BE49-F238E27FC236}">
                <a16:creationId xmlns:a16="http://schemas.microsoft.com/office/drawing/2014/main" id="{7AE6E9A3-EEA9-874D-94D9-120F77C19CFA}"/>
              </a:ext>
            </a:extLst>
          </p:cNvPr>
          <p:cNvSpPr/>
          <p:nvPr/>
        </p:nvSpPr>
        <p:spPr>
          <a:xfrm>
            <a:off x="4724248" y="6565392"/>
            <a:ext cx="2743200" cy="182880"/>
          </a:xfrm>
          <a:prstGeom prst="rect">
            <a:avLst/>
          </a:prstGeom>
          <a:noFill/>
          <a:ln/>
        </p:spPr>
        <p:txBody>
          <a:bodyPr wrap="square" lIns="0" tIns="0" rIns="0" bIns="0" rtlCol="0" anchor="ctr"/>
          <a:lstStyle/>
          <a:p>
            <a:pPr marL="0" indent="0" algn="ctr">
              <a:buNone/>
            </a:pPr>
            <a:r>
              <a:rPr lang="en-US" sz="900" i="1">
                <a:solidFill>
                  <a:srgbClr val="8C6A38"/>
                </a:solidFill>
                <a:latin typeface="Garamond" pitchFamily="34" charset="0"/>
                <a:ea typeface="Garamond" pitchFamily="34" charset="-122"/>
                <a:cs typeface="Garamond" pitchFamily="34" charset="-120"/>
              </a:rPr>
              <a:t>—  2 / 20  —</a:t>
            </a:r>
            <a:endParaRPr lang="en-US" sz="900"/>
          </a:p>
        </p:txBody>
      </p:sp>
      <p:sp>
        <p:nvSpPr>
          <p:cNvPr id="38" name="Text 12">
            <a:extLst>
              <a:ext uri="{FF2B5EF4-FFF2-40B4-BE49-F238E27FC236}">
                <a16:creationId xmlns:a16="http://schemas.microsoft.com/office/drawing/2014/main" id="{1F35EF6D-805D-DEB2-EB65-7AD30EFA5D8E}"/>
              </a:ext>
            </a:extLst>
          </p:cNvPr>
          <p:cNvSpPr/>
          <p:nvPr/>
        </p:nvSpPr>
        <p:spPr>
          <a:xfrm>
            <a:off x="8899855" y="6565392"/>
            <a:ext cx="2743200" cy="182880"/>
          </a:xfrm>
          <a:prstGeom prst="rect">
            <a:avLst/>
          </a:prstGeom>
          <a:noFill/>
          <a:ln/>
        </p:spPr>
        <p:txBody>
          <a:bodyPr wrap="square" lIns="0" tIns="0" rIns="0" bIns="0" rtlCol="0" anchor="ctr"/>
          <a:lstStyle/>
          <a:p>
            <a:pPr algn="r"/>
            <a:r>
              <a:rPr lang="en-US" sz="800" i="1">
                <a:solidFill>
                  <a:srgbClr val="7A6F73"/>
                </a:solidFill>
                <a:latin typeface="Garamond" pitchFamily="34" charset="0"/>
                <a:ea typeface="Garamond" pitchFamily="34" charset="-122"/>
                <a:cs typeface="Garamond" pitchFamily="34" charset="-120"/>
              </a:rPr>
              <a:t>Equipo 5</a:t>
            </a:r>
            <a:endParaRPr lang="en-US" sz="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228600"/>
          </a:xfrm>
          <a:prstGeom prst="rect">
            <a:avLst/>
          </a:prstGeom>
          <a:noFill/>
          <a:ln/>
        </p:spPr>
        <p:txBody>
          <a:bodyPr wrap="square" lIns="0" tIns="0" rIns="0" bIns="0" rtlCol="0" anchor="ctr"/>
          <a:lstStyle/>
          <a:p>
            <a:pPr marL="0" indent="0" algn="l">
              <a:buNone/>
            </a:pPr>
            <a:r>
              <a:rPr lang="en-US" sz="800" b="1" kern="0" spc="600">
                <a:solidFill>
                  <a:srgbClr val="4A0F22"/>
                </a:solidFill>
                <a:latin typeface="Inter" pitchFamily="34" charset="0"/>
                <a:ea typeface="Inter" pitchFamily="34" charset="-122"/>
                <a:cs typeface="Inter" pitchFamily="34" charset="-120"/>
              </a:rPr>
              <a:t>INFOTEC   ·   M.C.D.I.   ·   Matemáticas 2026-1</a:t>
            </a:r>
            <a:endParaRPr lang="en-US" sz="800"/>
          </a:p>
        </p:txBody>
      </p:sp>
      <p:sp>
        <p:nvSpPr>
          <p:cNvPr id="3" name="Shape 1"/>
          <p:cNvSpPr/>
          <p:nvPr/>
        </p:nvSpPr>
        <p:spPr>
          <a:xfrm>
            <a:off x="548640" y="566928"/>
            <a:ext cx="11094415" cy="10973"/>
          </a:xfrm>
          <a:prstGeom prst="rect">
            <a:avLst/>
          </a:prstGeom>
          <a:solidFill>
            <a:srgbClr val="000000"/>
          </a:solidFill>
          <a:ln w="12700">
            <a:solidFill>
              <a:srgbClr val="333333"/>
            </a:solidFill>
            <a:prstDash val="solid"/>
          </a:ln>
        </p:spPr>
        <p:txBody>
          <a:bodyPr/>
          <a:lstStyle/>
          <a:p>
            <a:endParaRPr lang="en-MX"/>
          </a:p>
        </p:txBody>
      </p:sp>
      <p:sp>
        <p:nvSpPr>
          <p:cNvPr id="5" name="Text 3"/>
          <p:cNvSpPr/>
          <p:nvPr/>
        </p:nvSpPr>
        <p:spPr>
          <a:xfrm>
            <a:off x="640080" y="1097280"/>
            <a:ext cx="10911535" cy="868680"/>
          </a:xfrm>
          <a:prstGeom prst="rect">
            <a:avLst/>
          </a:prstGeom>
          <a:noFill/>
          <a:ln/>
        </p:spPr>
        <p:txBody>
          <a:bodyPr wrap="square" lIns="0" tIns="0" rIns="0" bIns="0" rtlCol="0" anchor="t"/>
          <a:lstStyle/>
          <a:p>
            <a:pPr marL="0" indent="0" algn="l">
              <a:buNone/>
            </a:pPr>
            <a:r>
              <a:rPr lang="es-ES" sz="3000" b="1">
                <a:solidFill>
                  <a:srgbClr val="B89058"/>
                </a:solidFill>
                <a:latin typeface="Garamond"/>
              </a:rPr>
              <a:t>03</a:t>
            </a:r>
            <a:r>
              <a:rPr sz="3000" b="1">
                <a:solidFill>
                  <a:srgbClr val="B89058"/>
                </a:solidFill>
                <a:latin typeface="Garamond"/>
              </a:rPr>
              <a:t>. </a:t>
            </a:r>
            <a:r>
              <a:rPr sz="3000" b="1">
                <a:solidFill>
                  <a:srgbClr val="4A0F22"/>
                </a:solidFill>
                <a:latin typeface="Garamond"/>
              </a:rPr>
              <a:t>¿</a:t>
            </a:r>
            <a:r>
              <a:rPr sz="3000" b="1" err="1">
                <a:solidFill>
                  <a:srgbClr val="4A0F22"/>
                </a:solidFill>
                <a:latin typeface="Garamond"/>
              </a:rPr>
              <a:t>Qué</a:t>
            </a:r>
            <a:r>
              <a:rPr sz="3000" b="1">
                <a:solidFill>
                  <a:srgbClr val="4A0F22"/>
                </a:solidFill>
                <a:latin typeface="Garamond"/>
              </a:rPr>
              <a:t> es </a:t>
            </a:r>
            <a:r>
              <a:rPr sz="3000" b="1" err="1">
                <a:solidFill>
                  <a:srgbClr val="4A0F22"/>
                </a:solidFill>
                <a:latin typeface="Garamond"/>
              </a:rPr>
              <a:t>el</a:t>
            </a:r>
            <a:r>
              <a:rPr sz="3000" b="1">
                <a:solidFill>
                  <a:srgbClr val="4A0F22"/>
                </a:solidFill>
                <a:latin typeface="Garamond"/>
              </a:rPr>
              <a:t> </a:t>
            </a:r>
            <a:r>
              <a:rPr sz="3000" b="1" err="1">
                <a:solidFill>
                  <a:srgbClr val="4A0F22"/>
                </a:solidFill>
                <a:latin typeface="Garamond"/>
              </a:rPr>
              <a:t>Problema</a:t>
            </a:r>
            <a:r>
              <a:rPr sz="3000" b="1">
                <a:solidFill>
                  <a:srgbClr val="4A0F22"/>
                </a:solidFill>
                <a:latin typeface="Garamond"/>
              </a:rPr>
              <a:t> del Transporte?</a:t>
            </a:r>
            <a:endParaRPr lang="en-US" sz="3800"/>
          </a:p>
        </p:txBody>
      </p:sp>
      <p:sp>
        <p:nvSpPr>
          <p:cNvPr id="6" name="Shape 4"/>
          <p:cNvSpPr/>
          <p:nvPr/>
        </p:nvSpPr>
        <p:spPr>
          <a:xfrm>
            <a:off x="640080" y="2057400"/>
            <a:ext cx="10911535" cy="10973"/>
          </a:xfrm>
          <a:prstGeom prst="rect">
            <a:avLst/>
          </a:prstGeom>
          <a:solidFill>
            <a:srgbClr val="000000"/>
          </a:solidFill>
          <a:ln w="12700">
            <a:solidFill>
              <a:srgbClr val="333333"/>
            </a:solidFill>
            <a:prstDash val="solid"/>
          </a:ln>
        </p:spPr>
        <p:txBody>
          <a:bodyPr/>
          <a:lstStyle/>
          <a:p>
            <a:endParaRPr lang="en-MX"/>
          </a:p>
        </p:txBody>
      </p:sp>
      <p:sp>
        <p:nvSpPr>
          <p:cNvPr id="7" name="Text 5"/>
          <p:cNvSpPr/>
          <p:nvPr/>
        </p:nvSpPr>
        <p:spPr>
          <a:xfrm>
            <a:off x="640080" y="2331720"/>
            <a:ext cx="6766560" cy="3840480"/>
          </a:xfrm>
          <a:prstGeom prst="rect">
            <a:avLst/>
          </a:prstGeom>
          <a:noFill/>
          <a:ln/>
        </p:spPr>
        <p:txBody>
          <a:bodyPr wrap="square" lIns="0" tIns="0" rIns="0" bIns="0" rtlCol="0" anchor="t"/>
          <a:lstStyle/>
          <a:p>
            <a:pPr marL="0" indent="0" algn="just">
              <a:lnSpc>
                <a:spcPct val="140000"/>
              </a:lnSpc>
              <a:spcAft>
                <a:spcPts val="400"/>
              </a:spcAft>
              <a:buNone/>
            </a:pPr>
            <a:r>
              <a:rPr lang="es-ES" sz="1150">
                <a:solidFill>
                  <a:srgbClr val="2A2226"/>
                </a:solidFill>
              </a:rPr>
              <a:t>El Problema del Transporte es un modelo de programación lineal diseñado para minimizar los costos de distribución. Su potencia reside en la dualidad, que permite no solo encontrar el costo mínimo (Primal), sino también entender el valor marginal de los recursos mediante precios sombra (Dual).</a:t>
            </a:r>
            <a:endParaRPr sz="1150">
              <a:solidFill>
                <a:srgbClr val="2A2226"/>
              </a:solidFill>
            </a:endParaRPr>
          </a:p>
        </p:txBody>
      </p:sp>
      <p:sp>
        <p:nvSpPr>
          <p:cNvPr id="8" name="Text 6"/>
          <p:cNvSpPr/>
          <p:nvPr/>
        </p:nvSpPr>
        <p:spPr>
          <a:xfrm>
            <a:off x="7680960" y="2331720"/>
            <a:ext cx="3840480" cy="228600"/>
          </a:xfrm>
          <a:prstGeom prst="rect">
            <a:avLst/>
          </a:prstGeom>
          <a:noFill/>
          <a:ln/>
        </p:spPr>
        <p:txBody>
          <a:bodyPr wrap="square" lIns="0" tIns="0" rIns="0" bIns="0" rtlCol="0" anchor="t"/>
          <a:lstStyle/>
          <a:p>
            <a:pPr marL="0" indent="0" algn="l">
              <a:buNone/>
            </a:pPr>
            <a:r>
              <a:rPr lang="en-US" sz="800" b="1" kern="0" spc="1000">
                <a:solidFill>
                  <a:srgbClr val="8C6A38"/>
                </a:solidFill>
                <a:latin typeface="Inter" pitchFamily="34" charset="0"/>
                <a:ea typeface="Inter" pitchFamily="34" charset="-122"/>
                <a:cs typeface="Inter" pitchFamily="34" charset="-120"/>
              </a:rPr>
              <a:t>CONCEPTO CLAVE</a:t>
            </a:r>
            <a:endParaRPr lang="en-US" sz="800"/>
          </a:p>
        </p:txBody>
      </p:sp>
      <p:sp>
        <p:nvSpPr>
          <p:cNvPr id="9" name="Shape 7"/>
          <p:cNvSpPr/>
          <p:nvPr/>
        </p:nvSpPr>
        <p:spPr>
          <a:xfrm>
            <a:off x="7680960" y="2606040"/>
            <a:ext cx="3840480" cy="20117"/>
          </a:xfrm>
          <a:prstGeom prst="rect">
            <a:avLst/>
          </a:prstGeom>
          <a:solidFill>
            <a:srgbClr val="B89058"/>
          </a:solidFill>
          <a:ln w="12700">
            <a:solidFill>
              <a:srgbClr val="B89058"/>
            </a:solidFill>
            <a:prstDash val="solid"/>
          </a:ln>
        </p:spPr>
        <p:txBody>
          <a:bodyPr/>
          <a:lstStyle/>
          <a:p>
            <a:endParaRPr lang="en-MX"/>
          </a:p>
        </p:txBody>
      </p:sp>
      <p:sp>
        <p:nvSpPr>
          <p:cNvPr id="10" name="Text 8"/>
          <p:cNvSpPr/>
          <p:nvPr/>
        </p:nvSpPr>
        <p:spPr>
          <a:xfrm>
            <a:off x="7680960" y="2788920"/>
            <a:ext cx="3840480" cy="3383280"/>
          </a:xfrm>
          <a:prstGeom prst="rect">
            <a:avLst/>
          </a:prstGeom>
          <a:noFill/>
          <a:ln/>
        </p:spPr>
        <p:txBody>
          <a:bodyPr wrap="square" lIns="0" tIns="0" rIns="0" bIns="0" rtlCol="0" anchor="t"/>
          <a:lstStyle/>
          <a:p>
            <a:pPr marL="0" indent="0" algn="l">
              <a:lnSpc>
                <a:spcPct val="135000"/>
              </a:lnSpc>
              <a:spcAft>
                <a:spcPts val="400"/>
              </a:spcAft>
              <a:buNone/>
            </a:pPr>
            <a:r>
              <a:rPr sz="1200" i="1">
                <a:solidFill>
                  <a:srgbClr val="4A0F22"/>
                </a:solidFill>
              </a:rPr>
              <a:t>El PT es la célula básica de la optimización en redes: todo problema de flujo de costo mínimo puede modelarse como uno o varios PT.</a:t>
            </a:r>
            <a:endParaRPr lang="en-US" sz="1400"/>
          </a:p>
        </p:txBody>
      </p:sp>
      <p:sp>
        <p:nvSpPr>
          <p:cNvPr id="11" name="Shape 9"/>
          <p:cNvSpPr/>
          <p:nvPr/>
        </p:nvSpPr>
        <p:spPr>
          <a:xfrm>
            <a:off x="548640" y="6473952"/>
            <a:ext cx="11094415" cy="10973"/>
          </a:xfrm>
          <a:prstGeom prst="rect">
            <a:avLst/>
          </a:prstGeom>
          <a:solidFill>
            <a:srgbClr val="E0D8CC"/>
          </a:solidFill>
          <a:ln w="12700">
            <a:solidFill>
              <a:srgbClr val="E0D8CC"/>
            </a:solidFill>
            <a:prstDash val="solid"/>
          </a:ln>
        </p:spPr>
        <p:txBody>
          <a:bodyPr/>
          <a:lstStyle/>
          <a:p>
            <a:endParaRPr lang="en-MX"/>
          </a:p>
        </p:txBody>
      </p:sp>
      <p:sp>
        <p:nvSpPr>
          <p:cNvPr id="12" name="Text 10"/>
          <p:cNvSpPr/>
          <p:nvPr/>
        </p:nvSpPr>
        <p:spPr>
          <a:xfrm>
            <a:off x="548640" y="6565392"/>
            <a:ext cx="1828800" cy="182880"/>
          </a:xfrm>
          <a:prstGeom prst="rect">
            <a:avLst/>
          </a:prstGeom>
          <a:noFill/>
          <a:ln/>
        </p:spPr>
        <p:txBody>
          <a:bodyPr wrap="square" lIns="0" tIns="0" rIns="0" bIns="0" rtlCol="0" anchor="ctr"/>
          <a:lstStyle/>
          <a:p>
            <a:pPr marL="0" indent="0" algn="l">
              <a:buNone/>
            </a:pPr>
            <a:r>
              <a:rPr lang="en-US" sz="800" b="1" kern="0" spc="400">
                <a:solidFill>
                  <a:srgbClr val="7A6F73"/>
                </a:solidFill>
                <a:latin typeface="Inter" pitchFamily="34" charset="0"/>
                <a:ea typeface="Inter" pitchFamily="34" charset="-122"/>
                <a:cs typeface="Inter" pitchFamily="34" charset="-120"/>
              </a:rPr>
              <a:t>M.C.D.I.</a:t>
            </a:r>
            <a:endParaRPr lang="en-US" sz="800"/>
          </a:p>
        </p:txBody>
      </p:sp>
      <p:sp>
        <p:nvSpPr>
          <p:cNvPr id="13" name="Text 11"/>
          <p:cNvSpPr/>
          <p:nvPr/>
        </p:nvSpPr>
        <p:spPr>
          <a:xfrm>
            <a:off x="4724248" y="6565392"/>
            <a:ext cx="2743200" cy="182880"/>
          </a:xfrm>
          <a:prstGeom prst="rect">
            <a:avLst/>
          </a:prstGeom>
          <a:noFill/>
          <a:ln/>
        </p:spPr>
        <p:txBody>
          <a:bodyPr wrap="square" lIns="0" tIns="0" rIns="0" bIns="0" rtlCol="0" anchor="ctr"/>
          <a:lstStyle/>
          <a:p>
            <a:pPr marL="0" indent="0" algn="ctr">
              <a:buNone/>
            </a:pPr>
            <a:r>
              <a:rPr lang="en-US" sz="900" i="1">
                <a:solidFill>
                  <a:srgbClr val="8C6A38"/>
                </a:solidFill>
                <a:latin typeface="Garamond" pitchFamily="34" charset="0"/>
                <a:ea typeface="Garamond" pitchFamily="34" charset="-122"/>
                <a:cs typeface="Garamond" pitchFamily="34" charset="-120"/>
              </a:rPr>
              <a:t>—  3 / 20  —</a:t>
            </a:r>
            <a:endParaRPr lang="en-US" sz="900"/>
          </a:p>
        </p:txBody>
      </p:sp>
      <p:sp>
        <p:nvSpPr>
          <p:cNvPr id="14" name="Text 12"/>
          <p:cNvSpPr/>
          <p:nvPr/>
        </p:nvSpPr>
        <p:spPr>
          <a:xfrm>
            <a:off x="8899855" y="6565392"/>
            <a:ext cx="2743200" cy="182880"/>
          </a:xfrm>
          <a:prstGeom prst="rect">
            <a:avLst/>
          </a:prstGeom>
          <a:noFill/>
          <a:ln/>
        </p:spPr>
        <p:txBody>
          <a:bodyPr wrap="square" lIns="0" tIns="0" rIns="0" bIns="0" rtlCol="0" anchor="ctr"/>
          <a:lstStyle/>
          <a:p>
            <a:pPr marL="0" indent="0" algn="r">
              <a:buNone/>
            </a:pPr>
            <a:r>
              <a:rPr lang="en-US" sz="800" i="1">
                <a:solidFill>
                  <a:srgbClr val="7A6F73"/>
                </a:solidFill>
                <a:latin typeface="Garamond" pitchFamily="34" charset="0"/>
                <a:ea typeface="Garamond" pitchFamily="34" charset="-122"/>
                <a:cs typeface="Garamond" pitchFamily="34" charset="-120"/>
              </a:rPr>
              <a:t>Equipo 5</a:t>
            </a:r>
            <a:endParaRPr lang="en-US" sz="800"/>
          </a:p>
        </p:txBody>
      </p:sp>
      <p:sp>
        <p:nvSpPr>
          <p:cNvPr id="18" name="Text 2">
            <a:extLst>
              <a:ext uri="{FF2B5EF4-FFF2-40B4-BE49-F238E27FC236}">
                <a16:creationId xmlns:a16="http://schemas.microsoft.com/office/drawing/2014/main" id="{6AA5C8FA-B1E5-4AE2-471C-E08073470223}"/>
              </a:ext>
            </a:extLst>
          </p:cNvPr>
          <p:cNvSpPr/>
          <p:nvPr/>
        </p:nvSpPr>
        <p:spPr>
          <a:xfrm>
            <a:off x="640080" y="868680"/>
            <a:ext cx="4572000" cy="228600"/>
          </a:xfrm>
          <a:prstGeom prst="rect">
            <a:avLst/>
          </a:prstGeom>
          <a:noFill/>
          <a:ln/>
        </p:spPr>
        <p:txBody>
          <a:bodyPr wrap="square" lIns="0" tIns="0" rIns="0" bIns="0" rtlCol="0" anchor="t"/>
          <a:lstStyle/>
          <a:p>
            <a:pPr marL="0" indent="0" algn="l">
              <a:buNone/>
            </a:pPr>
            <a:r>
              <a:rPr lang="en-US" sz="900" b="1" kern="0" spc="300">
                <a:solidFill>
                  <a:srgbClr val="8C6A38"/>
                </a:solidFill>
                <a:latin typeface="Inter" pitchFamily="34" charset="0"/>
                <a:ea typeface="Inter" pitchFamily="34" charset="-122"/>
                <a:cs typeface="Inter" pitchFamily="34" charset="-120"/>
              </a:rPr>
              <a:t>SECCION 1</a:t>
            </a:r>
            <a:endParaRPr lang="en-US" sz="900" spc="300"/>
          </a:p>
        </p:txBody>
      </p:sp>
      <p:pic>
        <p:nvPicPr>
          <p:cNvPr id="20" name="Picture 19">
            <a:extLst>
              <a:ext uri="{FF2B5EF4-FFF2-40B4-BE49-F238E27FC236}">
                <a16:creationId xmlns:a16="http://schemas.microsoft.com/office/drawing/2014/main" id="{D092BE8F-901A-A4DF-2ACC-2B7430B0A44D}"/>
              </a:ext>
            </a:extLst>
          </p:cNvPr>
          <p:cNvPicPr>
            <a:picLocks noChangeAspect="1"/>
          </p:cNvPicPr>
          <p:nvPr/>
        </p:nvPicPr>
        <p:blipFill>
          <a:blip r:embed="rId4"/>
          <a:srcRect t="29150" b="2918"/>
          <a:stretch>
            <a:fillRect/>
          </a:stretch>
        </p:blipFill>
        <p:spPr>
          <a:xfrm>
            <a:off x="-240881" y="2057400"/>
            <a:ext cx="12697789" cy="481436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228600"/>
          </a:xfrm>
          <a:prstGeom prst="rect">
            <a:avLst/>
          </a:prstGeom>
          <a:noFill/>
          <a:ln/>
        </p:spPr>
        <p:txBody>
          <a:bodyPr wrap="square" lIns="0" tIns="0" rIns="0" bIns="0" rtlCol="0" anchor="ctr"/>
          <a:lstStyle/>
          <a:p>
            <a:pPr marL="0" indent="0" algn="l">
              <a:buNone/>
            </a:pPr>
            <a:r>
              <a:rPr lang="en-US" sz="800" b="1" kern="0" spc="600">
                <a:solidFill>
                  <a:srgbClr val="4A0F22"/>
                </a:solidFill>
                <a:latin typeface="Inter" pitchFamily="34" charset="0"/>
                <a:ea typeface="Inter" pitchFamily="34" charset="-122"/>
                <a:cs typeface="Inter" pitchFamily="34" charset="-120"/>
              </a:rPr>
              <a:t>INFOTEC   ·   M.C.D.I.   ·   Matemáticas 2026-1</a:t>
            </a:r>
            <a:endParaRPr lang="en-US" sz="800"/>
          </a:p>
        </p:txBody>
      </p:sp>
      <p:sp>
        <p:nvSpPr>
          <p:cNvPr id="3" name="Shape 1"/>
          <p:cNvSpPr/>
          <p:nvPr/>
        </p:nvSpPr>
        <p:spPr>
          <a:xfrm>
            <a:off x="548640" y="566928"/>
            <a:ext cx="11094415" cy="10973"/>
          </a:xfrm>
          <a:prstGeom prst="rect">
            <a:avLst/>
          </a:prstGeom>
          <a:solidFill>
            <a:srgbClr val="000000"/>
          </a:solidFill>
          <a:ln w="12700">
            <a:solidFill>
              <a:srgbClr val="333333"/>
            </a:solidFill>
            <a:prstDash val="solid"/>
          </a:ln>
        </p:spPr>
        <p:txBody>
          <a:bodyPr/>
          <a:lstStyle/>
          <a:p>
            <a:endParaRPr lang="en-MX"/>
          </a:p>
        </p:txBody>
      </p:sp>
      <p:sp>
        <p:nvSpPr>
          <p:cNvPr id="5" name="Text 3"/>
          <p:cNvSpPr/>
          <p:nvPr/>
        </p:nvSpPr>
        <p:spPr>
          <a:xfrm>
            <a:off x="640080" y="1097280"/>
            <a:ext cx="10911535" cy="868680"/>
          </a:xfrm>
          <a:prstGeom prst="rect">
            <a:avLst/>
          </a:prstGeom>
          <a:noFill/>
          <a:ln/>
        </p:spPr>
        <p:txBody>
          <a:bodyPr wrap="square" lIns="0" tIns="0" rIns="0" bIns="0" rtlCol="0" anchor="t"/>
          <a:lstStyle/>
          <a:p>
            <a:r>
              <a:rPr lang="es-ES" sz="3000" b="1">
                <a:solidFill>
                  <a:srgbClr val="B89058"/>
                </a:solidFill>
                <a:latin typeface="Garamond"/>
              </a:rPr>
              <a:t>04. </a:t>
            </a:r>
            <a:r>
              <a:rPr sz="3000" b="1" err="1">
                <a:solidFill>
                  <a:srgbClr val="4A0F22"/>
                </a:solidFill>
                <a:latin typeface="Garamond"/>
              </a:rPr>
              <a:t>Hitos</a:t>
            </a:r>
            <a:r>
              <a:rPr sz="3000" b="1">
                <a:solidFill>
                  <a:srgbClr val="4A0F22"/>
                </a:solidFill>
                <a:latin typeface="Garamond"/>
              </a:rPr>
              <a:t> </a:t>
            </a:r>
            <a:r>
              <a:rPr sz="3000" b="1" err="1">
                <a:solidFill>
                  <a:srgbClr val="4A0F22"/>
                </a:solidFill>
                <a:latin typeface="Garamond"/>
              </a:rPr>
              <a:t>Históricos</a:t>
            </a:r>
            <a:endParaRPr lang="en-US" sz="3800"/>
          </a:p>
        </p:txBody>
      </p:sp>
      <p:sp>
        <p:nvSpPr>
          <p:cNvPr id="6" name="Shape 4"/>
          <p:cNvSpPr/>
          <p:nvPr/>
        </p:nvSpPr>
        <p:spPr>
          <a:xfrm>
            <a:off x="640080" y="2057400"/>
            <a:ext cx="10911535" cy="10973"/>
          </a:xfrm>
          <a:prstGeom prst="rect">
            <a:avLst/>
          </a:prstGeom>
          <a:solidFill>
            <a:srgbClr val="000000"/>
          </a:solidFill>
          <a:ln w="12700">
            <a:solidFill>
              <a:srgbClr val="333333"/>
            </a:solidFill>
            <a:prstDash val="solid"/>
          </a:ln>
        </p:spPr>
        <p:txBody>
          <a:bodyPr/>
          <a:lstStyle/>
          <a:p>
            <a:endParaRPr lang="en-MX"/>
          </a:p>
        </p:txBody>
      </p:sp>
      <p:sp>
        <p:nvSpPr>
          <p:cNvPr id="7" name="Text 5"/>
          <p:cNvSpPr/>
          <p:nvPr/>
        </p:nvSpPr>
        <p:spPr>
          <a:xfrm>
            <a:off x="640080" y="2331720"/>
            <a:ext cx="6766560" cy="3840480"/>
          </a:xfrm>
          <a:prstGeom prst="rect">
            <a:avLst/>
          </a:prstGeom>
          <a:noFill/>
          <a:ln/>
        </p:spPr>
        <p:txBody>
          <a:bodyPr wrap="square" lIns="0" tIns="0" rIns="0" bIns="0" rtlCol="0" anchor="t"/>
          <a:lstStyle/>
          <a:p>
            <a:pPr marL="0" indent="0" algn="just">
              <a:lnSpc>
                <a:spcPct val="140000"/>
              </a:lnSpc>
              <a:spcAft>
                <a:spcPts val="400"/>
              </a:spcAft>
              <a:buNone/>
            </a:pPr>
            <a:r>
              <a:rPr sz="1100">
                <a:solidFill>
                  <a:srgbClr val="2A2226"/>
                </a:solidFill>
              </a:rPr>
              <a:t>1781 — Monge: </a:t>
            </a:r>
            <a:r>
              <a:rPr sz="1100" err="1">
                <a:solidFill>
                  <a:srgbClr val="2A2226"/>
                </a:solidFill>
              </a:rPr>
              <a:t>Déblais</a:t>
            </a:r>
            <a:r>
              <a:rPr sz="1100">
                <a:solidFill>
                  <a:srgbClr val="2A2226"/>
                </a:solidFill>
              </a:rPr>
              <a:t> et </a:t>
            </a:r>
            <a:r>
              <a:rPr sz="1100" err="1">
                <a:solidFill>
                  <a:srgbClr val="2A2226"/>
                </a:solidFill>
              </a:rPr>
              <a:t>Remblais</a:t>
            </a:r>
            <a:r>
              <a:rPr sz="1100">
                <a:solidFill>
                  <a:srgbClr val="2A2226"/>
                </a:solidFill>
              </a:rPr>
              <a:t>. Primera </a:t>
            </a:r>
            <a:r>
              <a:rPr sz="1100" err="1">
                <a:solidFill>
                  <a:srgbClr val="2A2226"/>
                </a:solidFill>
              </a:rPr>
              <a:t>formulación</a:t>
            </a:r>
            <a:r>
              <a:rPr sz="1100">
                <a:solidFill>
                  <a:srgbClr val="2A2226"/>
                </a:solidFill>
              </a:rPr>
              <a:t> </a:t>
            </a:r>
            <a:r>
              <a:rPr sz="1100" err="1">
                <a:solidFill>
                  <a:srgbClr val="2A2226"/>
                </a:solidFill>
              </a:rPr>
              <a:t>geométrica</a:t>
            </a:r>
            <a:r>
              <a:rPr sz="1100">
                <a:solidFill>
                  <a:srgbClr val="2A2226"/>
                </a:solidFill>
              </a:rPr>
              <a:t> del </a:t>
            </a:r>
            <a:r>
              <a:rPr sz="1100" err="1">
                <a:solidFill>
                  <a:srgbClr val="2A2226"/>
                </a:solidFill>
              </a:rPr>
              <a:t>transporte</a:t>
            </a:r>
            <a:r>
              <a:rPr sz="1100">
                <a:solidFill>
                  <a:srgbClr val="2A2226"/>
                </a:solidFill>
              </a:rPr>
              <a:t>.</a:t>
            </a:r>
            <a:endParaRPr lang="en-US" sz="1300"/>
          </a:p>
          <a:p>
            <a:pPr>
              <a:spcAft>
                <a:spcPts val="400"/>
              </a:spcAft>
            </a:pPr>
            <a:r>
              <a:rPr sz="1100">
                <a:solidFill>
                  <a:srgbClr val="2A2226"/>
                </a:solidFill>
              </a:rPr>
              <a:t>1936 — König: Teoría de </a:t>
            </a:r>
            <a:r>
              <a:rPr sz="1100" err="1">
                <a:solidFill>
                  <a:srgbClr val="2A2226"/>
                </a:solidFill>
              </a:rPr>
              <a:t>Grafos</a:t>
            </a:r>
            <a:r>
              <a:rPr sz="1100">
                <a:solidFill>
                  <a:srgbClr val="2A2226"/>
                </a:solidFill>
              </a:rPr>
              <a:t>. Base </a:t>
            </a:r>
            <a:r>
              <a:rPr sz="1100" err="1">
                <a:solidFill>
                  <a:srgbClr val="2A2226"/>
                </a:solidFill>
              </a:rPr>
              <a:t>matemática</a:t>
            </a:r>
            <a:r>
              <a:rPr sz="1100">
                <a:solidFill>
                  <a:srgbClr val="2A2226"/>
                </a:solidFill>
              </a:rPr>
              <a:t> de redes </a:t>
            </a:r>
            <a:r>
              <a:rPr sz="1100" err="1">
                <a:solidFill>
                  <a:srgbClr val="2A2226"/>
                </a:solidFill>
              </a:rPr>
              <a:t>bipartitas</a:t>
            </a:r>
            <a:r>
              <a:rPr sz="1100">
                <a:solidFill>
                  <a:srgbClr val="2A2226"/>
                </a:solidFill>
              </a:rPr>
              <a:t>.</a:t>
            </a:r>
          </a:p>
          <a:p>
            <a:pPr>
              <a:spcAft>
                <a:spcPts val="400"/>
              </a:spcAft>
            </a:pPr>
            <a:r>
              <a:rPr sz="1100">
                <a:solidFill>
                  <a:srgbClr val="2A2226"/>
                </a:solidFill>
              </a:rPr>
              <a:t>1939 — Kantorovich: </a:t>
            </a:r>
            <a:r>
              <a:rPr sz="1100" err="1">
                <a:solidFill>
                  <a:srgbClr val="2A2226"/>
                </a:solidFill>
              </a:rPr>
              <a:t>Valoraciones</a:t>
            </a:r>
            <a:r>
              <a:rPr sz="1100">
                <a:solidFill>
                  <a:srgbClr val="2A2226"/>
                </a:solidFill>
              </a:rPr>
              <a:t> </a:t>
            </a:r>
            <a:r>
              <a:rPr sz="1100" err="1">
                <a:solidFill>
                  <a:srgbClr val="2A2226"/>
                </a:solidFill>
              </a:rPr>
              <a:t>objetivas</a:t>
            </a:r>
            <a:r>
              <a:rPr sz="1100">
                <a:solidFill>
                  <a:srgbClr val="2A2226"/>
                </a:solidFill>
              </a:rPr>
              <a:t>. Primer </a:t>
            </a:r>
            <a:r>
              <a:rPr sz="1100" err="1">
                <a:solidFill>
                  <a:srgbClr val="2A2226"/>
                </a:solidFill>
              </a:rPr>
              <a:t>análisis</a:t>
            </a:r>
            <a:r>
              <a:rPr sz="1100">
                <a:solidFill>
                  <a:srgbClr val="2A2226"/>
                </a:solidFill>
              </a:rPr>
              <a:t> dual y </a:t>
            </a:r>
            <a:r>
              <a:rPr sz="1100" err="1">
                <a:solidFill>
                  <a:srgbClr val="2A2226"/>
                </a:solidFill>
              </a:rPr>
              <a:t>precios</a:t>
            </a:r>
            <a:r>
              <a:rPr sz="1100">
                <a:solidFill>
                  <a:srgbClr val="2A2226"/>
                </a:solidFill>
              </a:rPr>
              <a:t> sombra.</a:t>
            </a:r>
          </a:p>
          <a:p>
            <a:pPr>
              <a:spcAft>
                <a:spcPts val="400"/>
              </a:spcAft>
            </a:pPr>
            <a:r>
              <a:rPr sz="1100">
                <a:solidFill>
                  <a:srgbClr val="2A2226"/>
                </a:solidFill>
              </a:rPr>
              <a:t>1941 — Hitchcock: </a:t>
            </a:r>
            <a:r>
              <a:rPr sz="1100" err="1">
                <a:solidFill>
                  <a:srgbClr val="2A2226"/>
                </a:solidFill>
              </a:rPr>
              <a:t>formulación</a:t>
            </a:r>
            <a:r>
              <a:rPr sz="1100">
                <a:solidFill>
                  <a:srgbClr val="2A2226"/>
                </a:solidFill>
              </a:rPr>
              <a:t> </a:t>
            </a:r>
            <a:r>
              <a:rPr sz="1100" err="1">
                <a:solidFill>
                  <a:srgbClr val="2A2226"/>
                </a:solidFill>
              </a:rPr>
              <a:t>explícita</a:t>
            </a:r>
            <a:r>
              <a:rPr sz="1100">
                <a:solidFill>
                  <a:srgbClr val="2A2226"/>
                </a:solidFill>
              </a:rPr>
              <a:t> con </a:t>
            </a:r>
            <a:r>
              <a:rPr sz="1100" err="1">
                <a:solidFill>
                  <a:srgbClr val="2A2226"/>
                </a:solidFill>
              </a:rPr>
              <a:t>estructura</a:t>
            </a:r>
            <a:r>
              <a:rPr sz="1100">
                <a:solidFill>
                  <a:srgbClr val="2A2226"/>
                </a:solidFill>
              </a:rPr>
              <a:t> </a:t>
            </a:r>
            <a:r>
              <a:rPr sz="1100" err="1">
                <a:solidFill>
                  <a:srgbClr val="2A2226"/>
                </a:solidFill>
              </a:rPr>
              <a:t>algebraica</a:t>
            </a:r>
            <a:r>
              <a:rPr sz="1100">
                <a:solidFill>
                  <a:srgbClr val="2A2226"/>
                </a:solidFill>
              </a:rPr>
              <a:t> completa.</a:t>
            </a:r>
          </a:p>
          <a:p>
            <a:pPr>
              <a:spcAft>
                <a:spcPts val="400"/>
              </a:spcAft>
            </a:pPr>
            <a:r>
              <a:rPr sz="1100">
                <a:solidFill>
                  <a:srgbClr val="2A2226"/>
                </a:solidFill>
              </a:rPr>
              <a:t>1947 — Dantzig: </a:t>
            </a:r>
            <a:r>
              <a:rPr sz="1100" err="1">
                <a:solidFill>
                  <a:srgbClr val="2A2226"/>
                </a:solidFill>
              </a:rPr>
              <a:t>Método</a:t>
            </a:r>
            <a:r>
              <a:rPr sz="1100">
                <a:solidFill>
                  <a:srgbClr val="2A2226"/>
                </a:solidFill>
              </a:rPr>
              <a:t> Simplex </a:t>
            </a:r>
            <a:r>
              <a:rPr sz="1100" err="1">
                <a:solidFill>
                  <a:srgbClr val="2A2226"/>
                </a:solidFill>
              </a:rPr>
              <a:t>aplicado</a:t>
            </a:r>
            <a:r>
              <a:rPr sz="1100">
                <a:solidFill>
                  <a:srgbClr val="2A2226"/>
                </a:solidFill>
              </a:rPr>
              <a:t> al </a:t>
            </a:r>
            <a:r>
              <a:rPr sz="1100" err="1">
                <a:solidFill>
                  <a:srgbClr val="2A2226"/>
                </a:solidFill>
              </a:rPr>
              <a:t>problema</a:t>
            </a:r>
            <a:r>
              <a:rPr sz="1100">
                <a:solidFill>
                  <a:srgbClr val="2A2226"/>
                </a:solidFill>
              </a:rPr>
              <a:t> de </a:t>
            </a:r>
            <a:r>
              <a:rPr sz="1100" err="1">
                <a:solidFill>
                  <a:srgbClr val="2A2226"/>
                </a:solidFill>
              </a:rPr>
              <a:t>transporte</a:t>
            </a:r>
            <a:r>
              <a:rPr sz="1100">
                <a:solidFill>
                  <a:srgbClr val="2A2226"/>
                </a:solidFill>
              </a:rPr>
              <a:t>.</a:t>
            </a:r>
          </a:p>
          <a:p>
            <a:pPr>
              <a:spcAft>
                <a:spcPts val="400"/>
              </a:spcAft>
            </a:pPr>
            <a:r>
              <a:rPr sz="1100">
                <a:solidFill>
                  <a:srgbClr val="2A2226"/>
                </a:solidFill>
              </a:rPr>
              <a:t>1956 — Ford y Fulkerson: </a:t>
            </a:r>
            <a:r>
              <a:rPr sz="1100" err="1">
                <a:solidFill>
                  <a:srgbClr val="2A2226"/>
                </a:solidFill>
              </a:rPr>
              <a:t>flujo</a:t>
            </a:r>
            <a:r>
              <a:rPr sz="1100">
                <a:solidFill>
                  <a:srgbClr val="2A2226"/>
                </a:solidFill>
              </a:rPr>
              <a:t> </a:t>
            </a:r>
            <a:r>
              <a:rPr sz="1100" err="1">
                <a:solidFill>
                  <a:srgbClr val="2A2226"/>
                </a:solidFill>
              </a:rPr>
              <a:t>máximo</a:t>
            </a:r>
            <a:r>
              <a:rPr sz="1100">
                <a:solidFill>
                  <a:srgbClr val="2A2226"/>
                </a:solidFill>
              </a:rPr>
              <a:t> </a:t>
            </a:r>
            <a:r>
              <a:rPr sz="1100" err="1">
                <a:solidFill>
                  <a:srgbClr val="2A2226"/>
                </a:solidFill>
              </a:rPr>
              <a:t>en</a:t>
            </a:r>
            <a:r>
              <a:rPr sz="1100">
                <a:solidFill>
                  <a:srgbClr val="2A2226"/>
                </a:solidFill>
              </a:rPr>
              <a:t> redes, </a:t>
            </a:r>
            <a:r>
              <a:rPr sz="1100" err="1">
                <a:solidFill>
                  <a:srgbClr val="2A2226"/>
                </a:solidFill>
              </a:rPr>
              <a:t>flujo</a:t>
            </a:r>
            <a:r>
              <a:rPr sz="1100">
                <a:solidFill>
                  <a:srgbClr val="2A2226"/>
                </a:solidFill>
              </a:rPr>
              <a:t> de </a:t>
            </a:r>
            <a:r>
              <a:rPr sz="1100" err="1">
                <a:solidFill>
                  <a:srgbClr val="2A2226"/>
                </a:solidFill>
              </a:rPr>
              <a:t>costo</a:t>
            </a:r>
            <a:r>
              <a:rPr sz="1100">
                <a:solidFill>
                  <a:srgbClr val="2A2226"/>
                </a:solidFill>
              </a:rPr>
              <a:t> </a:t>
            </a:r>
            <a:r>
              <a:rPr sz="1100" err="1">
                <a:solidFill>
                  <a:srgbClr val="2A2226"/>
                </a:solidFill>
              </a:rPr>
              <a:t>mínimo</a:t>
            </a:r>
            <a:r>
              <a:rPr sz="1100">
                <a:solidFill>
                  <a:srgbClr val="2A2226"/>
                </a:solidFill>
              </a:rPr>
              <a:t>.</a:t>
            </a:r>
          </a:p>
          <a:p>
            <a:pPr>
              <a:spcAft>
                <a:spcPts val="400"/>
              </a:spcAft>
            </a:pPr>
            <a:r>
              <a:rPr sz="1100">
                <a:solidFill>
                  <a:srgbClr val="2A2226"/>
                </a:solidFill>
              </a:rPr>
              <a:t>Hoy: </a:t>
            </a:r>
            <a:r>
              <a:rPr sz="1100" err="1">
                <a:solidFill>
                  <a:srgbClr val="2A2226"/>
                </a:solidFill>
              </a:rPr>
              <a:t>transporte</a:t>
            </a:r>
            <a:r>
              <a:rPr sz="1100">
                <a:solidFill>
                  <a:srgbClr val="2A2226"/>
                </a:solidFill>
              </a:rPr>
              <a:t> </a:t>
            </a:r>
            <a:r>
              <a:rPr sz="1100" err="1">
                <a:solidFill>
                  <a:srgbClr val="2A2226"/>
                </a:solidFill>
              </a:rPr>
              <a:t>óptimo</a:t>
            </a:r>
            <a:r>
              <a:rPr sz="1100">
                <a:solidFill>
                  <a:srgbClr val="2A2226"/>
                </a:solidFill>
              </a:rPr>
              <a:t> (Wasserstein), </a:t>
            </a:r>
            <a:r>
              <a:rPr sz="1100" err="1">
                <a:solidFill>
                  <a:srgbClr val="2A2226"/>
                </a:solidFill>
              </a:rPr>
              <a:t>estocástico</a:t>
            </a:r>
            <a:r>
              <a:rPr sz="1100">
                <a:solidFill>
                  <a:srgbClr val="2A2226"/>
                </a:solidFill>
              </a:rPr>
              <a:t> y </a:t>
            </a:r>
            <a:r>
              <a:rPr sz="1100" err="1">
                <a:solidFill>
                  <a:srgbClr val="2A2226"/>
                </a:solidFill>
              </a:rPr>
              <a:t>multiobjetivo</a:t>
            </a:r>
            <a:r>
              <a:rPr sz="1100">
                <a:solidFill>
                  <a:srgbClr val="2A2226"/>
                </a:solidFill>
              </a:rPr>
              <a:t>.</a:t>
            </a:r>
          </a:p>
        </p:txBody>
      </p:sp>
      <p:sp>
        <p:nvSpPr>
          <p:cNvPr id="8" name="Text 6"/>
          <p:cNvSpPr/>
          <p:nvPr/>
        </p:nvSpPr>
        <p:spPr>
          <a:xfrm>
            <a:off x="7680960" y="2331720"/>
            <a:ext cx="3840480" cy="228600"/>
          </a:xfrm>
          <a:prstGeom prst="rect">
            <a:avLst/>
          </a:prstGeom>
          <a:noFill/>
          <a:ln/>
        </p:spPr>
        <p:txBody>
          <a:bodyPr wrap="square" lIns="0" tIns="0" rIns="0" bIns="0" rtlCol="0" anchor="t"/>
          <a:lstStyle/>
          <a:p>
            <a:pPr marL="0" indent="0" algn="l">
              <a:buNone/>
            </a:pPr>
            <a:r>
              <a:rPr lang="en-US" sz="800" b="1" kern="0" spc="1000">
                <a:solidFill>
                  <a:srgbClr val="8C6A38"/>
                </a:solidFill>
                <a:latin typeface="Inter" pitchFamily="34" charset="0"/>
                <a:ea typeface="Inter" pitchFamily="34" charset="-122"/>
                <a:cs typeface="Inter" pitchFamily="34" charset="-120"/>
              </a:rPr>
              <a:t>PUNTO FUNDAMENTAL</a:t>
            </a:r>
            <a:endParaRPr lang="en-US" sz="800"/>
          </a:p>
        </p:txBody>
      </p:sp>
      <p:sp>
        <p:nvSpPr>
          <p:cNvPr id="9" name="Shape 7"/>
          <p:cNvSpPr/>
          <p:nvPr/>
        </p:nvSpPr>
        <p:spPr>
          <a:xfrm>
            <a:off x="7680960" y="2606040"/>
            <a:ext cx="3840480" cy="20117"/>
          </a:xfrm>
          <a:prstGeom prst="rect">
            <a:avLst/>
          </a:prstGeom>
          <a:solidFill>
            <a:srgbClr val="B89058"/>
          </a:solidFill>
          <a:ln w="12700">
            <a:solidFill>
              <a:srgbClr val="B89058"/>
            </a:solidFill>
            <a:prstDash val="solid"/>
          </a:ln>
        </p:spPr>
        <p:txBody>
          <a:bodyPr/>
          <a:lstStyle/>
          <a:p>
            <a:endParaRPr lang="en-MX"/>
          </a:p>
        </p:txBody>
      </p:sp>
      <p:sp>
        <p:nvSpPr>
          <p:cNvPr id="10" name="Text 8"/>
          <p:cNvSpPr/>
          <p:nvPr/>
        </p:nvSpPr>
        <p:spPr>
          <a:xfrm>
            <a:off x="7680960" y="2788920"/>
            <a:ext cx="3840480" cy="3383280"/>
          </a:xfrm>
          <a:prstGeom prst="rect">
            <a:avLst/>
          </a:prstGeom>
          <a:noFill/>
          <a:ln/>
        </p:spPr>
        <p:txBody>
          <a:bodyPr wrap="square" lIns="0" tIns="0" rIns="0" bIns="0" rtlCol="0" anchor="t"/>
          <a:lstStyle/>
          <a:p>
            <a:pPr marL="0" indent="0" algn="l">
              <a:lnSpc>
                <a:spcPct val="135000"/>
              </a:lnSpc>
              <a:spcAft>
                <a:spcPts val="400"/>
              </a:spcAft>
              <a:buNone/>
            </a:pPr>
            <a:r>
              <a:rPr sz="1200" i="1">
                <a:solidFill>
                  <a:srgbClr val="4A0F22"/>
                </a:solidFill>
              </a:rPr>
              <a:t>De Monge (1781) al Simplex de Dantzig (1947) y los flujos de Ford-Fulkerson (1956): 175 años de refinamiento matemático.</a:t>
            </a:r>
            <a:endParaRPr lang="en-US" sz="1400"/>
          </a:p>
        </p:txBody>
      </p:sp>
      <p:sp>
        <p:nvSpPr>
          <p:cNvPr id="15" name="Rectangle 14"/>
          <p:cNvSpPr/>
          <p:nvPr/>
        </p:nvSpPr>
        <p:spPr>
          <a:xfrm>
            <a:off x="457200" y="4663440"/>
            <a:ext cx="11338560" cy="31750"/>
          </a:xfrm>
          <a:prstGeom prst="rect">
            <a:avLst/>
          </a:prstGeom>
          <a:solidFill>
            <a:srgbClr val="68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74904" y="4581144"/>
            <a:ext cx="164592" cy="164592"/>
          </a:xfrm>
          <a:prstGeom prst="rect">
            <a:avLst/>
          </a:prstGeom>
          <a:solidFill>
            <a:srgbClr val="68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9728" y="4325112"/>
            <a:ext cx="685800" cy="219456"/>
          </a:xfrm>
          <a:prstGeom prst="rect">
            <a:avLst/>
          </a:prstGeom>
          <a:noFill/>
        </p:spPr>
        <p:txBody>
          <a:bodyPr wrap="square">
            <a:spAutoFit/>
          </a:bodyPr>
          <a:lstStyle/>
          <a:p>
            <a:pPr algn="ctr"/>
            <a:r>
              <a:rPr sz="750" b="1" i="0">
                <a:solidFill>
                  <a:srgbClr val="B89058"/>
                </a:solidFill>
                <a:latin typeface="Inter"/>
              </a:rPr>
              <a:t>1781</a:t>
            </a:r>
          </a:p>
        </p:txBody>
      </p:sp>
      <p:sp>
        <p:nvSpPr>
          <p:cNvPr id="18" name="TextBox 17"/>
          <p:cNvSpPr txBox="1"/>
          <p:nvPr/>
        </p:nvSpPr>
        <p:spPr>
          <a:xfrm>
            <a:off x="91440" y="4791456"/>
            <a:ext cx="731520" cy="201168"/>
          </a:xfrm>
          <a:prstGeom prst="rect">
            <a:avLst/>
          </a:prstGeom>
          <a:noFill/>
        </p:spPr>
        <p:txBody>
          <a:bodyPr wrap="square">
            <a:spAutoFit/>
          </a:bodyPr>
          <a:lstStyle/>
          <a:p>
            <a:pPr algn="ctr"/>
            <a:r>
              <a:rPr sz="700" b="0" i="0">
                <a:solidFill>
                  <a:srgbClr val="7A6F73"/>
                </a:solidFill>
                <a:latin typeface="Inter"/>
              </a:rPr>
              <a:t>Monge</a:t>
            </a:r>
          </a:p>
        </p:txBody>
      </p:sp>
      <p:sp>
        <p:nvSpPr>
          <p:cNvPr id="19" name="Rectangle 18"/>
          <p:cNvSpPr/>
          <p:nvPr/>
        </p:nvSpPr>
        <p:spPr>
          <a:xfrm>
            <a:off x="2264664" y="4581144"/>
            <a:ext cx="164592" cy="164592"/>
          </a:xfrm>
          <a:prstGeom prst="rect">
            <a:avLst/>
          </a:prstGeom>
          <a:solidFill>
            <a:srgbClr val="68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999488" y="4325112"/>
            <a:ext cx="685800" cy="219456"/>
          </a:xfrm>
          <a:prstGeom prst="rect">
            <a:avLst/>
          </a:prstGeom>
          <a:noFill/>
        </p:spPr>
        <p:txBody>
          <a:bodyPr wrap="square">
            <a:spAutoFit/>
          </a:bodyPr>
          <a:lstStyle/>
          <a:p>
            <a:pPr algn="ctr"/>
            <a:r>
              <a:rPr sz="750" b="1" i="0">
                <a:solidFill>
                  <a:srgbClr val="B89058"/>
                </a:solidFill>
                <a:latin typeface="Inter"/>
              </a:rPr>
              <a:t>1936</a:t>
            </a:r>
          </a:p>
        </p:txBody>
      </p:sp>
      <p:sp>
        <p:nvSpPr>
          <p:cNvPr id="21" name="TextBox 20"/>
          <p:cNvSpPr txBox="1"/>
          <p:nvPr/>
        </p:nvSpPr>
        <p:spPr>
          <a:xfrm>
            <a:off x="1981200" y="4791456"/>
            <a:ext cx="731520" cy="201168"/>
          </a:xfrm>
          <a:prstGeom prst="rect">
            <a:avLst/>
          </a:prstGeom>
          <a:noFill/>
        </p:spPr>
        <p:txBody>
          <a:bodyPr wrap="square">
            <a:spAutoFit/>
          </a:bodyPr>
          <a:lstStyle/>
          <a:p>
            <a:pPr algn="ctr"/>
            <a:r>
              <a:rPr sz="700" b="0" i="0">
                <a:solidFill>
                  <a:srgbClr val="7A6F73"/>
                </a:solidFill>
                <a:latin typeface="Inter"/>
              </a:rPr>
              <a:t>König</a:t>
            </a:r>
          </a:p>
        </p:txBody>
      </p:sp>
      <p:sp>
        <p:nvSpPr>
          <p:cNvPr id="22" name="Rectangle 21"/>
          <p:cNvSpPr/>
          <p:nvPr/>
        </p:nvSpPr>
        <p:spPr>
          <a:xfrm>
            <a:off x="4154424" y="4581144"/>
            <a:ext cx="164592" cy="164592"/>
          </a:xfrm>
          <a:prstGeom prst="rect">
            <a:avLst/>
          </a:prstGeom>
          <a:solidFill>
            <a:srgbClr val="68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889248" y="4325112"/>
            <a:ext cx="685800" cy="219456"/>
          </a:xfrm>
          <a:prstGeom prst="rect">
            <a:avLst/>
          </a:prstGeom>
          <a:noFill/>
        </p:spPr>
        <p:txBody>
          <a:bodyPr wrap="square">
            <a:spAutoFit/>
          </a:bodyPr>
          <a:lstStyle/>
          <a:p>
            <a:pPr algn="ctr"/>
            <a:r>
              <a:rPr sz="750" b="1" i="0">
                <a:solidFill>
                  <a:srgbClr val="B89058"/>
                </a:solidFill>
                <a:latin typeface="Inter"/>
              </a:rPr>
              <a:t>1939</a:t>
            </a:r>
          </a:p>
        </p:txBody>
      </p:sp>
      <p:sp>
        <p:nvSpPr>
          <p:cNvPr id="24" name="TextBox 23"/>
          <p:cNvSpPr txBox="1"/>
          <p:nvPr/>
        </p:nvSpPr>
        <p:spPr>
          <a:xfrm>
            <a:off x="3870960" y="4791456"/>
            <a:ext cx="731520" cy="201168"/>
          </a:xfrm>
          <a:prstGeom prst="rect">
            <a:avLst/>
          </a:prstGeom>
          <a:noFill/>
        </p:spPr>
        <p:txBody>
          <a:bodyPr wrap="square">
            <a:spAutoFit/>
          </a:bodyPr>
          <a:lstStyle/>
          <a:p>
            <a:pPr algn="ctr"/>
            <a:r>
              <a:rPr sz="700" b="0" i="0">
                <a:solidFill>
                  <a:srgbClr val="7A6F73"/>
                </a:solidFill>
                <a:latin typeface="Inter"/>
              </a:rPr>
              <a:t>Kant.</a:t>
            </a:r>
          </a:p>
        </p:txBody>
      </p:sp>
      <p:sp>
        <p:nvSpPr>
          <p:cNvPr id="25" name="Rectangle 24"/>
          <p:cNvSpPr/>
          <p:nvPr/>
        </p:nvSpPr>
        <p:spPr>
          <a:xfrm>
            <a:off x="6044184" y="4581144"/>
            <a:ext cx="164592" cy="164592"/>
          </a:xfrm>
          <a:prstGeom prst="rect">
            <a:avLst/>
          </a:prstGeom>
          <a:solidFill>
            <a:srgbClr val="68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779008" y="4325112"/>
            <a:ext cx="685800" cy="219456"/>
          </a:xfrm>
          <a:prstGeom prst="rect">
            <a:avLst/>
          </a:prstGeom>
          <a:noFill/>
        </p:spPr>
        <p:txBody>
          <a:bodyPr wrap="square">
            <a:spAutoFit/>
          </a:bodyPr>
          <a:lstStyle/>
          <a:p>
            <a:pPr algn="ctr"/>
            <a:r>
              <a:rPr sz="750" b="1" i="0">
                <a:solidFill>
                  <a:srgbClr val="B89058"/>
                </a:solidFill>
                <a:latin typeface="Inter"/>
              </a:rPr>
              <a:t>1941</a:t>
            </a:r>
          </a:p>
        </p:txBody>
      </p:sp>
      <p:sp>
        <p:nvSpPr>
          <p:cNvPr id="27" name="TextBox 26"/>
          <p:cNvSpPr txBox="1"/>
          <p:nvPr/>
        </p:nvSpPr>
        <p:spPr>
          <a:xfrm>
            <a:off x="5760720" y="4791456"/>
            <a:ext cx="731520" cy="201168"/>
          </a:xfrm>
          <a:prstGeom prst="rect">
            <a:avLst/>
          </a:prstGeom>
          <a:noFill/>
        </p:spPr>
        <p:txBody>
          <a:bodyPr wrap="square">
            <a:spAutoFit/>
          </a:bodyPr>
          <a:lstStyle/>
          <a:p>
            <a:pPr algn="ctr"/>
            <a:r>
              <a:rPr sz="700" b="0" i="0">
                <a:solidFill>
                  <a:srgbClr val="7A6F73"/>
                </a:solidFill>
                <a:latin typeface="Inter"/>
              </a:rPr>
              <a:t>Hitch.</a:t>
            </a:r>
          </a:p>
        </p:txBody>
      </p:sp>
      <p:sp>
        <p:nvSpPr>
          <p:cNvPr id="28" name="Rectangle 27"/>
          <p:cNvSpPr/>
          <p:nvPr/>
        </p:nvSpPr>
        <p:spPr>
          <a:xfrm>
            <a:off x="7933944" y="4581144"/>
            <a:ext cx="164592" cy="164592"/>
          </a:xfrm>
          <a:prstGeom prst="rect">
            <a:avLst/>
          </a:prstGeom>
          <a:solidFill>
            <a:srgbClr val="68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668768" y="4325112"/>
            <a:ext cx="685800" cy="219456"/>
          </a:xfrm>
          <a:prstGeom prst="rect">
            <a:avLst/>
          </a:prstGeom>
          <a:noFill/>
        </p:spPr>
        <p:txBody>
          <a:bodyPr wrap="square">
            <a:spAutoFit/>
          </a:bodyPr>
          <a:lstStyle/>
          <a:p>
            <a:pPr algn="ctr"/>
            <a:r>
              <a:rPr sz="750" b="1" i="0">
                <a:solidFill>
                  <a:srgbClr val="B89058"/>
                </a:solidFill>
                <a:latin typeface="Inter"/>
              </a:rPr>
              <a:t>1947</a:t>
            </a:r>
          </a:p>
        </p:txBody>
      </p:sp>
      <p:sp>
        <p:nvSpPr>
          <p:cNvPr id="30" name="TextBox 29"/>
          <p:cNvSpPr txBox="1"/>
          <p:nvPr/>
        </p:nvSpPr>
        <p:spPr>
          <a:xfrm>
            <a:off x="7650480" y="4791456"/>
            <a:ext cx="731520" cy="201168"/>
          </a:xfrm>
          <a:prstGeom prst="rect">
            <a:avLst/>
          </a:prstGeom>
          <a:noFill/>
        </p:spPr>
        <p:txBody>
          <a:bodyPr wrap="square">
            <a:spAutoFit/>
          </a:bodyPr>
          <a:lstStyle/>
          <a:p>
            <a:pPr algn="ctr"/>
            <a:r>
              <a:rPr sz="700" b="0" i="0">
                <a:solidFill>
                  <a:srgbClr val="7A6F73"/>
                </a:solidFill>
                <a:latin typeface="Inter"/>
              </a:rPr>
              <a:t>Dant.</a:t>
            </a:r>
          </a:p>
        </p:txBody>
      </p:sp>
      <p:sp>
        <p:nvSpPr>
          <p:cNvPr id="31" name="Rectangle 30"/>
          <p:cNvSpPr/>
          <p:nvPr/>
        </p:nvSpPr>
        <p:spPr>
          <a:xfrm>
            <a:off x="9823704" y="4581144"/>
            <a:ext cx="164592" cy="164592"/>
          </a:xfrm>
          <a:prstGeom prst="rect">
            <a:avLst/>
          </a:prstGeom>
          <a:solidFill>
            <a:srgbClr val="68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558528" y="4325112"/>
            <a:ext cx="685800" cy="219456"/>
          </a:xfrm>
          <a:prstGeom prst="rect">
            <a:avLst/>
          </a:prstGeom>
          <a:noFill/>
        </p:spPr>
        <p:txBody>
          <a:bodyPr wrap="square">
            <a:spAutoFit/>
          </a:bodyPr>
          <a:lstStyle/>
          <a:p>
            <a:pPr algn="ctr"/>
            <a:r>
              <a:rPr sz="750" b="1" i="0">
                <a:solidFill>
                  <a:srgbClr val="B89058"/>
                </a:solidFill>
                <a:latin typeface="Inter"/>
              </a:rPr>
              <a:t>1956</a:t>
            </a:r>
          </a:p>
        </p:txBody>
      </p:sp>
      <p:sp>
        <p:nvSpPr>
          <p:cNvPr id="33" name="TextBox 32"/>
          <p:cNvSpPr txBox="1"/>
          <p:nvPr/>
        </p:nvSpPr>
        <p:spPr>
          <a:xfrm>
            <a:off x="9540240" y="4791456"/>
            <a:ext cx="731520" cy="201168"/>
          </a:xfrm>
          <a:prstGeom prst="rect">
            <a:avLst/>
          </a:prstGeom>
          <a:noFill/>
        </p:spPr>
        <p:txBody>
          <a:bodyPr wrap="square">
            <a:spAutoFit/>
          </a:bodyPr>
          <a:lstStyle/>
          <a:p>
            <a:pPr algn="ctr"/>
            <a:r>
              <a:rPr sz="700" b="0" i="0">
                <a:solidFill>
                  <a:srgbClr val="7A6F73"/>
                </a:solidFill>
                <a:latin typeface="Inter"/>
              </a:rPr>
              <a:t>F&amp;F</a:t>
            </a:r>
          </a:p>
        </p:txBody>
      </p:sp>
      <p:sp>
        <p:nvSpPr>
          <p:cNvPr id="34" name="Rectangle 33"/>
          <p:cNvSpPr/>
          <p:nvPr/>
        </p:nvSpPr>
        <p:spPr>
          <a:xfrm>
            <a:off x="11713464" y="4581144"/>
            <a:ext cx="164592" cy="164592"/>
          </a:xfrm>
          <a:prstGeom prst="rect">
            <a:avLst/>
          </a:prstGeom>
          <a:solidFill>
            <a:srgbClr val="B89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448288" y="4325112"/>
            <a:ext cx="685800" cy="219456"/>
          </a:xfrm>
          <a:prstGeom prst="rect">
            <a:avLst/>
          </a:prstGeom>
          <a:noFill/>
        </p:spPr>
        <p:txBody>
          <a:bodyPr wrap="square">
            <a:spAutoFit/>
          </a:bodyPr>
          <a:lstStyle/>
          <a:p>
            <a:pPr algn="ctr"/>
            <a:r>
              <a:rPr sz="750" b="1" i="0">
                <a:solidFill>
                  <a:srgbClr val="B89058"/>
                </a:solidFill>
                <a:latin typeface="Inter"/>
              </a:rPr>
              <a:t>Hoy</a:t>
            </a:r>
          </a:p>
        </p:txBody>
      </p:sp>
      <p:sp>
        <p:nvSpPr>
          <p:cNvPr id="36" name="TextBox 35"/>
          <p:cNvSpPr txBox="1"/>
          <p:nvPr/>
        </p:nvSpPr>
        <p:spPr>
          <a:xfrm>
            <a:off x="11430000" y="4791456"/>
            <a:ext cx="731520" cy="201168"/>
          </a:xfrm>
          <a:prstGeom prst="rect">
            <a:avLst/>
          </a:prstGeom>
          <a:noFill/>
        </p:spPr>
        <p:txBody>
          <a:bodyPr wrap="square">
            <a:spAutoFit/>
          </a:bodyPr>
          <a:lstStyle/>
          <a:p>
            <a:pPr algn="ctr"/>
            <a:r>
              <a:rPr sz="700" b="0" i="0">
                <a:solidFill>
                  <a:srgbClr val="7A6F73"/>
                </a:solidFill>
                <a:latin typeface="Inter"/>
              </a:rPr>
              <a:t>Ext.</a:t>
            </a:r>
          </a:p>
        </p:txBody>
      </p:sp>
      <p:sp>
        <p:nvSpPr>
          <p:cNvPr id="47" name="Shape 9">
            <a:extLst>
              <a:ext uri="{FF2B5EF4-FFF2-40B4-BE49-F238E27FC236}">
                <a16:creationId xmlns:a16="http://schemas.microsoft.com/office/drawing/2014/main" id="{75B19990-0411-DC07-07B1-799567A93666}"/>
              </a:ext>
            </a:extLst>
          </p:cNvPr>
          <p:cNvSpPr/>
          <p:nvPr/>
        </p:nvSpPr>
        <p:spPr>
          <a:xfrm>
            <a:off x="548640" y="6473952"/>
            <a:ext cx="11094415" cy="10973"/>
          </a:xfrm>
          <a:prstGeom prst="rect">
            <a:avLst/>
          </a:prstGeom>
          <a:solidFill>
            <a:srgbClr val="E0D8CC"/>
          </a:solidFill>
          <a:ln w="12700">
            <a:solidFill>
              <a:srgbClr val="E0D8CC"/>
            </a:solidFill>
            <a:prstDash val="solid"/>
          </a:ln>
        </p:spPr>
        <p:txBody>
          <a:bodyPr/>
          <a:lstStyle/>
          <a:p>
            <a:endParaRPr lang="en-MX"/>
          </a:p>
        </p:txBody>
      </p:sp>
      <p:sp>
        <p:nvSpPr>
          <p:cNvPr id="48" name="Text 10">
            <a:extLst>
              <a:ext uri="{FF2B5EF4-FFF2-40B4-BE49-F238E27FC236}">
                <a16:creationId xmlns:a16="http://schemas.microsoft.com/office/drawing/2014/main" id="{EA600A6D-9EA2-45E9-8255-DB447FA3A5F5}"/>
              </a:ext>
            </a:extLst>
          </p:cNvPr>
          <p:cNvSpPr/>
          <p:nvPr/>
        </p:nvSpPr>
        <p:spPr>
          <a:xfrm>
            <a:off x="548640" y="6565392"/>
            <a:ext cx="1828800" cy="182880"/>
          </a:xfrm>
          <a:prstGeom prst="rect">
            <a:avLst/>
          </a:prstGeom>
          <a:noFill/>
          <a:ln/>
        </p:spPr>
        <p:txBody>
          <a:bodyPr wrap="square" lIns="0" tIns="0" rIns="0" bIns="0" rtlCol="0" anchor="ctr"/>
          <a:lstStyle/>
          <a:p>
            <a:pPr marL="0" indent="0" algn="l">
              <a:buNone/>
            </a:pPr>
            <a:r>
              <a:rPr lang="en-US" sz="800" b="1" kern="0" spc="400">
                <a:solidFill>
                  <a:srgbClr val="7A6F73"/>
                </a:solidFill>
                <a:latin typeface="Inter" pitchFamily="34" charset="0"/>
                <a:ea typeface="Inter" pitchFamily="34" charset="-122"/>
                <a:cs typeface="Inter" pitchFamily="34" charset="-120"/>
              </a:rPr>
              <a:t>M.C.D.I.</a:t>
            </a:r>
            <a:endParaRPr lang="en-US" sz="800"/>
          </a:p>
        </p:txBody>
      </p:sp>
      <p:sp>
        <p:nvSpPr>
          <p:cNvPr id="49" name="Text 11">
            <a:extLst>
              <a:ext uri="{FF2B5EF4-FFF2-40B4-BE49-F238E27FC236}">
                <a16:creationId xmlns:a16="http://schemas.microsoft.com/office/drawing/2014/main" id="{B138B7A6-0861-5B7F-B4DD-B62FDFB86AD8}"/>
              </a:ext>
            </a:extLst>
          </p:cNvPr>
          <p:cNvSpPr/>
          <p:nvPr/>
        </p:nvSpPr>
        <p:spPr>
          <a:xfrm>
            <a:off x="4724248" y="6565392"/>
            <a:ext cx="2743200" cy="182880"/>
          </a:xfrm>
          <a:prstGeom prst="rect">
            <a:avLst/>
          </a:prstGeom>
          <a:noFill/>
          <a:ln/>
        </p:spPr>
        <p:txBody>
          <a:bodyPr wrap="square" lIns="0" tIns="0" rIns="0" bIns="0" rtlCol="0" anchor="ctr"/>
          <a:lstStyle/>
          <a:p>
            <a:pPr marL="0" indent="0" algn="ctr">
              <a:buNone/>
            </a:pPr>
            <a:r>
              <a:rPr lang="en-US" sz="900" i="1">
                <a:solidFill>
                  <a:srgbClr val="8C6A38"/>
                </a:solidFill>
                <a:latin typeface="Garamond" pitchFamily="34" charset="0"/>
                <a:ea typeface="Garamond" pitchFamily="34" charset="-122"/>
                <a:cs typeface="Garamond" pitchFamily="34" charset="-120"/>
              </a:rPr>
              <a:t>—  4 / 20  —</a:t>
            </a:r>
            <a:endParaRPr lang="en-US" sz="900"/>
          </a:p>
        </p:txBody>
      </p:sp>
      <p:sp>
        <p:nvSpPr>
          <p:cNvPr id="50" name="Text 12">
            <a:extLst>
              <a:ext uri="{FF2B5EF4-FFF2-40B4-BE49-F238E27FC236}">
                <a16:creationId xmlns:a16="http://schemas.microsoft.com/office/drawing/2014/main" id="{B162D640-3FE1-97D6-077A-299ADD9E05A0}"/>
              </a:ext>
            </a:extLst>
          </p:cNvPr>
          <p:cNvSpPr/>
          <p:nvPr/>
        </p:nvSpPr>
        <p:spPr>
          <a:xfrm>
            <a:off x="8899855" y="6565392"/>
            <a:ext cx="2743200" cy="182880"/>
          </a:xfrm>
          <a:prstGeom prst="rect">
            <a:avLst/>
          </a:prstGeom>
          <a:noFill/>
          <a:ln/>
        </p:spPr>
        <p:txBody>
          <a:bodyPr wrap="square" lIns="0" tIns="0" rIns="0" bIns="0" rtlCol="0" anchor="ctr"/>
          <a:lstStyle/>
          <a:p>
            <a:pPr algn="r"/>
            <a:r>
              <a:rPr lang="en-US" sz="800" i="1">
                <a:solidFill>
                  <a:srgbClr val="7A6F73"/>
                </a:solidFill>
                <a:latin typeface="Garamond" pitchFamily="34" charset="0"/>
                <a:ea typeface="Garamond" pitchFamily="34" charset="-122"/>
                <a:cs typeface="Garamond" pitchFamily="34" charset="-120"/>
              </a:rPr>
              <a:t>Equipo 5</a:t>
            </a:r>
            <a:endParaRPr lang="en-US" sz="800"/>
          </a:p>
        </p:txBody>
      </p:sp>
      <p:pic>
        <p:nvPicPr>
          <p:cNvPr id="54" name="Picture 53">
            <a:extLst>
              <a:ext uri="{FF2B5EF4-FFF2-40B4-BE49-F238E27FC236}">
                <a16:creationId xmlns:a16="http://schemas.microsoft.com/office/drawing/2014/main" id="{B7EF386E-6073-BC86-6551-B770DA3CDC33}"/>
              </a:ext>
            </a:extLst>
          </p:cNvPr>
          <p:cNvPicPr>
            <a:picLocks noChangeAspect="1"/>
          </p:cNvPicPr>
          <p:nvPr/>
        </p:nvPicPr>
        <p:blipFill>
          <a:blip r:embed="rId4"/>
          <a:srcRect t="22261" b="3535"/>
          <a:stretch>
            <a:fillRect/>
          </a:stretch>
        </p:blipFill>
        <p:spPr>
          <a:xfrm>
            <a:off x="-19965" y="1800904"/>
            <a:ext cx="12231624" cy="5065834"/>
          </a:xfrm>
          <a:prstGeom prst="rect">
            <a:avLst/>
          </a:prstGeom>
        </p:spPr>
      </p:pic>
      <p:sp>
        <p:nvSpPr>
          <p:cNvPr id="11" name="Text 2">
            <a:extLst>
              <a:ext uri="{FF2B5EF4-FFF2-40B4-BE49-F238E27FC236}">
                <a16:creationId xmlns:a16="http://schemas.microsoft.com/office/drawing/2014/main" id="{6B7C5B22-4404-C725-7885-D77EEBDAD8E8}"/>
              </a:ext>
            </a:extLst>
          </p:cNvPr>
          <p:cNvSpPr/>
          <p:nvPr/>
        </p:nvSpPr>
        <p:spPr>
          <a:xfrm>
            <a:off x="640080" y="868680"/>
            <a:ext cx="4572000" cy="228600"/>
          </a:xfrm>
          <a:prstGeom prst="rect">
            <a:avLst/>
          </a:prstGeom>
          <a:noFill/>
          <a:ln/>
        </p:spPr>
        <p:txBody>
          <a:bodyPr wrap="square" lIns="0" tIns="0" rIns="0" bIns="0" rtlCol="0" anchor="t"/>
          <a:lstStyle/>
          <a:p>
            <a:pPr marL="0" indent="0" algn="l">
              <a:buNone/>
            </a:pPr>
            <a:r>
              <a:rPr lang="en-US" sz="900" b="1" kern="0" spc="300">
                <a:solidFill>
                  <a:srgbClr val="8C6A38"/>
                </a:solidFill>
                <a:latin typeface="Inter" pitchFamily="34" charset="0"/>
                <a:ea typeface="Inter" pitchFamily="34" charset="-122"/>
                <a:cs typeface="Inter" pitchFamily="34" charset="-120"/>
              </a:rPr>
              <a:t>SECCION 1</a:t>
            </a:r>
            <a:endParaRPr lang="en-US" sz="900" spc="3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A8F0490-4944-87A5-3E83-29EBC87506F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A132E54-0954-067D-800F-7CBA6589AEB6}"/>
              </a:ext>
            </a:extLst>
          </p:cNvPr>
          <p:cNvSpPr/>
          <p:nvPr/>
        </p:nvSpPr>
        <p:spPr>
          <a:xfrm>
            <a:off x="548640" y="320040"/>
            <a:ext cx="11094415" cy="228600"/>
          </a:xfrm>
          <a:prstGeom prst="rect">
            <a:avLst/>
          </a:prstGeom>
          <a:noFill/>
          <a:ln/>
        </p:spPr>
        <p:txBody>
          <a:bodyPr wrap="square" lIns="0" tIns="0" rIns="0" bIns="0" rtlCol="0" anchor="ctr"/>
          <a:lstStyle/>
          <a:p>
            <a:pPr marL="0" indent="0" algn="l">
              <a:buNone/>
            </a:pPr>
            <a:r>
              <a:rPr lang="en-US" sz="800" b="1" kern="0" spc="600">
                <a:solidFill>
                  <a:srgbClr val="4A0F22"/>
                </a:solidFill>
                <a:latin typeface="Inter" pitchFamily="34" charset="0"/>
                <a:ea typeface="Inter" pitchFamily="34" charset="-122"/>
                <a:cs typeface="Inter" pitchFamily="34" charset="-120"/>
              </a:rPr>
              <a:t>INFOTEC   ·   M.C.D.I.   ·   Matemáticas 2026-1</a:t>
            </a:r>
            <a:endParaRPr lang="en-US" sz="800"/>
          </a:p>
        </p:txBody>
      </p:sp>
      <p:sp>
        <p:nvSpPr>
          <p:cNvPr id="3" name="Shape 1">
            <a:extLst>
              <a:ext uri="{FF2B5EF4-FFF2-40B4-BE49-F238E27FC236}">
                <a16:creationId xmlns:a16="http://schemas.microsoft.com/office/drawing/2014/main" id="{4DC9DDE4-F453-DEAC-28FA-41A3CC58A2DC}"/>
              </a:ext>
            </a:extLst>
          </p:cNvPr>
          <p:cNvSpPr/>
          <p:nvPr/>
        </p:nvSpPr>
        <p:spPr>
          <a:xfrm>
            <a:off x="548640" y="566928"/>
            <a:ext cx="11094415" cy="10973"/>
          </a:xfrm>
          <a:prstGeom prst="rect">
            <a:avLst/>
          </a:prstGeom>
          <a:solidFill>
            <a:srgbClr val="000000"/>
          </a:solidFill>
          <a:ln w="12700">
            <a:solidFill>
              <a:srgbClr val="333333"/>
            </a:solidFill>
            <a:prstDash val="solid"/>
          </a:ln>
        </p:spPr>
        <p:txBody>
          <a:bodyPr/>
          <a:lstStyle/>
          <a:p>
            <a:endParaRPr lang="en-MX"/>
          </a:p>
        </p:txBody>
      </p:sp>
      <p:sp>
        <p:nvSpPr>
          <p:cNvPr id="5" name="Text 3">
            <a:extLst>
              <a:ext uri="{FF2B5EF4-FFF2-40B4-BE49-F238E27FC236}">
                <a16:creationId xmlns:a16="http://schemas.microsoft.com/office/drawing/2014/main" id="{3ABC4315-C189-671F-D29A-BA4B3CCEFA18}"/>
              </a:ext>
            </a:extLst>
          </p:cNvPr>
          <p:cNvSpPr/>
          <p:nvPr/>
        </p:nvSpPr>
        <p:spPr>
          <a:xfrm>
            <a:off x="640080" y="1097280"/>
            <a:ext cx="10911535" cy="868680"/>
          </a:xfrm>
          <a:prstGeom prst="rect">
            <a:avLst/>
          </a:prstGeom>
          <a:noFill/>
          <a:ln/>
        </p:spPr>
        <p:txBody>
          <a:bodyPr wrap="square" lIns="0" tIns="0" rIns="0" bIns="0" rtlCol="0" anchor="t"/>
          <a:lstStyle/>
          <a:p>
            <a:r>
              <a:rPr lang="es-ES" sz="3000" b="1">
                <a:solidFill>
                  <a:srgbClr val="B89058"/>
                </a:solidFill>
                <a:latin typeface="Garamond"/>
              </a:rPr>
              <a:t>05. </a:t>
            </a:r>
            <a:r>
              <a:rPr lang="es-ES" sz="3000" b="1">
                <a:solidFill>
                  <a:srgbClr val="4A0F22"/>
                </a:solidFill>
                <a:latin typeface="Garamond"/>
              </a:rPr>
              <a:t>Fundamentación Matemática</a:t>
            </a:r>
            <a:endParaRPr lang="en-US" sz="3800"/>
          </a:p>
        </p:txBody>
      </p:sp>
      <p:sp>
        <p:nvSpPr>
          <p:cNvPr id="6" name="Shape 4">
            <a:extLst>
              <a:ext uri="{FF2B5EF4-FFF2-40B4-BE49-F238E27FC236}">
                <a16:creationId xmlns:a16="http://schemas.microsoft.com/office/drawing/2014/main" id="{3733C87C-652B-F8B1-9F23-3B0E1F73FBA9}"/>
              </a:ext>
            </a:extLst>
          </p:cNvPr>
          <p:cNvSpPr/>
          <p:nvPr/>
        </p:nvSpPr>
        <p:spPr>
          <a:xfrm>
            <a:off x="640080" y="2057400"/>
            <a:ext cx="10911535" cy="10973"/>
          </a:xfrm>
          <a:prstGeom prst="rect">
            <a:avLst/>
          </a:prstGeom>
          <a:solidFill>
            <a:srgbClr val="000000"/>
          </a:solidFill>
          <a:ln w="12700">
            <a:solidFill>
              <a:srgbClr val="333333"/>
            </a:solidFill>
            <a:prstDash val="solid"/>
          </a:ln>
        </p:spPr>
        <p:txBody>
          <a:bodyPr/>
          <a:lstStyle/>
          <a:p>
            <a:endParaRPr lang="en-MX"/>
          </a:p>
        </p:txBody>
      </p:sp>
      <p:sp>
        <p:nvSpPr>
          <p:cNvPr id="47" name="Shape 9">
            <a:extLst>
              <a:ext uri="{FF2B5EF4-FFF2-40B4-BE49-F238E27FC236}">
                <a16:creationId xmlns:a16="http://schemas.microsoft.com/office/drawing/2014/main" id="{DD0F677E-99E0-0B5F-E9EE-32379367A7AF}"/>
              </a:ext>
            </a:extLst>
          </p:cNvPr>
          <p:cNvSpPr/>
          <p:nvPr/>
        </p:nvSpPr>
        <p:spPr>
          <a:xfrm>
            <a:off x="548640" y="6473952"/>
            <a:ext cx="11094415" cy="10973"/>
          </a:xfrm>
          <a:prstGeom prst="rect">
            <a:avLst/>
          </a:prstGeom>
          <a:solidFill>
            <a:srgbClr val="E0D8CC"/>
          </a:solidFill>
          <a:ln w="12700">
            <a:solidFill>
              <a:srgbClr val="E0D8CC"/>
            </a:solidFill>
            <a:prstDash val="solid"/>
          </a:ln>
        </p:spPr>
        <p:txBody>
          <a:bodyPr/>
          <a:lstStyle/>
          <a:p>
            <a:endParaRPr lang="en-MX"/>
          </a:p>
        </p:txBody>
      </p:sp>
      <p:sp>
        <p:nvSpPr>
          <p:cNvPr id="48" name="Text 10">
            <a:extLst>
              <a:ext uri="{FF2B5EF4-FFF2-40B4-BE49-F238E27FC236}">
                <a16:creationId xmlns:a16="http://schemas.microsoft.com/office/drawing/2014/main" id="{22B07C5B-006F-C670-957A-ECA87908E22C}"/>
              </a:ext>
            </a:extLst>
          </p:cNvPr>
          <p:cNvSpPr/>
          <p:nvPr/>
        </p:nvSpPr>
        <p:spPr>
          <a:xfrm>
            <a:off x="548640" y="6565392"/>
            <a:ext cx="1828800" cy="182880"/>
          </a:xfrm>
          <a:prstGeom prst="rect">
            <a:avLst/>
          </a:prstGeom>
          <a:noFill/>
          <a:ln/>
        </p:spPr>
        <p:txBody>
          <a:bodyPr wrap="square" lIns="0" tIns="0" rIns="0" bIns="0" rtlCol="0" anchor="ctr"/>
          <a:lstStyle/>
          <a:p>
            <a:pPr marL="0" indent="0" algn="l">
              <a:buNone/>
            </a:pPr>
            <a:r>
              <a:rPr lang="en-US" sz="800" b="1" kern="0" spc="400">
                <a:solidFill>
                  <a:srgbClr val="7A6F73"/>
                </a:solidFill>
                <a:latin typeface="Inter" pitchFamily="34" charset="0"/>
                <a:ea typeface="Inter" pitchFamily="34" charset="-122"/>
                <a:cs typeface="Inter" pitchFamily="34" charset="-120"/>
              </a:rPr>
              <a:t>M.C.D.I.</a:t>
            </a:r>
            <a:endParaRPr lang="en-US" sz="800"/>
          </a:p>
        </p:txBody>
      </p:sp>
      <p:sp>
        <p:nvSpPr>
          <p:cNvPr id="49" name="Text 11">
            <a:extLst>
              <a:ext uri="{FF2B5EF4-FFF2-40B4-BE49-F238E27FC236}">
                <a16:creationId xmlns:a16="http://schemas.microsoft.com/office/drawing/2014/main" id="{754C292A-5D04-1FDD-0242-FDB64C7D44F0}"/>
              </a:ext>
            </a:extLst>
          </p:cNvPr>
          <p:cNvSpPr/>
          <p:nvPr/>
        </p:nvSpPr>
        <p:spPr>
          <a:xfrm>
            <a:off x="4724248" y="6565392"/>
            <a:ext cx="2743200" cy="182880"/>
          </a:xfrm>
          <a:prstGeom prst="rect">
            <a:avLst/>
          </a:prstGeom>
          <a:noFill/>
          <a:ln/>
        </p:spPr>
        <p:txBody>
          <a:bodyPr wrap="square" lIns="0" tIns="0" rIns="0" bIns="0" rtlCol="0" anchor="ctr"/>
          <a:lstStyle/>
          <a:p>
            <a:pPr marL="0" indent="0" algn="ctr">
              <a:buNone/>
            </a:pPr>
            <a:r>
              <a:rPr lang="en-US" sz="900" i="1">
                <a:solidFill>
                  <a:srgbClr val="8C6A38"/>
                </a:solidFill>
                <a:latin typeface="Garamond" pitchFamily="34" charset="0"/>
                <a:ea typeface="Garamond" pitchFamily="34" charset="-122"/>
                <a:cs typeface="Garamond" pitchFamily="34" charset="-120"/>
              </a:rPr>
              <a:t>—  4 / 20  —</a:t>
            </a:r>
            <a:endParaRPr lang="en-US" sz="900"/>
          </a:p>
        </p:txBody>
      </p:sp>
      <p:sp>
        <p:nvSpPr>
          <p:cNvPr id="50" name="Text 12">
            <a:extLst>
              <a:ext uri="{FF2B5EF4-FFF2-40B4-BE49-F238E27FC236}">
                <a16:creationId xmlns:a16="http://schemas.microsoft.com/office/drawing/2014/main" id="{7A24192E-BD16-6B79-05DC-A35D83C883C1}"/>
              </a:ext>
            </a:extLst>
          </p:cNvPr>
          <p:cNvSpPr/>
          <p:nvPr/>
        </p:nvSpPr>
        <p:spPr>
          <a:xfrm>
            <a:off x="8899855" y="6565392"/>
            <a:ext cx="2743200" cy="182880"/>
          </a:xfrm>
          <a:prstGeom prst="rect">
            <a:avLst/>
          </a:prstGeom>
          <a:noFill/>
          <a:ln/>
        </p:spPr>
        <p:txBody>
          <a:bodyPr wrap="square" lIns="0" tIns="0" rIns="0" bIns="0" rtlCol="0" anchor="ctr"/>
          <a:lstStyle/>
          <a:p>
            <a:pPr algn="r"/>
            <a:r>
              <a:rPr lang="en-US" sz="800" i="1">
                <a:solidFill>
                  <a:srgbClr val="7A6F73"/>
                </a:solidFill>
                <a:latin typeface="Garamond" pitchFamily="34" charset="0"/>
                <a:ea typeface="Garamond" pitchFamily="34" charset="-122"/>
                <a:cs typeface="Garamond" pitchFamily="34" charset="-120"/>
              </a:rPr>
              <a:t>Equipo 5</a:t>
            </a:r>
            <a:endParaRPr lang="en-US" sz="800"/>
          </a:p>
        </p:txBody>
      </p:sp>
      <p:sp>
        <p:nvSpPr>
          <p:cNvPr id="11" name="Text 2">
            <a:extLst>
              <a:ext uri="{FF2B5EF4-FFF2-40B4-BE49-F238E27FC236}">
                <a16:creationId xmlns:a16="http://schemas.microsoft.com/office/drawing/2014/main" id="{00300FF9-5128-49AD-EC51-214E467DD682}"/>
              </a:ext>
            </a:extLst>
          </p:cNvPr>
          <p:cNvSpPr/>
          <p:nvPr/>
        </p:nvSpPr>
        <p:spPr>
          <a:xfrm>
            <a:off x="640080" y="868680"/>
            <a:ext cx="4572000" cy="228600"/>
          </a:xfrm>
          <a:prstGeom prst="rect">
            <a:avLst/>
          </a:prstGeom>
          <a:noFill/>
          <a:ln/>
        </p:spPr>
        <p:txBody>
          <a:bodyPr wrap="square" lIns="0" tIns="0" rIns="0" bIns="0" rtlCol="0" anchor="t"/>
          <a:lstStyle/>
          <a:p>
            <a:pPr marL="0" indent="0" algn="l">
              <a:buNone/>
            </a:pPr>
            <a:r>
              <a:rPr lang="en-US" sz="900" b="1" kern="0" spc="300">
                <a:solidFill>
                  <a:srgbClr val="8C6A38"/>
                </a:solidFill>
                <a:latin typeface="Inter" pitchFamily="34" charset="0"/>
                <a:ea typeface="Inter" pitchFamily="34" charset="-122"/>
                <a:cs typeface="Inter" pitchFamily="34" charset="-120"/>
              </a:rPr>
              <a:t>SECCION 1</a:t>
            </a:r>
            <a:endParaRPr lang="en-US" sz="900" spc="300"/>
          </a:p>
        </p:txBody>
      </p:sp>
      <p:pic>
        <p:nvPicPr>
          <p:cNvPr id="37" name="Picture 36">
            <a:extLst>
              <a:ext uri="{FF2B5EF4-FFF2-40B4-BE49-F238E27FC236}">
                <a16:creationId xmlns:a16="http://schemas.microsoft.com/office/drawing/2014/main" id="{8761D71E-9D04-600C-83E7-762B54746E20}"/>
              </a:ext>
            </a:extLst>
          </p:cNvPr>
          <p:cNvPicPr>
            <a:picLocks noChangeAspect="1"/>
          </p:cNvPicPr>
          <p:nvPr/>
        </p:nvPicPr>
        <p:blipFill>
          <a:blip r:embed="rId4"/>
          <a:srcRect t="18633" b="3359"/>
          <a:stretch>
            <a:fillRect/>
          </a:stretch>
        </p:blipFill>
        <p:spPr>
          <a:xfrm>
            <a:off x="-154" y="1624121"/>
            <a:ext cx="12192001" cy="5308309"/>
          </a:xfrm>
          <a:prstGeom prst="rect">
            <a:avLst/>
          </a:prstGeom>
        </p:spPr>
      </p:pic>
    </p:spTree>
    <p:extLst>
      <p:ext uri="{BB962C8B-B14F-4D97-AF65-F5344CB8AC3E}">
        <p14:creationId xmlns:p14="http://schemas.microsoft.com/office/powerpoint/2010/main" val="376181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228600"/>
          </a:xfrm>
          <a:prstGeom prst="rect">
            <a:avLst/>
          </a:prstGeom>
          <a:noFill/>
          <a:ln/>
        </p:spPr>
        <p:txBody>
          <a:bodyPr wrap="square" lIns="0" tIns="0" rIns="0" bIns="0" rtlCol="0" anchor="ctr"/>
          <a:lstStyle/>
          <a:p>
            <a:pPr marL="0" indent="0" algn="l">
              <a:buNone/>
            </a:pPr>
            <a:r>
              <a:rPr lang="en-US" sz="800" b="1" kern="0" spc="600">
                <a:solidFill>
                  <a:srgbClr val="4A0F22"/>
                </a:solidFill>
                <a:latin typeface="Inter" pitchFamily="34" charset="0"/>
                <a:ea typeface="Inter" pitchFamily="34" charset="-122"/>
                <a:cs typeface="Inter" pitchFamily="34" charset="-120"/>
              </a:rPr>
              <a:t>INFOTEC   ·   M.C.D.I.   ·   Matemáticas 2026-1</a:t>
            </a:r>
            <a:endParaRPr lang="en-US" sz="800"/>
          </a:p>
        </p:txBody>
      </p:sp>
      <p:sp>
        <p:nvSpPr>
          <p:cNvPr id="3" name="Shape 1"/>
          <p:cNvSpPr/>
          <p:nvPr/>
        </p:nvSpPr>
        <p:spPr>
          <a:xfrm>
            <a:off x="548640" y="566928"/>
            <a:ext cx="11094415" cy="10973"/>
          </a:xfrm>
          <a:prstGeom prst="rect">
            <a:avLst/>
          </a:prstGeom>
          <a:solidFill>
            <a:srgbClr val="000000"/>
          </a:solidFill>
          <a:ln w="12700">
            <a:solidFill>
              <a:srgbClr val="333333"/>
            </a:solidFill>
            <a:prstDash val="solid"/>
          </a:ln>
        </p:spPr>
        <p:txBody>
          <a:bodyPr/>
          <a:lstStyle/>
          <a:p>
            <a:endParaRPr lang="en-MX"/>
          </a:p>
        </p:txBody>
      </p:sp>
      <p:sp>
        <p:nvSpPr>
          <p:cNvPr id="5" name="Text 3"/>
          <p:cNvSpPr/>
          <p:nvPr/>
        </p:nvSpPr>
        <p:spPr>
          <a:xfrm>
            <a:off x="640080" y="1097280"/>
            <a:ext cx="10911535" cy="868680"/>
          </a:xfrm>
          <a:prstGeom prst="rect">
            <a:avLst/>
          </a:prstGeom>
          <a:noFill/>
          <a:ln/>
        </p:spPr>
        <p:txBody>
          <a:bodyPr wrap="square" lIns="0" tIns="0" rIns="0" bIns="0" rtlCol="0" anchor="t"/>
          <a:lstStyle/>
          <a:p>
            <a:r>
              <a:rPr lang="es-ES" sz="3000" b="1">
                <a:solidFill>
                  <a:srgbClr val="B89058"/>
                </a:solidFill>
                <a:latin typeface="Garamond"/>
              </a:rPr>
              <a:t>06.</a:t>
            </a:r>
            <a:r>
              <a:rPr sz="3000" b="1">
                <a:solidFill>
                  <a:srgbClr val="B89058"/>
                </a:solidFill>
                <a:latin typeface="Garamond"/>
              </a:rPr>
              <a:t> </a:t>
            </a:r>
            <a:r>
              <a:rPr sz="3000" b="1" err="1">
                <a:solidFill>
                  <a:srgbClr val="4A0F22"/>
                </a:solidFill>
                <a:latin typeface="Garamond"/>
              </a:rPr>
              <a:t>Estructura</a:t>
            </a:r>
            <a:r>
              <a:rPr sz="3000" b="1">
                <a:solidFill>
                  <a:srgbClr val="4A0F22"/>
                </a:solidFill>
                <a:latin typeface="Garamond"/>
              </a:rPr>
              <a:t> </a:t>
            </a:r>
            <a:r>
              <a:rPr sz="3000" b="1" err="1">
                <a:solidFill>
                  <a:srgbClr val="4A0F22"/>
                </a:solidFill>
                <a:latin typeface="Garamond"/>
              </a:rPr>
              <a:t>Topológica</a:t>
            </a:r>
            <a:r>
              <a:rPr sz="3000" b="1">
                <a:solidFill>
                  <a:srgbClr val="4A0F22"/>
                </a:solidFill>
                <a:latin typeface="Garamond"/>
              </a:rPr>
              <a:t> del </a:t>
            </a:r>
            <a:r>
              <a:rPr sz="3000" b="1" err="1">
                <a:solidFill>
                  <a:srgbClr val="4A0F22"/>
                </a:solidFill>
                <a:latin typeface="Garamond"/>
              </a:rPr>
              <a:t>Grafo</a:t>
            </a:r>
            <a:endParaRPr lang="en-US" sz="3800"/>
          </a:p>
        </p:txBody>
      </p:sp>
      <p:sp>
        <p:nvSpPr>
          <p:cNvPr id="6" name="Shape 4"/>
          <p:cNvSpPr/>
          <p:nvPr/>
        </p:nvSpPr>
        <p:spPr>
          <a:xfrm>
            <a:off x="640080" y="2057400"/>
            <a:ext cx="10911535" cy="10973"/>
          </a:xfrm>
          <a:prstGeom prst="rect">
            <a:avLst/>
          </a:prstGeom>
          <a:solidFill>
            <a:srgbClr val="000000"/>
          </a:solidFill>
          <a:ln w="12700">
            <a:solidFill>
              <a:srgbClr val="333333"/>
            </a:solidFill>
            <a:prstDash val="solid"/>
          </a:ln>
        </p:spPr>
        <p:txBody>
          <a:bodyPr/>
          <a:lstStyle/>
          <a:p>
            <a:endParaRPr lang="en-MX"/>
          </a:p>
        </p:txBody>
      </p:sp>
      <p:sp>
        <p:nvSpPr>
          <p:cNvPr id="11" name="Shape 9"/>
          <p:cNvSpPr/>
          <p:nvPr/>
        </p:nvSpPr>
        <p:spPr>
          <a:xfrm>
            <a:off x="548640" y="6473952"/>
            <a:ext cx="11094415" cy="10973"/>
          </a:xfrm>
          <a:prstGeom prst="rect">
            <a:avLst/>
          </a:prstGeom>
          <a:solidFill>
            <a:srgbClr val="E0D8CC"/>
          </a:solidFill>
          <a:ln w="12700">
            <a:solidFill>
              <a:srgbClr val="E0D8CC"/>
            </a:solidFill>
            <a:prstDash val="solid"/>
          </a:ln>
        </p:spPr>
        <p:txBody>
          <a:bodyPr/>
          <a:lstStyle/>
          <a:p>
            <a:endParaRPr lang="en-MX"/>
          </a:p>
        </p:txBody>
      </p:sp>
      <p:sp>
        <p:nvSpPr>
          <p:cNvPr id="12" name="Text 10"/>
          <p:cNvSpPr/>
          <p:nvPr/>
        </p:nvSpPr>
        <p:spPr>
          <a:xfrm>
            <a:off x="548640" y="6565392"/>
            <a:ext cx="1828800" cy="182880"/>
          </a:xfrm>
          <a:prstGeom prst="rect">
            <a:avLst/>
          </a:prstGeom>
          <a:noFill/>
          <a:ln/>
        </p:spPr>
        <p:txBody>
          <a:bodyPr wrap="square" lIns="0" tIns="0" rIns="0" bIns="0" rtlCol="0" anchor="ctr"/>
          <a:lstStyle/>
          <a:p>
            <a:pPr marL="0" indent="0" algn="l">
              <a:buNone/>
            </a:pPr>
            <a:r>
              <a:rPr lang="en-US" sz="800" b="1" kern="0" spc="400">
                <a:solidFill>
                  <a:srgbClr val="7A6F73"/>
                </a:solidFill>
                <a:latin typeface="Inter" pitchFamily="34" charset="0"/>
                <a:ea typeface="Inter" pitchFamily="34" charset="-122"/>
                <a:cs typeface="Inter" pitchFamily="34" charset="-120"/>
              </a:rPr>
              <a:t>M.C.D.I.</a:t>
            </a:r>
            <a:endParaRPr lang="en-US" sz="800"/>
          </a:p>
        </p:txBody>
      </p:sp>
      <p:sp>
        <p:nvSpPr>
          <p:cNvPr id="13" name="Text 11"/>
          <p:cNvSpPr/>
          <p:nvPr/>
        </p:nvSpPr>
        <p:spPr>
          <a:xfrm>
            <a:off x="4724248" y="6565392"/>
            <a:ext cx="2743200" cy="182880"/>
          </a:xfrm>
          <a:prstGeom prst="rect">
            <a:avLst/>
          </a:prstGeom>
          <a:noFill/>
          <a:ln/>
        </p:spPr>
        <p:txBody>
          <a:bodyPr wrap="square" lIns="0" tIns="0" rIns="0" bIns="0" rtlCol="0" anchor="ctr"/>
          <a:lstStyle/>
          <a:p>
            <a:pPr marL="0" indent="0" algn="ctr">
              <a:buNone/>
            </a:pPr>
            <a:r>
              <a:rPr lang="en-US" sz="900" i="1">
                <a:solidFill>
                  <a:srgbClr val="8C6A38"/>
                </a:solidFill>
                <a:latin typeface="Garamond" pitchFamily="34" charset="0"/>
                <a:ea typeface="Garamond" pitchFamily="34" charset="-122"/>
                <a:cs typeface="Garamond" pitchFamily="34" charset="-120"/>
              </a:rPr>
              <a:t>—  5 / 20  —</a:t>
            </a:r>
            <a:endParaRPr lang="en-US" sz="900"/>
          </a:p>
        </p:txBody>
      </p:sp>
      <p:sp>
        <p:nvSpPr>
          <p:cNvPr id="14" name="Text 12"/>
          <p:cNvSpPr/>
          <p:nvPr/>
        </p:nvSpPr>
        <p:spPr>
          <a:xfrm>
            <a:off x="8899855" y="6565392"/>
            <a:ext cx="2743200" cy="182880"/>
          </a:xfrm>
          <a:prstGeom prst="rect">
            <a:avLst/>
          </a:prstGeom>
          <a:noFill/>
          <a:ln/>
        </p:spPr>
        <p:txBody>
          <a:bodyPr wrap="square" lIns="0" tIns="0" rIns="0" bIns="0" rtlCol="0" anchor="ctr"/>
          <a:lstStyle/>
          <a:p>
            <a:pPr algn="r"/>
            <a:r>
              <a:rPr lang="en-US" sz="800" i="1">
                <a:solidFill>
                  <a:srgbClr val="7A6F73"/>
                </a:solidFill>
                <a:latin typeface="Garamond" pitchFamily="34" charset="0"/>
                <a:ea typeface="Garamond" pitchFamily="34" charset="-122"/>
                <a:cs typeface="Garamond" pitchFamily="34" charset="-120"/>
              </a:rPr>
              <a:t>Equipo 5</a:t>
            </a:r>
            <a:endParaRPr lang="en-US" sz="800"/>
          </a:p>
        </p:txBody>
      </p:sp>
      <p:sp>
        <p:nvSpPr>
          <p:cNvPr id="18" name="Text 2">
            <a:extLst>
              <a:ext uri="{FF2B5EF4-FFF2-40B4-BE49-F238E27FC236}">
                <a16:creationId xmlns:a16="http://schemas.microsoft.com/office/drawing/2014/main" id="{0F08B167-01A7-FDB2-6E3A-8A2B85BA8F00}"/>
              </a:ext>
            </a:extLst>
          </p:cNvPr>
          <p:cNvSpPr/>
          <p:nvPr/>
        </p:nvSpPr>
        <p:spPr>
          <a:xfrm>
            <a:off x="640080" y="868680"/>
            <a:ext cx="4572000" cy="228600"/>
          </a:xfrm>
          <a:prstGeom prst="rect">
            <a:avLst/>
          </a:prstGeom>
          <a:noFill/>
          <a:ln/>
        </p:spPr>
        <p:txBody>
          <a:bodyPr wrap="square" lIns="0" tIns="0" rIns="0" bIns="0" rtlCol="0" anchor="t"/>
          <a:lstStyle/>
          <a:p>
            <a:pPr marL="0" indent="0" algn="l">
              <a:buNone/>
            </a:pPr>
            <a:r>
              <a:rPr lang="en-US" sz="900" b="1" kern="0" spc="300">
                <a:solidFill>
                  <a:srgbClr val="8C6A38"/>
                </a:solidFill>
                <a:latin typeface="Inter" pitchFamily="34" charset="0"/>
                <a:ea typeface="Inter" pitchFamily="34" charset="-122"/>
                <a:cs typeface="Inter" pitchFamily="34" charset="-120"/>
              </a:rPr>
              <a:t>SECCION 1</a:t>
            </a:r>
            <a:endParaRPr lang="en-US" sz="900" spc="300"/>
          </a:p>
        </p:txBody>
      </p:sp>
      <p:pic>
        <p:nvPicPr>
          <p:cNvPr id="4" name="Picture 3">
            <a:extLst>
              <a:ext uri="{FF2B5EF4-FFF2-40B4-BE49-F238E27FC236}">
                <a16:creationId xmlns:a16="http://schemas.microsoft.com/office/drawing/2014/main" id="{89AD3789-1D15-A9D6-4623-980862E83926}"/>
              </a:ext>
            </a:extLst>
          </p:cNvPr>
          <p:cNvPicPr>
            <a:picLocks noChangeAspect="1"/>
          </p:cNvPicPr>
          <p:nvPr/>
        </p:nvPicPr>
        <p:blipFill>
          <a:blip r:embed="rId4"/>
          <a:srcRect t="19234" b="3872"/>
          <a:stretch>
            <a:fillRect/>
          </a:stretch>
        </p:blipFill>
        <p:spPr>
          <a:xfrm>
            <a:off x="-8709" y="1678513"/>
            <a:ext cx="12200709" cy="51881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228600"/>
          </a:xfrm>
          <a:prstGeom prst="rect">
            <a:avLst/>
          </a:prstGeom>
          <a:noFill/>
          <a:ln/>
        </p:spPr>
        <p:txBody>
          <a:bodyPr wrap="square" lIns="0" tIns="0" rIns="0" bIns="0" rtlCol="0" anchor="ctr"/>
          <a:lstStyle/>
          <a:p>
            <a:pPr marL="0" indent="0" algn="l">
              <a:buNone/>
            </a:pPr>
            <a:r>
              <a:rPr lang="en-US" sz="800" b="1" kern="0" spc="600">
                <a:solidFill>
                  <a:srgbClr val="4A0F22"/>
                </a:solidFill>
                <a:latin typeface="Inter" pitchFamily="34" charset="0"/>
                <a:ea typeface="Inter" pitchFamily="34" charset="-122"/>
                <a:cs typeface="Inter" pitchFamily="34" charset="-120"/>
              </a:rPr>
              <a:t>INFOTEC   ·   M.C.D.I.   ·   Matemáticas 2026-1</a:t>
            </a:r>
            <a:endParaRPr lang="en-US" sz="800"/>
          </a:p>
        </p:txBody>
      </p:sp>
      <p:sp>
        <p:nvSpPr>
          <p:cNvPr id="3" name="Shape 1"/>
          <p:cNvSpPr/>
          <p:nvPr/>
        </p:nvSpPr>
        <p:spPr>
          <a:xfrm>
            <a:off x="548640" y="566928"/>
            <a:ext cx="11094415" cy="10973"/>
          </a:xfrm>
          <a:prstGeom prst="rect">
            <a:avLst/>
          </a:prstGeom>
          <a:solidFill>
            <a:srgbClr val="000000"/>
          </a:solidFill>
          <a:ln w="12700">
            <a:solidFill>
              <a:srgbClr val="333333"/>
            </a:solidFill>
            <a:prstDash val="solid"/>
          </a:ln>
        </p:spPr>
        <p:txBody>
          <a:bodyPr/>
          <a:lstStyle/>
          <a:p>
            <a:endParaRPr lang="en-MX"/>
          </a:p>
        </p:txBody>
      </p:sp>
      <p:sp>
        <p:nvSpPr>
          <p:cNvPr id="4" name="Text 2"/>
          <p:cNvSpPr/>
          <p:nvPr/>
        </p:nvSpPr>
        <p:spPr>
          <a:xfrm>
            <a:off x="640080" y="868680"/>
            <a:ext cx="4572000" cy="228600"/>
          </a:xfrm>
          <a:prstGeom prst="rect">
            <a:avLst/>
          </a:prstGeom>
          <a:noFill/>
          <a:ln/>
        </p:spPr>
        <p:txBody>
          <a:bodyPr wrap="square" lIns="0" tIns="0" rIns="0" bIns="0" rtlCol="0" anchor="t"/>
          <a:lstStyle/>
          <a:p>
            <a:pPr marL="0" indent="0" algn="l">
              <a:buNone/>
            </a:pPr>
            <a:r>
              <a:rPr lang="en-US" sz="900" b="1" kern="0" spc="300">
                <a:solidFill>
                  <a:srgbClr val="8C6A38"/>
                </a:solidFill>
                <a:latin typeface="Inter" pitchFamily="34" charset="0"/>
                <a:ea typeface="Inter" pitchFamily="34" charset="-122"/>
                <a:cs typeface="Inter" pitchFamily="34" charset="-120"/>
              </a:rPr>
              <a:t>SECCION 2</a:t>
            </a:r>
            <a:endParaRPr lang="en-US" sz="900" spc="300"/>
          </a:p>
        </p:txBody>
      </p:sp>
      <p:sp>
        <p:nvSpPr>
          <p:cNvPr id="5" name="Text 3"/>
          <p:cNvSpPr/>
          <p:nvPr/>
        </p:nvSpPr>
        <p:spPr>
          <a:xfrm>
            <a:off x="640080" y="1097280"/>
            <a:ext cx="10911535" cy="868680"/>
          </a:xfrm>
          <a:prstGeom prst="rect">
            <a:avLst/>
          </a:prstGeom>
          <a:noFill/>
          <a:ln/>
        </p:spPr>
        <p:txBody>
          <a:bodyPr wrap="square" lIns="0" tIns="0" rIns="0" bIns="0" rtlCol="0" anchor="t"/>
          <a:lstStyle/>
          <a:p>
            <a:r>
              <a:rPr lang="es-ES" sz="3000" b="1">
                <a:solidFill>
                  <a:srgbClr val="B89058"/>
                </a:solidFill>
                <a:latin typeface="Garamond"/>
              </a:rPr>
              <a:t>07.</a:t>
            </a:r>
            <a:r>
              <a:rPr sz="3000" b="1">
                <a:solidFill>
                  <a:srgbClr val="B89058"/>
                </a:solidFill>
                <a:latin typeface="Garamond"/>
              </a:rPr>
              <a:t> </a:t>
            </a:r>
            <a:r>
              <a:rPr sz="3000" b="1" err="1">
                <a:solidFill>
                  <a:srgbClr val="4A0F22"/>
                </a:solidFill>
                <a:latin typeface="Garamond"/>
              </a:rPr>
              <a:t>Formulación</a:t>
            </a:r>
            <a:r>
              <a:rPr sz="3000" b="1">
                <a:solidFill>
                  <a:srgbClr val="4A0F22"/>
                </a:solidFill>
                <a:latin typeface="Garamond"/>
              </a:rPr>
              <a:t> del Modelo Primal — </a:t>
            </a:r>
            <a:r>
              <a:rPr sz="3000" b="1" err="1">
                <a:solidFill>
                  <a:srgbClr val="4A0F22"/>
                </a:solidFill>
                <a:latin typeface="Garamond"/>
              </a:rPr>
              <a:t>Perspectiva</a:t>
            </a:r>
            <a:r>
              <a:rPr sz="3000" b="1">
                <a:solidFill>
                  <a:srgbClr val="4A0F22"/>
                </a:solidFill>
                <a:latin typeface="Garamond"/>
              </a:rPr>
              <a:t> del </a:t>
            </a:r>
            <a:r>
              <a:rPr sz="3000" b="1" err="1">
                <a:solidFill>
                  <a:srgbClr val="4A0F22"/>
                </a:solidFill>
                <a:latin typeface="Garamond"/>
              </a:rPr>
              <a:t>Transportista</a:t>
            </a:r>
            <a:endParaRPr lang="en-US" sz="3800"/>
          </a:p>
        </p:txBody>
      </p:sp>
      <p:sp>
        <p:nvSpPr>
          <p:cNvPr id="6" name="Shape 4"/>
          <p:cNvSpPr/>
          <p:nvPr/>
        </p:nvSpPr>
        <p:spPr>
          <a:xfrm>
            <a:off x="640080" y="2057400"/>
            <a:ext cx="10911535" cy="10973"/>
          </a:xfrm>
          <a:prstGeom prst="rect">
            <a:avLst/>
          </a:prstGeom>
          <a:solidFill>
            <a:srgbClr val="000000"/>
          </a:solidFill>
          <a:ln w="12700">
            <a:solidFill>
              <a:srgbClr val="333333"/>
            </a:solidFill>
            <a:prstDash val="solid"/>
          </a:ln>
        </p:spPr>
        <p:txBody>
          <a:bodyPr/>
          <a:lstStyle/>
          <a:p>
            <a:endParaRPr lang="en-MX"/>
          </a:p>
        </p:txBody>
      </p:sp>
      <p:sp>
        <p:nvSpPr>
          <p:cNvPr id="7" name="Text 5"/>
          <p:cNvSpPr/>
          <p:nvPr/>
        </p:nvSpPr>
        <p:spPr>
          <a:xfrm>
            <a:off x="640080" y="2331720"/>
            <a:ext cx="6766560" cy="3840480"/>
          </a:xfrm>
          <a:prstGeom prst="rect">
            <a:avLst/>
          </a:prstGeom>
          <a:noFill/>
          <a:ln/>
        </p:spPr>
        <p:txBody>
          <a:bodyPr wrap="square" lIns="0" tIns="0" rIns="0" bIns="0" rtlCol="0" anchor="t"/>
          <a:lstStyle/>
          <a:p>
            <a:pPr marL="0" indent="0" algn="just">
              <a:lnSpc>
                <a:spcPct val="140000"/>
              </a:lnSpc>
              <a:spcAft>
                <a:spcPts val="400"/>
              </a:spcAft>
              <a:buNone/>
            </a:pPr>
            <a:r>
              <a:rPr sz="1150">
                <a:solidFill>
                  <a:srgbClr val="2A2226"/>
                </a:solidFill>
              </a:rPr>
              <a:t>Parámetros: m orígenes con oferta aᵢ · n destinos con demanda bⱼ · cᵢⱼ costo unitario · xᵢⱼ unidades enviadas.</a:t>
            </a:r>
            <a:endParaRPr lang="en-US" sz="1300"/>
          </a:p>
          <a:p>
            <a:pPr>
              <a:spcAft>
                <a:spcPts val="400"/>
              </a:spcAft>
            </a:pPr>
            <a:r>
              <a:rPr sz="1150">
                <a:solidFill>
                  <a:srgbClr val="2A2226"/>
                </a:solidFill>
              </a:rPr>
              <a:t>Sistema balanceado: Σaᵢ = Σbⱼ.</a:t>
            </a:r>
          </a:p>
          <a:p>
            <a:pPr>
              <a:spcAft>
                <a:spcPts val="400"/>
              </a:spcAft>
            </a:pPr>
            <a:r>
              <a:rPr sz="1150">
                <a:solidFill>
                  <a:srgbClr val="2A2226"/>
                </a:solidFill>
              </a:rPr>
              <a:t>Función Objetivo:  Minimizar Z = Σᵢ Σⱼ cᵢⱼ · xᵢⱼ</a:t>
            </a:r>
          </a:p>
          <a:p>
            <a:pPr>
              <a:spcAft>
                <a:spcPts val="400"/>
              </a:spcAft>
            </a:pPr>
            <a:r>
              <a:rPr sz="1150">
                <a:solidFill>
                  <a:srgbClr val="2A2226"/>
                </a:solidFill>
              </a:rPr>
              <a:t>Restricciones de Oferta:  Σⱼ xᵢⱼ = aᵢ   ∀i</a:t>
            </a:r>
          </a:p>
          <a:p>
            <a:pPr>
              <a:spcAft>
                <a:spcPts val="400"/>
              </a:spcAft>
            </a:pPr>
            <a:r>
              <a:rPr sz="1150">
                <a:solidFill>
                  <a:srgbClr val="2A2226"/>
                </a:solidFill>
              </a:rPr>
              <a:t>Restricciones de Demanda:  Σᵢ xᵢⱼ = bⱼ   ∀j</a:t>
            </a:r>
          </a:p>
          <a:p>
            <a:pPr>
              <a:spcAft>
                <a:spcPts val="400"/>
              </a:spcAft>
            </a:pPr>
            <a:r>
              <a:rPr sz="1150">
                <a:solidFill>
                  <a:srgbClr val="2A2226"/>
                </a:solidFill>
              </a:rPr>
              <a:t>No negatividad:  xᵢⱼ ≥ 0</a:t>
            </a:r>
          </a:p>
        </p:txBody>
      </p:sp>
      <p:sp>
        <p:nvSpPr>
          <p:cNvPr id="8" name="Text 6"/>
          <p:cNvSpPr/>
          <p:nvPr/>
        </p:nvSpPr>
        <p:spPr>
          <a:xfrm>
            <a:off x="7680960" y="2331720"/>
            <a:ext cx="3840480" cy="228600"/>
          </a:xfrm>
          <a:prstGeom prst="rect">
            <a:avLst/>
          </a:prstGeom>
          <a:noFill/>
          <a:ln/>
        </p:spPr>
        <p:txBody>
          <a:bodyPr wrap="square" lIns="0" tIns="0" rIns="0" bIns="0" rtlCol="0" anchor="t"/>
          <a:lstStyle/>
          <a:p>
            <a:pPr marL="0" indent="0" algn="l">
              <a:buNone/>
            </a:pPr>
            <a:r>
              <a:rPr lang="en-US" sz="800" b="1" kern="0" spc="1000">
                <a:solidFill>
                  <a:srgbClr val="8C6A38"/>
                </a:solidFill>
                <a:latin typeface="Inter" pitchFamily="34" charset="0"/>
                <a:ea typeface="Inter" pitchFamily="34" charset="-122"/>
                <a:cs typeface="Inter" pitchFamily="34" charset="-120"/>
              </a:rPr>
              <a:t>PUNTO FUNDAMENTAL</a:t>
            </a:r>
            <a:endParaRPr lang="en-US" sz="800"/>
          </a:p>
        </p:txBody>
      </p:sp>
      <p:sp>
        <p:nvSpPr>
          <p:cNvPr id="9" name="Shape 7"/>
          <p:cNvSpPr/>
          <p:nvPr/>
        </p:nvSpPr>
        <p:spPr>
          <a:xfrm>
            <a:off x="7680960" y="2606040"/>
            <a:ext cx="3840480" cy="20117"/>
          </a:xfrm>
          <a:prstGeom prst="rect">
            <a:avLst/>
          </a:prstGeom>
          <a:solidFill>
            <a:srgbClr val="B89058"/>
          </a:solidFill>
          <a:ln w="12700">
            <a:solidFill>
              <a:srgbClr val="B89058"/>
            </a:solidFill>
            <a:prstDash val="solid"/>
          </a:ln>
        </p:spPr>
        <p:txBody>
          <a:bodyPr/>
          <a:lstStyle/>
          <a:p>
            <a:endParaRPr lang="en-MX"/>
          </a:p>
        </p:txBody>
      </p:sp>
      <p:sp>
        <p:nvSpPr>
          <p:cNvPr id="10" name="Text 8"/>
          <p:cNvSpPr/>
          <p:nvPr/>
        </p:nvSpPr>
        <p:spPr>
          <a:xfrm>
            <a:off x="7680960" y="2788920"/>
            <a:ext cx="3840480" cy="3383280"/>
          </a:xfrm>
          <a:prstGeom prst="rect">
            <a:avLst/>
          </a:prstGeom>
          <a:noFill/>
          <a:ln/>
        </p:spPr>
        <p:txBody>
          <a:bodyPr wrap="square" lIns="0" tIns="0" rIns="0" bIns="0" rtlCol="0" anchor="t"/>
          <a:lstStyle/>
          <a:p>
            <a:pPr marL="0" indent="0" algn="l">
              <a:lnSpc>
                <a:spcPct val="135000"/>
              </a:lnSpc>
              <a:spcAft>
                <a:spcPts val="400"/>
              </a:spcAft>
              <a:buNone/>
            </a:pPr>
            <a:r>
              <a:rPr sz="1200" i="1">
                <a:solidFill>
                  <a:srgbClr val="4A0F22"/>
                </a:solidFill>
              </a:rPr>
              <a:t>Cada restricción primal generará una variable dual. Perspectiva del transportista: minimizar el costo total de distribución.</a:t>
            </a:r>
            <a:endParaRPr lang="en-US" sz="1400"/>
          </a:p>
        </p:txBody>
      </p:sp>
      <p:sp>
        <p:nvSpPr>
          <p:cNvPr id="11" name="Shape 9"/>
          <p:cNvSpPr/>
          <p:nvPr/>
        </p:nvSpPr>
        <p:spPr>
          <a:xfrm>
            <a:off x="548640" y="6473952"/>
            <a:ext cx="11094415" cy="10973"/>
          </a:xfrm>
          <a:prstGeom prst="rect">
            <a:avLst/>
          </a:prstGeom>
          <a:solidFill>
            <a:srgbClr val="E0D8CC"/>
          </a:solidFill>
          <a:ln w="12700">
            <a:solidFill>
              <a:srgbClr val="E0D8CC"/>
            </a:solidFill>
            <a:prstDash val="solid"/>
          </a:ln>
        </p:spPr>
        <p:txBody>
          <a:bodyPr/>
          <a:lstStyle/>
          <a:p>
            <a:endParaRPr lang="en-MX"/>
          </a:p>
        </p:txBody>
      </p:sp>
      <p:sp>
        <p:nvSpPr>
          <p:cNvPr id="12" name="Text 10"/>
          <p:cNvSpPr/>
          <p:nvPr/>
        </p:nvSpPr>
        <p:spPr>
          <a:xfrm>
            <a:off x="548640" y="6565392"/>
            <a:ext cx="1828800" cy="182880"/>
          </a:xfrm>
          <a:prstGeom prst="rect">
            <a:avLst/>
          </a:prstGeom>
          <a:noFill/>
          <a:ln/>
        </p:spPr>
        <p:txBody>
          <a:bodyPr wrap="square" lIns="0" tIns="0" rIns="0" bIns="0" rtlCol="0" anchor="ctr"/>
          <a:lstStyle/>
          <a:p>
            <a:pPr marL="0" indent="0" algn="l">
              <a:buNone/>
            </a:pPr>
            <a:r>
              <a:rPr lang="en-US" sz="800" b="1" kern="0" spc="400">
                <a:solidFill>
                  <a:srgbClr val="7A6F73"/>
                </a:solidFill>
                <a:latin typeface="Inter" pitchFamily="34" charset="0"/>
                <a:ea typeface="Inter" pitchFamily="34" charset="-122"/>
                <a:cs typeface="Inter" pitchFamily="34" charset="-120"/>
              </a:rPr>
              <a:t>M.C.D.I.</a:t>
            </a:r>
            <a:endParaRPr lang="en-US" sz="800"/>
          </a:p>
        </p:txBody>
      </p:sp>
      <p:sp>
        <p:nvSpPr>
          <p:cNvPr id="13" name="Text 11"/>
          <p:cNvSpPr/>
          <p:nvPr/>
        </p:nvSpPr>
        <p:spPr>
          <a:xfrm>
            <a:off x="4724248" y="6565392"/>
            <a:ext cx="2743200" cy="182880"/>
          </a:xfrm>
          <a:prstGeom prst="rect">
            <a:avLst/>
          </a:prstGeom>
          <a:noFill/>
          <a:ln/>
        </p:spPr>
        <p:txBody>
          <a:bodyPr wrap="square" lIns="0" tIns="0" rIns="0" bIns="0" rtlCol="0" anchor="ctr"/>
          <a:lstStyle/>
          <a:p>
            <a:pPr marL="0" indent="0" algn="ctr">
              <a:buNone/>
            </a:pPr>
            <a:r>
              <a:rPr lang="en-US" sz="900" i="1">
                <a:solidFill>
                  <a:srgbClr val="8C6A38"/>
                </a:solidFill>
                <a:latin typeface="Garamond" pitchFamily="34" charset="0"/>
                <a:ea typeface="Garamond" pitchFamily="34" charset="-122"/>
                <a:cs typeface="Garamond" pitchFamily="34" charset="-120"/>
              </a:rPr>
              <a:t>—  6 / 20  —</a:t>
            </a:r>
            <a:endParaRPr lang="en-US" sz="900"/>
          </a:p>
        </p:txBody>
      </p:sp>
      <p:sp>
        <p:nvSpPr>
          <p:cNvPr id="14" name="Text 12"/>
          <p:cNvSpPr/>
          <p:nvPr/>
        </p:nvSpPr>
        <p:spPr>
          <a:xfrm>
            <a:off x="8899855" y="6565392"/>
            <a:ext cx="2743200" cy="182880"/>
          </a:xfrm>
          <a:prstGeom prst="rect">
            <a:avLst/>
          </a:prstGeom>
          <a:noFill/>
          <a:ln/>
        </p:spPr>
        <p:txBody>
          <a:bodyPr wrap="square" lIns="0" tIns="0" rIns="0" bIns="0" rtlCol="0" anchor="ctr"/>
          <a:lstStyle/>
          <a:p>
            <a:pPr algn="r"/>
            <a:r>
              <a:rPr lang="en-US" sz="800" i="1">
                <a:solidFill>
                  <a:srgbClr val="7A6F73"/>
                </a:solidFill>
                <a:latin typeface="Garamond" pitchFamily="34" charset="0"/>
                <a:ea typeface="Garamond" pitchFamily="34" charset="-122"/>
                <a:cs typeface="Garamond" pitchFamily="34" charset="-120"/>
              </a:rPr>
              <a:t>Equipo 5</a:t>
            </a:r>
            <a:endParaRPr lang="en-US" sz="800"/>
          </a:p>
        </p:txBody>
      </p:sp>
      <p:sp>
        <p:nvSpPr>
          <p:cNvPr id="22" name="Rectangle 21">
            <a:extLst>
              <a:ext uri="{FF2B5EF4-FFF2-40B4-BE49-F238E27FC236}">
                <a16:creationId xmlns:a16="http://schemas.microsoft.com/office/drawing/2014/main" id="{B543EDA0-6E5C-7D67-E9B2-17D95CDC4675}"/>
              </a:ext>
            </a:extLst>
          </p:cNvPr>
          <p:cNvSpPr/>
          <p:nvPr/>
        </p:nvSpPr>
        <p:spPr>
          <a:xfrm>
            <a:off x="0" y="2050955"/>
            <a:ext cx="12192000" cy="4807045"/>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MX"/>
          </a:p>
        </p:txBody>
      </p:sp>
      <p:pic>
        <p:nvPicPr>
          <p:cNvPr id="23" name="Picture 22">
            <a:extLst>
              <a:ext uri="{FF2B5EF4-FFF2-40B4-BE49-F238E27FC236}">
                <a16:creationId xmlns:a16="http://schemas.microsoft.com/office/drawing/2014/main" id="{F8BD92A7-FD13-16FC-BF0C-C4AD3C54D07C}"/>
              </a:ext>
            </a:extLst>
          </p:cNvPr>
          <p:cNvPicPr>
            <a:picLocks noChangeAspect="1"/>
          </p:cNvPicPr>
          <p:nvPr/>
        </p:nvPicPr>
        <p:blipFill>
          <a:blip r:embed="rId4"/>
          <a:srcRect t="15758" b="2980"/>
          <a:stretch>
            <a:fillRect/>
          </a:stretch>
        </p:blipFill>
        <p:spPr>
          <a:xfrm>
            <a:off x="861919" y="2057400"/>
            <a:ext cx="10467856" cy="474776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228600"/>
          </a:xfrm>
          <a:prstGeom prst="rect">
            <a:avLst/>
          </a:prstGeom>
          <a:noFill/>
          <a:ln/>
        </p:spPr>
        <p:txBody>
          <a:bodyPr wrap="square" lIns="0" tIns="0" rIns="0" bIns="0" rtlCol="0" anchor="ctr"/>
          <a:lstStyle/>
          <a:p>
            <a:pPr marL="0" indent="0" algn="l">
              <a:buNone/>
            </a:pPr>
            <a:r>
              <a:rPr lang="en-US" sz="800" b="1" kern="0" spc="600">
                <a:solidFill>
                  <a:srgbClr val="4A0F22"/>
                </a:solidFill>
                <a:latin typeface="Inter" pitchFamily="34" charset="0"/>
                <a:ea typeface="Inter" pitchFamily="34" charset="-122"/>
                <a:cs typeface="Inter" pitchFamily="34" charset="-120"/>
              </a:rPr>
              <a:t>INFOTEC   ·   M.C.D.I.   ·   Matemáticas 2026-1</a:t>
            </a:r>
            <a:endParaRPr lang="en-US" sz="800"/>
          </a:p>
        </p:txBody>
      </p:sp>
      <p:sp>
        <p:nvSpPr>
          <p:cNvPr id="3" name="Shape 1"/>
          <p:cNvSpPr/>
          <p:nvPr/>
        </p:nvSpPr>
        <p:spPr>
          <a:xfrm>
            <a:off x="548640" y="566928"/>
            <a:ext cx="11094415" cy="10973"/>
          </a:xfrm>
          <a:prstGeom prst="rect">
            <a:avLst/>
          </a:prstGeom>
          <a:solidFill>
            <a:srgbClr val="000000"/>
          </a:solidFill>
          <a:ln w="12700">
            <a:solidFill>
              <a:srgbClr val="333333"/>
            </a:solidFill>
            <a:prstDash val="solid"/>
          </a:ln>
        </p:spPr>
        <p:txBody>
          <a:bodyPr/>
          <a:lstStyle/>
          <a:p>
            <a:endParaRPr lang="en-MX"/>
          </a:p>
        </p:txBody>
      </p:sp>
      <p:sp>
        <p:nvSpPr>
          <p:cNvPr id="5" name="Text 3"/>
          <p:cNvSpPr/>
          <p:nvPr/>
        </p:nvSpPr>
        <p:spPr>
          <a:xfrm>
            <a:off x="640080" y="1097280"/>
            <a:ext cx="10911535" cy="868680"/>
          </a:xfrm>
          <a:prstGeom prst="rect">
            <a:avLst/>
          </a:prstGeom>
          <a:noFill/>
          <a:ln/>
        </p:spPr>
        <p:txBody>
          <a:bodyPr wrap="square" lIns="0" tIns="0" rIns="0" bIns="0" rtlCol="0" anchor="t"/>
          <a:lstStyle/>
          <a:p>
            <a:r>
              <a:rPr lang="es-ES" sz="3000" b="1">
                <a:solidFill>
                  <a:srgbClr val="B89058"/>
                </a:solidFill>
                <a:latin typeface="Garamond"/>
              </a:rPr>
              <a:t>08.</a:t>
            </a:r>
            <a:r>
              <a:rPr sz="3000" b="1">
                <a:solidFill>
                  <a:srgbClr val="B89058"/>
                </a:solidFill>
                <a:latin typeface="Garamond"/>
              </a:rPr>
              <a:t> </a:t>
            </a:r>
            <a:r>
              <a:rPr sz="3000" b="1" err="1">
                <a:solidFill>
                  <a:srgbClr val="4A0F22"/>
                </a:solidFill>
                <a:latin typeface="Garamond"/>
              </a:rPr>
              <a:t>Formulación</a:t>
            </a:r>
            <a:r>
              <a:rPr sz="3000" b="1">
                <a:solidFill>
                  <a:srgbClr val="4A0F22"/>
                </a:solidFill>
                <a:latin typeface="Garamond"/>
              </a:rPr>
              <a:t> del Modelo Dual</a:t>
            </a:r>
            <a:endParaRPr lang="en-US" sz="3800"/>
          </a:p>
        </p:txBody>
      </p:sp>
      <p:sp>
        <p:nvSpPr>
          <p:cNvPr id="6" name="Shape 4"/>
          <p:cNvSpPr/>
          <p:nvPr/>
        </p:nvSpPr>
        <p:spPr>
          <a:xfrm>
            <a:off x="640080" y="2057400"/>
            <a:ext cx="10911535" cy="10973"/>
          </a:xfrm>
          <a:prstGeom prst="rect">
            <a:avLst/>
          </a:prstGeom>
          <a:solidFill>
            <a:srgbClr val="000000"/>
          </a:solidFill>
          <a:ln w="12700">
            <a:solidFill>
              <a:srgbClr val="333333"/>
            </a:solidFill>
            <a:prstDash val="solid"/>
          </a:ln>
        </p:spPr>
        <p:txBody>
          <a:bodyPr/>
          <a:lstStyle/>
          <a:p>
            <a:endParaRPr lang="en-MX"/>
          </a:p>
        </p:txBody>
      </p:sp>
      <p:sp>
        <p:nvSpPr>
          <p:cNvPr id="7" name="Text 5"/>
          <p:cNvSpPr/>
          <p:nvPr/>
        </p:nvSpPr>
        <p:spPr>
          <a:xfrm>
            <a:off x="640080" y="2331720"/>
            <a:ext cx="6766560" cy="3840480"/>
          </a:xfrm>
          <a:prstGeom prst="rect">
            <a:avLst/>
          </a:prstGeom>
          <a:noFill/>
          <a:ln/>
        </p:spPr>
        <p:txBody>
          <a:bodyPr wrap="square" lIns="0" tIns="0" rIns="0" bIns="0" rtlCol="0" anchor="t"/>
          <a:lstStyle/>
          <a:p>
            <a:pPr marL="0" indent="0" algn="just">
              <a:lnSpc>
                <a:spcPct val="140000"/>
              </a:lnSpc>
              <a:spcAft>
                <a:spcPts val="400"/>
              </a:spcAft>
              <a:buNone/>
            </a:pPr>
            <a:r>
              <a:rPr sz="1150">
                <a:solidFill>
                  <a:srgbClr val="2A2226"/>
                </a:solidFill>
              </a:rPr>
              <a:t>Maximizar W = Σⱼ bⱼVⱼ − Σᵢ aᵢUᵢ</a:t>
            </a:r>
            <a:endParaRPr lang="en-US" sz="1300"/>
          </a:p>
          <a:p>
            <a:pPr>
              <a:spcAft>
                <a:spcPts val="400"/>
              </a:spcAft>
            </a:pPr>
            <a:r>
              <a:rPr sz="1150">
                <a:solidFill>
                  <a:srgbClr val="2A2226"/>
                </a:solidFill>
              </a:rPr>
              <a:t>Sujeto a:  Vⱼ − Uᵢ ≤ cᵢⱼ   ∀i,j</a:t>
            </a:r>
          </a:p>
          <a:p>
            <a:pPr>
              <a:spcAft>
                <a:spcPts val="400"/>
              </a:spcAft>
            </a:pPr>
            <a:r>
              <a:rPr sz="1150">
                <a:solidFill>
                  <a:srgbClr val="2A2226"/>
                </a:solidFill>
              </a:rPr>
              <a:t>Uᵢ, Vⱼ irrestrictas en signo.</a:t>
            </a:r>
          </a:p>
          <a:p>
            <a:pPr>
              <a:spcAft>
                <a:spcPts val="400"/>
              </a:spcAft>
            </a:pPr>
            <a:r>
              <a:rPr sz="1150">
                <a:solidFill>
                  <a:srgbClr val="2A2226"/>
                </a:solidFill>
              </a:rPr>
              <a:t>Uᵢ = Precio en origen i  |  Vⱼ = Precio en destino j.</a:t>
            </a:r>
          </a:p>
          <a:p>
            <a:pPr>
              <a:spcAft>
                <a:spcPts val="400"/>
              </a:spcAft>
            </a:pPr>
            <a:r>
              <a:rPr sz="1150">
                <a:solidFill>
                  <a:srgbClr val="2A2226"/>
                </a:solidFill>
              </a:rPr>
              <a:t>Variables duales = Precios Sombra del sistema.</a:t>
            </a:r>
          </a:p>
          <a:p>
            <a:pPr>
              <a:spcAft>
                <a:spcPts val="400"/>
              </a:spcAft>
            </a:pPr>
            <a:r>
              <a:rPr sz="1150">
                <a:solidFill>
                  <a:srgbClr val="2A2226"/>
                </a:solidFill>
              </a:rPr>
              <a:t>Teorema de Holgura:  x*ᵢⱼ · (cᵢⱼ − V*ⱼ + U*ᵢ) = 0</a:t>
            </a:r>
          </a:p>
        </p:txBody>
      </p:sp>
      <p:sp>
        <p:nvSpPr>
          <p:cNvPr id="8" name="Text 6"/>
          <p:cNvSpPr/>
          <p:nvPr/>
        </p:nvSpPr>
        <p:spPr>
          <a:xfrm>
            <a:off x="7680960" y="2331720"/>
            <a:ext cx="3840480" cy="228600"/>
          </a:xfrm>
          <a:prstGeom prst="rect">
            <a:avLst/>
          </a:prstGeom>
          <a:noFill/>
          <a:ln/>
        </p:spPr>
        <p:txBody>
          <a:bodyPr wrap="square" lIns="0" tIns="0" rIns="0" bIns="0" rtlCol="0" anchor="t"/>
          <a:lstStyle/>
          <a:p>
            <a:pPr marL="0" indent="0" algn="l">
              <a:buNone/>
            </a:pPr>
            <a:r>
              <a:rPr lang="en-US" sz="800" b="1" kern="0" spc="1000">
                <a:solidFill>
                  <a:srgbClr val="8C6A38"/>
                </a:solidFill>
                <a:latin typeface="Inter" pitchFamily="34" charset="0"/>
                <a:ea typeface="Inter" pitchFamily="34" charset="-122"/>
                <a:cs typeface="Inter" pitchFamily="34" charset="-120"/>
              </a:rPr>
              <a:t>PUNTO FUNDAMENTAL</a:t>
            </a:r>
            <a:endParaRPr lang="en-US" sz="800"/>
          </a:p>
        </p:txBody>
      </p:sp>
      <p:sp>
        <p:nvSpPr>
          <p:cNvPr id="9" name="Shape 7"/>
          <p:cNvSpPr/>
          <p:nvPr/>
        </p:nvSpPr>
        <p:spPr>
          <a:xfrm>
            <a:off x="7680960" y="2606040"/>
            <a:ext cx="3840480" cy="20117"/>
          </a:xfrm>
          <a:prstGeom prst="rect">
            <a:avLst/>
          </a:prstGeom>
          <a:solidFill>
            <a:srgbClr val="B89058"/>
          </a:solidFill>
          <a:ln w="12700">
            <a:solidFill>
              <a:srgbClr val="B89058"/>
            </a:solidFill>
            <a:prstDash val="solid"/>
          </a:ln>
        </p:spPr>
        <p:txBody>
          <a:bodyPr/>
          <a:lstStyle/>
          <a:p>
            <a:endParaRPr lang="en-MX"/>
          </a:p>
        </p:txBody>
      </p:sp>
      <p:sp>
        <p:nvSpPr>
          <p:cNvPr id="10" name="Text 8"/>
          <p:cNvSpPr/>
          <p:nvPr/>
        </p:nvSpPr>
        <p:spPr>
          <a:xfrm>
            <a:off x="7680960" y="2788920"/>
            <a:ext cx="3840480" cy="3383280"/>
          </a:xfrm>
          <a:prstGeom prst="rect">
            <a:avLst/>
          </a:prstGeom>
          <a:noFill/>
          <a:ln/>
        </p:spPr>
        <p:txBody>
          <a:bodyPr wrap="square" lIns="0" tIns="0" rIns="0" bIns="0" rtlCol="0" anchor="t"/>
          <a:lstStyle/>
          <a:p>
            <a:pPr marL="0" indent="0" algn="l">
              <a:lnSpc>
                <a:spcPct val="135000"/>
              </a:lnSpc>
              <a:spcAft>
                <a:spcPts val="400"/>
              </a:spcAft>
              <a:buNone/>
            </a:pPr>
            <a:r>
              <a:rPr sz="1150" i="1">
                <a:solidFill>
                  <a:srgbClr val="4A0F22"/>
                </a:solidFill>
              </a:rPr>
              <a:t>Ruta Activa (x*ᵢⱼ &gt; 0): V*ⱼ − U*ᵢ = cᵢⱼ → equilibrio de mercado perfecto.
Ruta Deficitaria (V*ⱼ − U*ᵢ &lt; cᵢⱼ): x*ᵢⱼ = 0 → ruta descartada por el embarcador.</a:t>
            </a:r>
            <a:endParaRPr lang="en-US" sz="1400"/>
          </a:p>
        </p:txBody>
      </p:sp>
      <p:sp>
        <p:nvSpPr>
          <p:cNvPr id="11" name="Shape 9"/>
          <p:cNvSpPr/>
          <p:nvPr/>
        </p:nvSpPr>
        <p:spPr>
          <a:xfrm>
            <a:off x="548640" y="6473952"/>
            <a:ext cx="11094415" cy="10973"/>
          </a:xfrm>
          <a:prstGeom prst="rect">
            <a:avLst/>
          </a:prstGeom>
          <a:solidFill>
            <a:srgbClr val="E0D8CC"/>
          </a:solidFill>
          <a:ln w="12700">
            <a:solidFill>
              <a:srgbClr val="E0D8CC"/>
            </a:solidFill>
            <a:prstDash val="solid"/>
          </a:ln>
        </p:spPr>
        <p:txBody>
          <a:bodyPr/>
          <a:lstStyle/>
          <a:p>
            <a:endParaRPr lang="en-MX"/>
          </a:p>
        </p:txBody>
      </p:sp>
      <p:sp>
        <p:nvSpPr>
          <p:cNvPr id="12" name="Text 10"/>
          <p:cNvSpPr/>
          <p:nvPr/>
        </p:nvSpPr>
        <p:spPr>
          <a:xfrm>
            <a:off x="548640" y="6565392"/>
            <a:ext cx="1828800" cy="182880"/>
          </a:xfrm>
          <a:prstGeom prst="rect">
            <a:avLst/>
          </a:prstGeom>
          <a:noFill/>
          <a:ln/>
        </p:spPr>
        <p:txBody>
          <a:bodyPr wrap="square" lIns="0" tIns="0" rIns="0" bIns="0" rtlCol="0" anchor="ctr"/>
          <a:lstStyle/>
          <a:p>
            <a:pPr marL="0" indent="0" algn="l">
              <a:buNone/>
            </a:pPr>
            <a:r>
              <a:rPr lang="en-US" sz="800" b="1" kern="0" spc="400">
                <a:solidFill>
                  <a:srgbClr val="7A6F73"/>
                </a:solidFill>
                <a:latin typeface="Inter" pitchFamily="34" charset="0"/>
                <a:ea typeface="Inter" pitchFamily="34" charset="-122"/>
                <a:cs typeface="Inter" pitchFamily="34" charset="-120"/>
              </a:rPr>
              <a:t>M.C.D.I.</a:t>
            </a:r>
            <a:endParaRPr lang="en-US" sz="800"/>
          </a:p>
        </p:txBody>
      </p:sp>
      <p:sp>
        <p:nvSpPr>
          <p:cNvPr id="13" name="Text 11"/>
          <p:cNvSpPr/>
          <p:nvPr/>
        </p:nvSpPr>
        <p:spPr>
          <a:xfrm>
            <a:off x="4724248" y="6565392"/>
            <a:ext cx="2743200" cy="182880"/>
          </a:xfrm>
          <a:prstGeom prst="rect">
            <a:avLst/>
          </a:prstGeom>
          <a:noFill/>
          <a:ln/>
        </p:spPr>
        <p:txBody>
          <a:bodyPr wrap="square" lIns="0" tIns="0" rIns="0" bIns="0" rtlCol="0" anchor="ctr"/>
          <a:lstStyle/>
          <a:p>
            <a:pPr marL="0" indent="0" algn="ctr">
              <a:buNone/>
            </a:pPr>
            <a:r>
              <a:rPr lang="en-US" sz="900" i="1">
                <a:solidFill>
                  <a:srgbClr val="8C6A38"/>
                </a:solidFill>
                <a:latin typeface="Garamond" pitchFamily="34" charset="0"/>
                <a:ea typeface="Garamond" pitchFamily="34" charset="-122"/>
                <a:cs typeface="Garamond" pitchFamily="34" charset="-120"/>
              </a:rPr>
              <a:t>—  7 / 20  —</a:t>
            </a:r>
            <a:endParaRPr lang="en-US" sz="900"/>
          </a:p>
        </p:txBody>
      </p:sp>
      <p:sp>
        <p:nvSpPr>
          <p:cNvPr id="14" name="Text 12"/>
          <p:cNvSpPr/>
          <p:nvPr/>
        </p:nvSpPr>
        <p:spPr>
          <a:xfrm>
            <a:off x="8899855" y="6565392"/>
            <a:ext cx="2743200" cy="182880"/>
          </a:xfrm>
          <a:prstGeom prst="rect">
            <a:avLst/>
          </a:prstGeom>
          <a:noFill/>
          <a:ln/>
        </p:spPr>
        <p:txBody>
          <a:bodyPr wrap="square" lIns="0" tIns="0" rIns="0" bIns="0" rtlCol="0" anchor="ctr"/>
          <a:lstStyle/>
          <a:p>
            <a:pPr marL="0" indent="0" algn="r">
              <a:buNone/>
            </a:pPr>
            <a:r>
              <a:rPr lang="en-US" sz="800" i="1">
                <a:solidFill>
                  <a:srgbClr val="7A6F73"/>
                </a:solidFill>
                <a:latin typeface="Garamond" pitchFamily="34" charset="0"/>
                <a:ea typeface="Garamond" pitchFamily="34" charset="-122"/>
                <a:cs typeface="Garamond" pitchFamily="34" charset="-120"/>
              </a:rPr>
              <a:t>Equipo 5</a:t>
            </a:r>
            <a:endParaRPr lang="en-US" sz="800"/>
          </a:p>
        </p:txBody>
      </p:sp>
      <p:sp>
        <p:nvSpPr>
          <p:cNvPr id="22" name="Rectangle 21">
            <a:extLst>
              <a:ext uri="{FF2B5EF4-FFF2-40B4-BE49-F238E27FC236}">
                <a16:creationId xmlns:a16="http://schemas.microsoft.com/office/drawing/2014/main" id="{69A6E46B-B591-90C0-BCB8-88CD895FBA1D}"/>
              </a:ext>
            </a:extLst>
          </p:cNvPr>
          <p:cNvSpPr/>
          <p:nvPr/>
        </p:nvSpPr>
        <p:spPr>
          <a:xfrm>
            <a:off x="-1" y="1840932"/>
            <a:ext cx="12192001" cy="5027701"/>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MX"/>
          </a:p>
        </p:txBody>
      </p:sp>
      <p:pic>
        <p:nvPicPr>
          <p:cNvPr id="23" name="Picture 22">
            <a:extLst>
              <a:ext uri="{FF2B5EF4-FFF2-40B4-BE49-F238E27FC236}">
                <a16:creationId xmlns:a16="http://schemas.microsoft.com/office/drawing/2014/main" id="{C655E648-3434-1695-DB0A-CD34A3C590E0}"/>
              </a:ext>
            </a:extLst>
          </p:cNvPr>
          <p:cNvPicPr>
            <a:picLocks noChangeAspect="1"/>
          </p:cNvPicPr>
          <p:nvPr/>
        </p:nvPicPr>
        <p:blipFill>
          <a:blip r:embed="rId4"/>
          <a:srcRect t="13970" b="2207"/>
          <a:stretch>
            <a:fillRect/>
          </a:stretch>
        </p:blipFill>
        <p:spPr>
          <a:xfrm>
            <a:off x="627022" y="1839007"/>
            <a:ext cx="10746372" cy="5027701"/>
          </a:xfrm>
          <a:prstGeom prst="rect">
            <a:avLst/>
          </a:prstGeom>
        </p:spPr>
      </p:pic>
      <p:sp>
        <p:nvSpPr>
          <p:cNvPr id="24" name="Text 2">
            <a:extLst>
              <a:ext uri="{FF2B5EF4-FFF2-40B4-BE49-F238E27FC236}">
                <a16:creationId xmlns:a16="http://schemas.microsoft.com/office/drawing/2014/main" id="{43855573-E44E-3067-B400-2B058FF1184D}"/>
              </a:ext>
            </a:extLst>
          </p:cNvPr>
          <p:cNvSpPr/>
          <p:nvPr/>
        </p:nvSpPr>
        <p:spPr>
          <a:xfrm>
            <a:off x="640080" y="868680"/>
            <a:ext cx="4572000" cy="228600"/>
          </a:xfrm>
          <a:prstGeom prst="rect">
            <a:avLst/>
          </a:prstGeom>
          <a:noFill/>
          <a:ln/>
        </p:spPr>
        <p:txBody>
          <a:bodyPr wrap="square" lIns="0" tIns="0" rIns="0" bIns="0" rtlCol="0" anchor="t"/>
          <a:lstStyle/>
          <a:p>
            <a:pPr marL="0" indent="0" algn="l">
              <a:buNone/>
            </a:pPr>
            <a:r>
              <a:rPr lang="en-US" sz="900" b="1" kern="0" spc="300">
                <a:solidFill>
                  <a:srgbClr val="8C6A38"/>
                </a:solidFill>
                <a:latin typeface="Inter" pitchFamily="34" charset="0"/>
                <a:ea typeface="Inter" pitchFamily="34" charset="-122"/>
                <a:cs typeface="Inter" pitchFamily="34" charset="-120"/>
              </a:rPr>
              <a:t>SECCION 2</a:t>
            </a:r>
            <a:endParaRPr lang="en-US" sz="900" spc="3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228600"/>
          </a:xfrm>
          <a:prstGeom prst="rect">
            <a:avLst/>
          </a:prstGeom>
          <a:noFill/>
          <a:ln/>
        </p:spPr>
        <p:txBody>
          <a:bodyPr wrap="square" lIns="0" tIns="0" rIns="0" bIns="0" rtlCol="0" anchor="ctr"/>
          <a:lstStyle/>
          <a:p>
            <a:pPr marL="0" indent="0" algn="l">
              <a:buNone/>
            </a:pPr>
            <a:r>
              <a:rPr lang="en-US" sz="800" b="1" kern="0" spc="600">
                <a:solidFill>
                  <a:srgbClr val="4A0F22"/>
                </a:solidFill>
                <a:latin typeface="Inter" pitchFamily="34" charset="0"/>
                <a:ea typeface="Inter" pitchFamily="34" charset="-122"/>
                <a:cs typeface="Inter" pitchFamily="34" charset="-120"/>
              </a:rPr>
              <a:t>INFOTEC   ·   M.C.D.I.   ·   Matemáticas 2026-1</a:t>
            </a:r>
            <a:endParaRPr lang="en-US" sz="800"/>
          </a:p>
        </p:txBody>
      </p:sp>
      <p:sp>
        <p:nvSpPr>
          <p:cNvPr id="3" name="Shape 1"/>
          <p:cNvSpPr/>
          <p:nvPr/>
        </p:nvSpPr>
        <p:spPr>
          <a:xfrm>
            <a:off x="548640" y="566928"/>
            <a:ext cx="11094415" cy="10973"/>
          </a:xfrm>
          <a:prstGeom prst="rect">
            <a:avLst/>
          </a:prstGeom>
          <a:solidFill>
            <a:srgbClr val="000000"/>
          </a:solidFill>
          <a:ln w="12700">
            <a:solidFill>
              <a:srgbClr val="333333"/>
            </a:solidFill>
            <a:prstDash val="solid"/>
          </a:ln>
        </p:spPr>
        <p:txBody>
          <a:bodyPr/>
          <a:lstStyle/>
          <a:p>
            <a:endParaRPr lang="en-MX"/>
          </a:p>
        </p:txBody>
      </p:sp>
      <p:sp>
        <p:nvSpPr>
          <p:cNvPr id="5" name="Text 3"/>
          <p:cNvSpPr/>
          <p:nvPr/>
        </p:nvSpPr>
        <p:spPr>
          <a:xfrm>
            <a:off x="640080" y="1097280"/>
            <a:ext cx="10911535" cy="868680"/>
          </a:xfrm>
          <a:prstGeom prst="rect">
            <a:avLst/>
          </a:prstGeom>
          <a:noFill/>
          <a:ln/>
        </p:spPr>
        <p:txBody>
          <a:bodyPr wrap="square" lIns="0" tIns="0" rIns="0" bIns="0" rtlCol="0" anchor="t"/>
          <a:lstStyle/>
          <a:p>
            <a:r>
              <a:rPr lang="es-ES" sz="3000" b="1">
                <a:solidFill>
                  <a:srgbClr val="B89058"/>
                </a:solidFill>
                <a:latin typeface="Garamond"/>
              </a:rPr>
              <a:t>09.</a:t>
            </a:r>
            <a:r>
              <a:rPr sz="3000" b="1">
                <a:solidFill>
                  <a:srgbClr val="B89058"/>
                </a:solidFill>
                <a:latin typeface="Garamond"/>
              </a:rPr>
              <a:t> </a:t>
            </a:r>
            <a:r>
              <a:rPr sz="3000" b="1" err="1">
                <a:solidFill>
                  <a:srgbClr val="4A0F22"/>
                </a:solidFill>
                <a:latin typeface="Garamond"/>
              </a:rPr>
              <a:t>Interpretación</a:t>
            </a:r>
            <a:r>
              <a:rPr sz="3000" b="1">
                <a:solidFill>
                  <a:srgbClr val="4A0F22"/>
                </a:solidFill>
                <a:latin typeface="Garamond"/>
              </a:rPr>
              <a:t> </a:t>
            </a:r>
            <a:r>
              <a:rPr sz="3000" b="1" err="1">
                <a:solidFill>
                  <a:srgbClr val="4A0F22"/>
                </a:solidFill>
                <a:latin typeface="Garamond"/>
              </a:rPr>
              <a:t>Económica</a:t>
            </a:r>
            <a:r>
              <a:rPr sz="3000" b="1">
                <a:solidFill>
                  <a:srgbClr val="4A0F22"/>
                </a:solidFill>
                <a:latin typeface="Garamond"/>
              </a:rPr>
              <a:t>: El </a:t>
            </a:r>
            <a:r>
              <a:rPr sz="3000" b="1" err="1">
                <a:solidFill>
                  <a:srgbClr val="4A0F22"/>
                </a:solidFill>
                <a:latin typeface="Garamond"/>
              </a:rPr>
              <a:t>Embarcador</a:t>
            </a:r>
            <a:endParaRPr lang="en-US" sz="3800"/>
          </a:p>
        </p:txBody>
      </p:sp>
      <p:sp>
        <p:nvSpPr>
          <p:cNvPr id="6" name="Shape 4"/>
          <p:cNvSpPr/>
          <p:nvPr/>
        </p:nvSpPr>
        <p:spPr>
          <a:xfrm>
            <a:off x="640080" y="2057400"/>
            <a:ext cx="10911535" cy="10973"/>
          </a:xfrm>
          <a:prstGeom prst="rect">
            <a:avLst/>
          </a:prstGeom>
          <a:solidFill>
            <a:srgbClr val="000000"/>
          </a:solidFill>
          <a:ln w="12700">
            <a:solidFill>
              <a:srgbClr val="333333"/>
            </a:solidFill>
            <a:prstDash val="solid"/>
          </a:ln>
        </p:spPr>
        <p:txBody>
          <a:bodyPr/>
          <a:lstStyle/>
          <a:p>
            <a:endParaRPr lang="en-MX"/>
          </a:p>
        </p:txBody>
      </p:sp>
      <p:sp>
        <p:nvSpPr>
          <p:cNvPr id="7" name="Text 5"/>
          <p:cNvSpPr/>
          <p:nvPr/>
        </p:nvSpPr>
        <p:spPr>
          <a:xfrm>
            <a:off x="640080" y="2331720"/>
            <a:ext cx="6766560" cy="3840480"/>
          </a:xfrm>
          <a:prstGeom prst="rect">
            <a:avLst/>
          </a:prstGeom>
          <a:noFill/>
          <a:ln/>
        </p:spPr>
        <p:txBody>
          <a:bodyPr wrap="square" lIns="0" tIns="0" rIns="0" bIns="0" rtlCol="0" anchor="t"/>
          <a:lstStyle/>
          <a:p>
            <a:pPr marL="0" indent="0" algn="just">
              <a:lnSpc>
                <a:spcPct val="140000"/>
              </a:lnSpc>
              <a:spcAft>
                <a:spcPts val="400"/>
              </a:spcAft>
              <a:buNone/>
            </a:pPr>
            <a:r>
              <a:rPr sz="1150">
                <a:solidFill>
                  <a:srgbClr val="2A2226"/>
                </a:solidFill>
              </a:rPr>
              <a:t>Mientras el primal minimiza costos logísticos, el dual adopta la perspectiva del embarcador.</a:t>
            </a:r>
            <a:endParaRPr lang="en-US" sz="1300"/>
          </a:p>
          <a:p>
            <a:pPr>
              <a:spcAft>
                <a:spcPts val="400"/>
              </a:spcAft>
            </a:pPr>
            <a:r>
              <a:rPr sz="1150">
                <a:solidFill>
                  <a:srgbClr val="2A2226"/>
                </a:solidFill>
              </a:rPr>
              <a:t>Uᵢ · Precio en Origen: lo que paga el embarcador por adquirir la mercancía en la planta i.</a:t>
            </a:r>
          </a:p>
          <a:p>
            <a:pPr>
              <a:spcAft>
                <a:spcPts val="400"/>
              </a:spcAft>
            </a:pPr>
            <a:r>
              <a:rPr sz="1150">
                <a:solidFill>
                  <a:srgbClr val="2A2226"/>
                </a:solidFill>
              </a:rPr>
              <a:t>   Mide el impacto marginal: ∂Z*/∂aᵢ = −U*ᵢ</a:t>
            </a:r>
          </a:p>
          <a:p>
            <a:pPr>
              <a:spcAft>
                <a:spcPts val="400"/>
              </a:spcAft>
            </a:pPr>
            <a:r>
              <a:rPr sz="1150">
                <a:solidFill>
                  <a:srgbClr val="2A2226"/>
                </a:solidFill>
              </a:rPr>
              <a:t>Vⱼ · Precio en Destino: a lo que vende en el mercado j. Costo marginal de una unidad más de demanda.</a:t>
            </a:r>
          </a:p>
          <a:p>
            <a:pPr>
              <a:spcAft>
                <a:spcPts val="400"/>
              </a:spcAft>
            </a:pPr>
            <a:r>
              <a:rPr sz="1150">
                <a:solidFill>
                  <a:srgbClr val="2A2226"/>
                </a:solidFill>
              </a:rPr>
              <a:t>   ∂Z*/∂bⱼ = V*ⱼ</a:t>
            </a:r>
          </a:p>
          <a:p>
            <a:pPr>
              <a:spcAft>
                <a:spcPts val="400"/>
              </a:spcAft>
            </a:pPr>
            <a:r>
              <a:rPr sz="1150">
                <a:solidFill>
                  <a:srgbClr val="2A2226"/>
                </a:solidFill>
              </a:rPr>
              <a:t>Candado de Mercado: Vⱼ − Uᵢ ≤ cᵢⱼ evita arbitraje infinito: la diferencia precio venta–compra no puede superar el flete.</a:t>
            </a:r>
          </a:p>
        </p:txBody>
      </p:sp>
      <p:sp>
        <p:nvSpPr>
          <p:cNvPr id="8" name="Text 6"/>
          <p:cNvSpPr/>
          <p:nvPr/>
        </p:nvSpPr>
        <p:spPr>
          <a:xfrm>
            <a:off x="7680960" y="2331720"/>
            <a:ext cx="3840480" cy="228600"/>
          </a:xfrm>
          <a:prstGeom prst="rect">
            <a:avLst/>
          </a:prstGeom>
          <a:noFill/>
          <a:ln/>
        </p:spPr>
        <p:txBody>
          <a:bodyPr wrap="square" lIns="0" tIns="0" rIns="0" bIns="0" rtlCol="0" anchor="t"/>
          <a:lstStyle/>
          <a:p>
            <a:pPr marL="0" indent="0" algn="l">
              <a:buNone/>
            </a:pPr>
            <a:r>
              <a:rPr lang="en-US" sz="800" b="1" kern="0" spc="1000">
                <a:solidFill>
                  <a:srgbClr val="8C6A38"/>
                </a:solidFill>
                <a:latin typeface="Inter" pitchFamily="34" charset="0"/>
                <a:ea typeface="Inter" pitchFamily="34" charset="-122"/>
                <a:cs typeface="Inter" pitchFamily="34" charset="-120"/>
              </a:rPr>
              <a:t>PUNTO FUNDAMENTAL</a:t>
            </a:r>
            <a:endParaRPr lang="en-US" sz="800"/>
          </a:p>
        </p:txBody>
      </p:sp>
      <p:sp>
        <p:nvSpPr>
          <p:cNvPr id="9" name="Shape 7"/>
          <p:cNvSpPr/>
          <p:nvPr/>
        </p:nvSpPr>
        <p:spPr>
          <a:xfrm>
            <a:off x="7680960" y="2606040"/>
            <a:ext cx="3840480" cy="20117"/>
          </a:xfrm>
          <a:prstGeom prst="rect">
            <a:avLst/>
          </a:prstGeom>
          <a:solidFill>
            <a:srgbClr val="B89058"/>
          </a:solidFill>
          <a:ln w="12700">
            <a:solidFill>
              <a:srgbClr val="B89058"/>
            </a:solidFill>
            <a:prstDash val="solid"/>
          </a:ln>
        </p:spPr>
        <p:txBody>
          <a:bodyPr/>
          <a:lstStyle/>
          <a:p>
            <a:endParaRPr lang="en-MX"/>
          </a:p>
        </p:txBody>
      </p:sp>
      <p:sp>
        <p:nvSpPr>
          <p:cNvPr id="10" name="Text 8"/>
          <p:cNvSpPr/>
          <p:nvPr/>
        </p:nvSpPr>
        <p:spPr>
          <a:xfrm>
            <a:off x="7680960" y="2788920"/>
            <a:ext cx="3840480" cy="3383280"/>
          </a:xfrm>
          <a:prstGeom prst="rect">
            <a:avLst/>
          </a:prstGeom>
          <a:noFill/>
          <a:ln/>
        </p:spPr>
        <p:txBody>
          <a:bodyPr wrap="square" lIns="0" tIns="0" rIns="0" bIns="0" rtlCol="0" anchor="t"/>
          <a:lstStyle/>
          <a:p>
            <a:pPr marL="0" indent="0" algn="l">
              <a:lnSpc>
                <a:spcPct val="135000"/>
              </a:lnSpc>
              <a:spcAft>
                <a:spcPts val="400"/>
              </a:spcAft>
              <a:buNone/>
            </a:pPr>
            <a:r>
              <a:rPr sz="1200" i="1">
                <a:solidFill>
                  <a:srgbClr val="4A0F22"/>
                </a:solidFill>
              </a:rPr>
              <a:t>La dualidad revela que la red de transporte es un sistema de arbitraje en equilibrio: cada nodo tiene un precio sombra que cuantifica su valor marginal.</a:t>
            </a:r>
            <a:endParaRPr lang="en-US" sz="1400"/>
          </a:p>
        </p:txBody>
      </p:sp>
      <p:sp>
        <p:nvSpPr>
          <p:cNvPr id="18" name="Shape 9">
            <a:extLst>
              <a:ext uri="{FF2B5EF4-FFF2-40B4-BE49-F238E27FC236}">
                <a16:creationId xmlns:a16="http://schemas.microsoft.com/office/drawing/2014/main" id="{45C8AC15-2E89-6EB6-6870-89B4F559FE46}"/>
              </a:ext>
            </a:extLst>
          </p:cNvPr>
          <p:cNvSpPr/>
          <p:nvPr/>
        </p:nvSpPr>
        <p:spPr>
          <a:xfrm>
            <a:off x="548640" y="6473952"/>
            <a:ext cx="11094415" cy="10973"/>
          </a:xfrm>
          <a:prstGeom prst="rect">
            <a:avLst/>
          </a:prstGeom>
          <a:solidFill>
            <a:srgbClr val="E0D8CC"/>
          </a:solidFill>
          <a:ln w="12700">
            <a:solidFill>
              <a:srgbClr val="E0D8CC"/>
            </a:solidFill>
            <a:prstDash val="solid"/>
          </a:ln>
        </p:spPr>
        <p:txBody>
          <a:bodyPr/>
          <a:lstStyle/>
          <a:p>
            <a:endParaRPr lang="en-MX"/>
          </a:p>
        </p:txBody>
      </p:sp>
      <p:sp>
        <p:nvSpPr>
          <p:cNvPr id="19" name="Text 10">
            <a:extLst>
              <a:ext uri="{FF2B5EF4-FFF2-40B4-BE49-F238E27FC236}">
                <a16:creationId xmlns:a16="http://schemas.microsoft.com/office/drawing/2014/main" id="{89034F4F-3BA2-BA7F-8EA2-4DFC9AF1E0D1}"/>
              </a:ext>
            </a:extLst>
          </p:cNvPr>
          <p:cNvSpPr/>
          <p:nvPr/>
        </p:nvSpPr>
        <p:spPr>
          <a:xfrm>
            <a:off x="548640" y="6565392"/>
            <a:ext cx="1828800" cy="182880"/>
          </a:xfrm>
          <a:prstGeom prst="rect">
            <a:avLst/>
          </a:prstGeom>
          <a:noFill/>
          <a:ln/>
        </p:spPr>
        <p:txBody>
          <a:bodyPr wrap="square" lIns="0" tIns="0" rIns="0" bIns="0" rtlCol="0" anchor="ctr"/>
          <a:lstStyle/>
          <a:p>
            <a:pPr marL="0" indent="0" algn="l">
              <a:buNone/>
            </a:pPr>
            <a:r>
              <a:rPr lang="en-US" sz="800" b="1" kern="0" spc="400">
                <a:solidFill>
                  <a:srgbClr val="7A6F73"/>
                </a:solidFill>
                <a:latin typeface="Inter" pitchFamily="34" charset="0"/>
                <a:ea typeface="Inter" pitchFamily="34" charset="-122"/>
                <a:cs typeface="Inter" pitchFamily="34" charset="-120"/>
              </a:rPr>
              <a:t>M.C.D.I.</a:t>
            </a:r>
            <a:endParaRPr lang="en-US" sz="800"/>
          </a:p>
        </p:txBody>
      </p:sp>
      <p:sp>
        <p:nvSpPr>
          <p:cNvPr id="20" name="Text 11">
            <a:extLst>
              <a:ext uri="{FF2B5EF4-FFF2-40B4-BE49-F238E27FC236}">
                <a16:creationId xmlns:a16="http://schemas.microsoft.com/office/drawing/2014/main" id="{28F1ADF4-F0DC-3C2E-1306-6DA6CE2864A1}"/>
              </a:ext>
            </a:extLst>
          </p:cNvPr>
          <p:cNvSpPr/>
          <p:nvPr/>
        </p:nvSpPr>
        <p:spPr>
          <a:xfrm>
            <a:off x="4724248" y="6565392"/>
            <a:ext cx="2743200" cy="182880"/>
          </a:xfrm>
          <a:prstGeom prst="rect">
            <a:avLst/>
          </a:prstGeom>
          <a:noFill/>
          <a:ln/>
        </p:spPr>
        <p:txBody>
          <a:bodyPr wrap="square" lIns="0" tIns="0" rIns="0" bIns="0" rtlCol="0" anchor="ctr"/>
          <a:lstStyle/>
          <a:p>
            <a:pPr marL="0" indent="0" algn="ctr">
              <a:buNone/>
            </a:pPr>
            <a:r>
              <a:rPr lang="en-US" sz="900" i="1">
                <a:solidFill>
                  <a:srgbClr val="8C6A38"/>
                </a:solidFill>
                <a:latin typeface="Garamond" pitchFamily="34" charset="0"/>
                <a:ea typeface="Garamond" pitchFamily="34" charset="-122"/>
                <a:cs typeface="Garamond" pitchFamily="34" charset="-120"/>
              </a:rPr>
              <a:t>—  8 / 20  —</a:t>
            </a:r>
            <a:endParaRPr lang="en-US" sz="900"/>
          </a:p>
        </p:txBody>
      </p:sp>
      <p:sp>
        <p:nvSpPr>
          <p:cNvPr id="21" name="Text 12">
            <a:extLst>
              <a:ext uri="{FF2B5EF4-FFF2-40B4-BE49-F238E27FC236}">
                <a16:creationId xmlns:a16="http://schemas.microsoft.com/office/drawing/2014/main" id="{250296CA-0CE0-051E-2C33-C7BFA06A8554}"/>
              </a:ext>
            </a:extLst>
          </p:cNvPr>
          <p:cNvSpPr/>
          <p:nvPr/>
        </p:nvSpPr>
        <p:spPr>
          <a:xfrm>
            <a:off x="8899855" y="6565392"/>
            <a:ext cx="2743200" cy="182880"/>
          </a:xfrm>
          <a:prstGeom prst="rect">
            <a:avLst/>
          </a:prstGeom>
          <a:noFill/>
          <a:ln/>
        </p:spPr>
        <p:txBody>
          <a:bodyPr wrap="square" lIns="0" tIns="0" rIns="0" bIns="0" rtlCol="0" anchor="ctr"/>
          <a:lstStyle/>
          <a:p>
            <a:pPr marL="0" indent="0" algn="r">
              <a:buNone/>
            </a:pPr>
            <a:r>
              <a:rPr lang="en-US" sz="800" i="1">
                <a:solidFill>
                  <a:srgbClr val="7A6F73"/>
                </a:solidFill>
                <a:latin typeface="Garamond" pitchFamily="34" charset="0"/>
                <a:ea typeface="Garamond" pitchFamily="34" charset="-122"/>
                <a:cs typeface="Garamond" pitchFamily="34" charset="-120"/>
              </a:rPr>
              <a:t>Equipo 5</a:t>
            </a:r>
            <a:endParaRPr lang="en-US" sz="800"/>
          </a:p>
        </p:txBody>
      </p:sp>
      <p:sp>
        <p:nvSpPr>
          <p:cNvPr id="11" name="Text 2">
            <a:extLst>
              <a:ext uri="{FF2B5EF4-FFF2-40B4-BE49-F238E27FC236}">
                <a16:creationId xmlns:a16="http://schemas.microsoft.com/office/drawing/2014/main" id="{4238E6B1-491B-AC51-752C-19E68739DDC0}"/>
              </a:ext>
            </a:extLst>
          </p:cNvPr>
          <p:cNvSpPr/>
          <p:nvPr/>
        </p:nvSpPr>
        <p:spPr>
          <a:xfrm>
            <a:off x="640080" y="868680"/>
            <a:ext cx="4572000" cy="228600"/>
          </a:xfrm>
          <a:prstGeom prst="rect">
            <a:avLst/>
          </a:prstGeom>
          <a:noFill/>
          <a:ln/>
        </p:spPr>
        <p:txBody>
          <a:bodyPr wrap="square" lIns="0" tIns="0" rIns="0" bIns="0" rtlCol="0" anchor="t"/>
          <a:lstStyle/>
          <a:p>
            <a:pPr marL="0" indent="0" algn="l">
              <a:buNone/>
            </a:pPr>
            <a:r>
              <a:rPr lang="en-US" sz="900" b="1" kern="0" spc="300">
                <a:solidFill>
                  <a:srgbClr val="8C6A38"/>
                </a:solidFill>
                <a:latin typeface="Inter" pitchFamily="34" charset="0"/>
                <a:ea typeface="Inter" pitchFamily="34" charset="-122"/>
                <a:cs typeface="Inter" pitchFamily="34" charset="-120"/>
              </a:rPr>
              <a:t>SECCION 2</a:t>
            </a:r>
            <a:endParaRPr lang="en-US" sz="900" spc="300"/>
          </a:p>
        </p:txBody>
      </p:sp>
      <p:pic>
        <p:nvPicPr>
          <p:cNvPr id="12" name="Picture 11">
            <a:extLst>
              <a:ext uri="{FF2B5EF4-FFF2-40B4-BE49-F238E27FC236}">
                <a16:creationId xmlns:a16="http://schemas.microsoft.com/office/drawing/2014/main" id="{3E133FAE-98A3-E579-1F76-20FBCBEB58B6}"/>
              </a:ext>
            </a:extLst>
          </p:cNvPr>
          <p:cNvPicPr>
            <a:picLocks noChangeAspect="1"/>
          </p:cNvPicPr>
          <p:nvPr/>
        </p:nvPicPr>
        <p:blipFill>
          <a:blip r:embed="rId4"/>
          <a:srcRect t="24539" b="4722"/>
          <a:stretch>
            <a:fillRect/>
          </a:stretch>
        </p:blipFill>
        <p:spPr>
          <a:xfrm>
            <a:off x="0" y="2049335"/>
            <a:ext cx="12192000" cy="481369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228600"/>
          </a:xfrm>
          <a:prstGeom prst="rect">
            <a:avLst/>
          </a:prstGeom>
          <a:noFill/>
          <a:ln/>
        </p:spPr>
        <p:txBody>
          <a:bodyPr wrap="square" lIns="0" tIns="0" rIns="0" bIns="0" rtlCol="0" anchor="ctr"/>
          <a:lstStyle/>
          <a:p>
            <a:pPr marL="0" indent="0" algn="l">
              <a:buNone/>
            </a:pPr>
            <a:r>
              <a:rPr lang="en-US" sz="800" b="1" kern="0" spc="600">
                <a:solidFill>
                  <a:srgbClr val="4A0F22"/>
                </a:solidFill>
                <a:latin typeface="Inter" pitchFamily="34" charset="0"/>
                <a:ea typeface="Inter" pitchFamily="34" charset="-122"/>
                <a:cs typeface="Inter" pitchFamily="34" charset="-120"/>
              </a:rPr>
              <a:t>INFOTEC   ·   M.C.D.I.   ·   Matemáticas 2026-1</a:t>
            </a:r>
            <a:endParaRPr lang="en-US" sz="800"/>
          </a:p>
        </p:txBody>
      </p:sp>
      <p:sp>
        <p:nvSpPr>
          <p:cNvPr id="3" name="Shape 1"/>
          <p:cNvSpPr/>
          <p:nvPr/>
        </p:nvSpPr>
        <p:spPr>
          <a:xfrm>
            <a:off x="548640" y="566928"/>
            <a:ext cx="11094415" cy="10973"/>
          </a:xfrm>
          <a:prstGeom prst="rect">
            <a:avLst/>
          </a:prstGeom>
          <a:solidFill>
            <a:srgbClr val="000000"/>
          </a:solidFill>
          <a:ln w="12700">
            <a:solidFill>
              <a:srgbClr val="333333"/>
            </a:solidFill>
            <a:prstDash val="solid"/>
          </a:ln>
        </p:spPr>
        <p:txBody>
          <a:bodyPr/>
          <a:lstStyle/>
          <a:p>
            <a:endParaRPr lang="en-MX"/>
          </a:p>
        </p:txBody>
      </p:sp>
      <p:sp>
        <p:nvSpPr>
          <p:cNvPr id="5" name="Text 3"/>
          <p:cNvSpPr/>
          <p:nvPr/>
        </p:nvSpPr>
        <p:spPr>
          <a:xfrm>
            <a:off x="640080" y="1097280"/>
            <a:ext cx="10911535" cy="868680"/>
          </a:xfrm>
          <a:prstGeom prst="rect">
            <a:avLst/>
          </a:prstGeom>
          <a:noFill/>
          <a:ln/>
        </p:spPr>
        <p:txBody>
          <a:bodyPr wrap="square" lIns="0" tIns="0" rIns="0" bIns="0" rtlCol="0" anchor="t"/>
          <a:lstStyle/>
          <a:p>
            <a:r>
              <a:rPr lang="es-ES" sz="3000" b="1">
                <a:solidFill>
                  <a:srgbClr val="B89058"/>
                </a:solidFill>
                <a:latin typeface="Garamond"/>
              </a:rPr>
              <a:t>10.</a:t>
            </a:r>
            <a:r>
              <a:rPr sz="3000" b="1">
                <a:solidFill>
                  <a:srgbClr val="B89058"/>
                </a:solidFill>
                <a:latin typeface="Garamond"/>
              </a:rPr>
              <a:t> </a:t>
            </a:r>
            <a:r>
              <a:rPr sz="3000" b="1" err="1">
                <a:solidFill>
                  <a:srgbClr val="4A0F22"/>
                </a:solidFill>
                <a:latin typeface="Garamond"/>
              </a:rPr>
              <a:t>Representación</a:t>
            </a:r>
            <a:r>
              <a:rPr sz="3000" b="1">
                <a:solidFill>
                  <a:srgbClr val="4A0F22"/>
                </a:solidFill>
                <a:latin typeface="Garamond"/>
              </a:rPr>
              <a:t> </a:t>
            </a:r>
            <a:r>
              <a:rPr sz="3000" b="1" err="1">
                <a:solidFill>
                  <a:srgbClr val="4A0F22"/>
                </a:solidFill>
                <a:latin typeface="Garamond"/>
              </a:rPr>
              <a:t>Topológica</a:t>
            </a:r>
            <a:r>
              <a:rPr sz="3000" b="1">
                <a:solidFill>
                  <a:srgbClr val="4A0F22"/>
                </a:solidFill>
                <a:latin typeface="Garamond"/>
              </a:rPr>
              <a:t>: </a:t>
            </a:r>
            <a:r>
              <a:rPr sz="3000" b="1" err="1">
                <a:solidFill>
                  <a:srgbClr val="4A0F22"/>
                </a:solidFill>
                <a:latin typeface="Garamond"/>
              </a:rPr>
              <a:t>Grafos</a:t>
            </a:r>
            <a:r>
              <a:rPr sz="3000" b="1">
                <a:solidFill>
                  <a:srgbClr val="4A0F22"/>
                </a:solidFill>
                <a:latin typeface="Garamond"/>
              </a:rPr>
              <a:t> </a:t>
            </a:r>
            <a:r>
              <a:rPr sz="3000" b="1" err="1">
                <a:solidFill>
                  <a:srgbClr val="4A0F22"/>
                </a:solidFill>
                <a:latin typeface="Garamond"/>
              </a:rPr>
              <a:t>Bipartitos</a:t>
            </a:r>
            <a:endParaRPr lang="en-US" sz="3800"/>
          </a:p>
        </p:txBody>
      </p:sp>
      <p:sp>
        <p:nvSpPr>
          <p:cNvPr id="6" name="Shape 4"/>
          <p:cNvSpPr/>
          <p:nvPr/>
        </p:nvSpPr>
        <p:spPr>
          <a:xfrm>
            <a:off x="640080" y="2057400"/>
            <a:ext cx="10911535" cy="10973"/>
          </a:xfrm>
          <a:prstGeom prst="rect">
            <a:avLst/>
          </a:prstGeom>
          <a:solidFill>
            <a:srgbClr val="000000"/>
          </a:solidFill>
          <a:ln w="12700">
            <a:solidFill>
              <a:srgbClr val="333333"/>
            </a:solidFill>
            <a:prstDash val="solid"/>
          </a:ln>
        </p:spPr>
        <p:txBody>
          <a:bodyPr/>
          <a:lstStyle/>
          <a:p>
            <a:endParaRPr lang="en-MX"/>
          </a:p>
        </p:txBody>
      </p:sp>
      <p:sp>
        <p:nvSpPr>
          <p:cNvPr id="7" name="Text 5"/>
          <p:cNvSpPr/>
          <p:nvPr/>
        </p:nvSpPr>
        <p:spPr>
          <a:xfrm>
            <a:off x="640080" y="2331720"/>
            <a:ext cx="6766560" cy="3840480"/>
          </a:xfrm>
          <a:prstGeom prst="rect">
            <a:avLst/>
          </a:prstGeom>
          <a:noFill/>
          <a:ln/>
        </p:spPr>
        <p:txBody>
          <a:bodyPr wrap="square" lIns="0" tIns="0" rIns="0" bIns="0" rtlCol="0" anchor="t"/>
          <a:lstStyle/>
          <a:p>
            <a:pPr marL="0" indent="0" algn="just">
              <a:lnSpc>
                <a:spcPct val="140000"/>
              </a:lnSpc>
              <a:spcAft>
                <a:spcPts val="400"/>
              </a:spcAft>
              <a:buNone/>
            </a:pPr>
            <a:r>
              <a:rPr sz="1150">
                <a:solidFill>
                  <a:srgbClr val="2A2226"/>
                </a:solidFill>
              </a:rPr>
              <a:t>Grafo Bipartito Dirigido G = (V, E).</a:t>
            </a:r>
            <a:endParaRPr lang="en-US" sz="1300"/>
          </a:p>
          <a:p>
            <a:pPr>
              <a:spcAft>
                <a:spcPts val="400"/>
              </a:spcAft>
            </a:pPr>
            <a:r>
              <a:rPr sz="1150">
                <a:solidFill>
                  <a:srgbClr val="2A2226"/>
                </a:solidFill>
              </a:rPr>
              <a:t>Vértices (V): divididos en S (orígenes) y D (destinos). Divergencia positiva +aᵢ en S y negativa −bⱼ en D.</a:t>
            </a:r>
          </a:p>
          <a:p>
            <a:pPr>
              <a:spcAft>
                <a:spcPts val="400"/>
              </a:spcAft>
            </a:pPr>
            <a:r>
              <a:rPr sz="1150">
                <a:solidFill>
                  <a:srgbClr val="2A2226"/>
                </a:solidFill>
              </a:rPr>
              <a:t>Aristas (E): conectan únicamente nodos S↔D. Representan las rutas posibles (variables xᵢⱼ).</a:t>
            </a:r>
          </a:p>
          <a:p>
            <a:pPr>
              <a:spcAft>
                <a:spcPts val="400"/>
              </a:spcAft>
            </a:pPr>
            <a:r>
              <a:rPr sz="1150">
                <a:solidFill>
                  <a:srgbClr val="2A2226"/>
                </a:solidFill>
              </a:rPr>
              <a:t>Equivalencia: cada variable de decisión xᵢⱼ ≡ una arista topológica (i,j) del grafo.</a:t>
            </a:r>
          </a:p>
        </p:txBody>
      </p:sp>
      <p:sp>
        <p:nvSpPr>
          <p:cNvPr id="8" name="Text 6"/>
          <p:cNvSpPr/>
          <p:nvPr/>
        </p:nvSpPr>
        <p:spPr>
          <a:xfrm>
            <a:off x="7680960" y="2331720"/>
            <a:ext cx="3840480" cy="228600"/>
          </a:xfrm>
          <a:prstGeom prst="rect">
            <a:avLst/>
          </a:prstGeom>
          <a:noFill/>
          <a:ln/>
        </p:spPr>
        <p:txBody>
          <a:bodyPr wrap="square" lIns="0" tIns="0" rIns="0" bIns="0" rtlCol="0" anchor="t"/>
          <a:lstStyle/>
          <a:p>
            <a:pPr marL="0" indent="0" algn="l">
              <a:buNone/>
            </a:pPr>
            <a:r>
              <a:rPr lang="en-US" sz="800" b="1" kern="0" spc="1000">
                <a:solidFill>
                  <a:srgbClr val="8C6A38"/>
                </a:solidFill>
                <a:latin typeface="Inter" pitchFamily="34" charset="0"/>
                <a:ea typeface="Inter" pitchFamily="34" charset="-122"/>
                <a:cs typeface="Inter" pitchFamily="34" charset="-120"/>
              </a:rPr>
              <a:t>PUNTO FUNDAMENTAL</a:t>
            </a:r>
            <a:endParaRPr lang="en-US" sz="800"/>
          </a:p>
        </p:txBody>
      </p:sp>
      <p:sp>
        <p:nvSpPr>
          <p:cNvPr id="9" name="Shape 7"/>
          <p:cNvSpPr/>
          <p:nvPr/>
        </p:nvSpPr>
        <p:spPr>
          <a:xfrm>
            <a:off x="7680960" y="2606040"/>
            <a:ext cx="3840480" cy="20117"/>
          </a:xfrm>
          <a:prstGeom prst="rect">
            <a:avLst/>
          </a:prstGeom>
          <a:solidFill>
            <a:srgbClr val="B89058"/>
          </a:solidFill>
          <a:ln w="12700">
            <a:solidFill>
              <a:srgbClr val="B89058"/>
            </a:solidFill>
            <a:prstDash val="solid"/>
          </a:ln>
        </p:spPr>
        <p:txBody>
          <a:bodyPr/>
          <a:lstStyle/>
          <a:p>
            <a:endParaRPr lang="en-MX"/>
          </a:p>
        </p:txBody>
      </p:sp>
      <p:sp>
        <p:nvSpPr>
          <p:cNvPr id="10" name="Text 8"/>
          <p:cNvSpPr/>
          <p:nvPr/>
        </p:nvSpPr>
        <p:spPr>
          <a:xfrm>
            <a:off x="7680960" y="2788920"/>
            <a:ext cx="3840480" cy="3383280"/>
          </a:xfrm>
          <a:prstGeom prst="rect">
            <a:avLst/>
          </a:prstGeom>
          <a:noFill/>
          <a:ln/>
        </p:spPr>
        <p:txBody>
          <a:bodyPr wrap="square" lIns="0" tIns="0" rIns="0" bIns="0" rtlCol="0" anchor="t"/>
          <a:lstStyle/>
          <a:p>
            <a:pPr marL="0" indent="0" algn="l">
              <a:lnSpc>
                <a:spcPct val="135000"/>
              </a:lnSpc>
              <a:spcAft>
                <a:spcPts val="400"/>
              </a:spcAft>
              <a:buNone/>
            </a:pPr>
            <a:r>
              <a:rPr sz="1200" i="1">
                <a:solidFill>
                  <a:srgbClr val="4A0F22"/>
                </a:solidFill>
              </a:rPr>
              <a:t>La estructura bipartita garantiza que la matriz de restricciones sea totalmente unimodular, asegurando soluciones enteras sin MILP.</a:t>
            </a:r>
            <a:endParaRPr lang="en-US" sz="1400"/>
          </a:p>
        </p:txBody>
      </p:sp>
      <p:sp>
        <p:nvSpPr>
          <p:cNvPr id="19" name="Text 10">
            <a:extLst>
              <a:ext uri="{FF2B5EF4-FFF2-40B4-BE49-F238E27FC236}">
                <a16:creationId xmlns:a16="http://schemas.microsoft.com/office/drawing/2014/main" id="{0B62476C-5A37-64E8-2260-18BAE0D59948}"/>
              </a:ext>
            </a:extLst>
          </p:cNvPr>
          <p:cNvSpPr/>
          <p:nvPr/>
        </p:nvSpPr>
        <p:spPr>
          <a:xfrm>
            <a:off x="548640" y="6565392"/>
            <a:ext cx="1828800" cy="182880"/>
          </a:xfrm>
          <a:prstGeom prst="rect">
            <a:avLst/>
          </a:prstGeom>
          <a:noFill/>
          <a:ln/>
        </p:spPr>
        <p:txBody>
          <a:bodyPr wrap="square" lIns="0" tIns="0" rIns="0" bIns="0" rtlCol="0" anchor="ctr"/>
          <a:lstStyle/>
          <a:p>
            <a:pPr marL="0" indent="0" algn="l">
              <a:buNone/>
            </a:pPr>
            <a:r>
              <a:rPr lang="en-US" sz="800" b="1" kern="0" spc="400">
                <a:solidFill>
                  <a:srgbClr val="7A6F73"/>
                </a:solidFill>
                <a:latin typeface="Inter" pitchFamily="34" charset="0"/>
                <a:ea typeface="Inter" pitchFamily="34" charset="-122"/>
                <a:cs typeface="Inter" pitchFamily="34" charset="-120"/>
              </a:rPr>
              <a:t>M.C.D.I.</a:t>
            </a:r>
            <a:endParaRPr lang="en-US" sz="800"/>
          </a:p>
        </p:txBody>
      </p:sp>
      <p:sp>
        <p:nvSpPr>
          <p:cNvPr id="20" name="Text 11">
            <a:extLst>
              <a:ext uri="{FF2B5EF4-FFF2-40B4-BE49-F238E27FC236}">
                <a16:creationId xmlns:a16="http://schemas.microsoft.com/office/drawing/2014/main" id="{FD9C49B0-54E0-6121-E1D7-9EDA59488F3D}"/>
              </a:ext>
            </a:extLst>
          </p:cNvPr>
          <p:cNvSpPr/>
          <p:nvPr/>
        </p:nvSpPr>
        <p:spPr>
          <a:xfrm>
            <a:off x="4724248" y="6565392"/>
            <a:ext cx="2743200" cy="182880"/>
          </a:xfrm>
          <a:prstGeom prst="rect">
            <a:avLst/>
          </a:prstGeom>
          <a:noFill/>
          <a:ln/>
        </p:spPr>
        <p:txBody>
          <a:bodyPr wrap="square" lIns="0" tIns="0" rIns="0" bIns="0" rtlCol="0" anchor="ctr"/>
          <a:lstStyle/>
          <a:p>
            <a:pPr marL="0" indent="0" algn="ctr">
              <a:buNone/>
            </a:pPr>
            <a:r>
              <a:rPr lang="en-US" sz="900" i="1">
                <a:solidFill>
                  <a:srgbClr val="8C6A38"/>
                </a:solidFill>
                <a:latin typeface="Garamond" pitchFamily="34" charset="0"/>
                <a:ea typeface="Garamond" pitchFamily="34" charset="-122"/>
                <a:cs typeface="Garamond" pitchFamily="34" charset="-120"/>
              </a:rPr>
              <a:t>—  9 / 20  —</a:t>
            </a:r>
            <a:endParaRPr lang="en-US" sz="900"/>
          </a:p>
        </p:txBody>
      </p:sp>
      <p:sp>
        <p:nvSpPr>
          <p:cNvPr id="21" name="Text 12">
            <a:extLst>
              <a:ext uri="{FF2B5EF4-FFF2-40B4-BE49-F238E27FC236}">
                <a16:creationId xmlns:a16="http://schemas.microsoft.com/office/drawing/2014/main" id="{437FB163-2404-E2F0-5E5F-E0D2B0BAC8F0}"/>
              </a:ext>
            </a:extLst>
          </p:cNvPr>
          <p:cNvSpPr/>
          <p:nvPr/>
        </p:nvSpPr>
        <p:spPr>
          <a:xfrm>
            <a:off x="8899855" y="6565392"/>
            <a:ext cx="2743200" cy="182880"/>
          </a:xfrm>
          <a:prstGeom prst="rect">
            <a:avLst/>
          </a:prstGeom>
          <a:noFill/>
          <a:ln/>
        </p:spPr>
        <p:txBody>
          <a:bodyPr wrap="square" lIns="0" tIns="0" rIns="0" bIns="0" rtlCol="0" anchor="ctr"/>
          <a:lstStyle/>
          <a:p>
            <a:pPr marL="0" indent="0" algn="r">
              <a:buNone/>
            </a:pPr>
            <a:r>
              <a:rPr lang="en-US" sz="800" i="1">
                <a:solidFill>
                  <a:srgbClr val="7A6F73"/>
                </a:solidFill>
                <a:latin typeface="Garamond" pitchFamily="34" charset="0"/>
                <a:ea typeface="Garamond" pitchFamily="34" charset="-122"/>
                <a:cs typeface="Garamond" pitchFamily="34" charset="-120"/>
              </a:rPr>
              <a:t>Equipo 5</a:t>
            </a:r>
            <a:endParaRPr lang="en-US" sz="800"/>
          </a:p>
        </p:txBody>
      </p:sp>
      <p:sp>
        <p:nvSpPr>
          <p:cNvPr id="11" name="Text 2">
            <a:extLst>
              <a:ext uri="{FF2B5EF4-FFF2-40B4-BE49-F238E27FC236}">
                <a16:creationId xmlns:a16="http://schemas.microsoft.com/office/drawing/2014/main" id="{FF662937-CB70-D529-7502-569E1F492940}"/>
              </a:ext>
            </a:extLst>
          </p:cNvPr>
          <p:cNvSpPr/>
          <p:nvPr/>
        </p:nvSpPr>
        <p:spPr>
          <a:xfrm>
            <a:off x="640080" y="868680"/>
            <a:ext cx="4572000" cy="228600"/>
          </a:xfrm>
          <a:prstGeom prst="rect">
            <a:avLst/>
          </a:prstGeom>
          <a:noFill/>
          <a:ln/>
        </p:spPr>
        <p:txBody>
          <a:bodyPr wrap="square" lIns="0" tIns="0" rIns="0" bIns="0" rtlCol="0" anchor="t"/>
          <a:lstStyle/>
          <a:p>
            <a:pPr marL="0" indent="0" algn="l">
              <a:buNone/>
            </a:pPr>
            <a:r>
              <a:rPr lang="en-US" sz="900" b="1" kern="0" spc="300">
                <a:solidFill>
                  <a:srgbClr val="8C6A38"/>
                </a:solidFill>
                <a:latin typeface="Inter" pitchFamily="34" charset="0"/>
                <a:ea typeface="Inter" pitchFamily="34" charset="-122"/>
                <a:cs typeface="Inter" pitchFamily="34" charset="-120"/>
              </a:rPr>
              <a:t>SECCION 2</a:t>
            </a:r>
            <a:endParaRPr lang="en-US" sz="900" spc="300"/>
          </a:p>
        </p:txBody>
      </p:sp>
      <p:sp>
        <p:nvSpPr>
          <p:cNvPr id="12" name="Rectangle 11">
            <a:extLst>
              <a:ext uri="{FF2B5EF4-FFF2-40B4-BE49-F238E27FC236}">
                <a16:creationId xmlns:a16="http://schemas.microsoft.com/office/drawing/2014/main" id="{5F73D78E-300C-BF15-010B-5950A459601A}"/>
              </a:ext>
            </a:extLst>
          </p:cNvPr>
          <p:cNvSpPr/>
          <p:nvPr/>
        </p:nvSpPr>
        <p:spPr>
          <a:xfrm>
            <a:off x="-1" y="2029499"/>
            <a:ext cx="12192001" cy="4839134"/>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MX"/>
          </a:p>
        </p:txBody>
      </p:sp>
      <p:pic>
        <p:nvPicPr>
          <p:cNvPr id="4" name="Picture 3">
            <a:extLst>
              <a:ext uri="{FF2B5EF4-FFF2-40B4-BE49-F238E27FC236}">
                <a16:creationId xmlns:a16="http://schemas.microsoft.com/office/drawing/2014/main" id="{D46B3FE5-C68E-FCC8-1C50-DE520BA19DAC}"/>
              </a:ext>
            </a:extLst>
          </p:cNvPr>
          <p:cNvPicPr>
            <a:picLocks noChangeAspect="1"/>
          </p:cNvPicPr>
          <p:nvPr/>
        </p:nvPicPr>
        <p:blipFill>
          <a:blip r:embed="rId4"/>
          <a:srcRect l="831" t="20277" r="2037" b="3039"/>
          <a:stretch>
            <a:fillRect/>
          </a:stretch>
        </p:blipFill>
        <p:spPr>
          <a:xfrm>
            <a:off x="548640" y="2036474"/>
            <a:ext cx="11000314" cy="484716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228600"/>
          </a:xfrm>
          <a:prstGeom prst="rect">
            <a:avLst/>
          </a:prstGeom>
          <a:noFill/>
          <a:ln/>
        </p:spPr>
        <p:txBody>
          <a:bodyPr wrap="square" lIns="0" tIns="0" rIns="0" bIns="0" rtlCol="0" anchor="ctr"/>
          <a:lstStyle/>
          <a:p>
            <a:pPr marL="0" indent="0" algn="l">
              <a:buNone/>
            </a:pPr>
            <a:r>
              <a:rPr lang="en-US" sz="800" b="1" kern="0" spc="600">
                <a:solidFill>
                  <a:srgbClr val="4A0F22"/>
                </a:solidFill>
                <a:latin typeface="Inter" pitchFamily="34" charset="0"/>
                <a:ea typeface="Inter" pitchFamily="34" charset="-122"/>
                <a:cs typeface="Inter" pitchFamily="34" charset="-120"/>
              </a:rPr>
              <a:t>INFOTEC   ·   M.C.D.I.   ·   Matemáticas 2026-1</a:t>
            </a:r>
            <a:endParaRPr lang="en-US" sz="800"/>
          </a:p>
        </p:txBody>
      </p:sp>
      <p:sp>
        <p:nvSpPr>
          <p:cNvPr id="3" name="Shape 1"/>
          <p:cNvSpPr/>
          <p:nvPr/>
        </p:nvSpPr>
        <p:spPr>
          <a:xfrm>
            <a:off x="548640" y="566928"/>
            <a:ext cx="11094415" cy="10973"/>
          </a:xfrm>
          <a:prstGeom prst="rect">
            <a:avLst/>
          </a:prstGeom>
          <a:solidFill>
            <a:srgbClr val="000000"/>
          </a:solidFill>
          <a:ln w="12700">
            <a:solidFill>
              <a:srgbClr val="333333"/>
            </a:solidFill>
            <a:prstDash val="solid"/>
          </a:ln>
        </p:spPr>
        <p:txBody>
          <a:bodyPr/>
          <a:lstStyle/>
          <a:p>
            <a:endParaRPr lang="en-MX"/>
          </a:p>
        </p:txBody>
      </p:sp>
      <p:sp>
        <p:nvSpPr>
          <p:cNvPr id="5" name="Text 3"/>
          <p:cNvSpPr/>
          <p:nvPr/>
        </p:nvSpPr>
        <p:spPr>
          <a:xfrm>
            <a:off x="640080" y="1097280"/>
            <a:ext cx="10911535" cy="868680"/>
          </a:xfrm>
          <a:prstGeom prst="rect">
            <a:avLst/>
          </a:prstGeom>
          <a:noFill/>
          <a:ln/>
        </p:spPr>
        <p:txBody>
          <a:bodyPr wrap="square" lIns="0" tIns="0" rIns="0" bIns="0" rtlCol="0" anchor="t"/>
          <a:lstStyle/>
          <a:p>
            <a:r>
              <a:rPr lang="es-ES" sz="3000" b="1">
                <a:solidFill>
                  <a:srgbClr val="B89058"/>
                </a:solidFill>
                <a:latin typeface="Garamond"/>
              </a:rPr>
              <a:t>11.</a:t>
            </a:r>
            <a:r>
              <a:rPr sz="3000" b="1">
                <a:solidFill>
                  <a:srgbClr val="B89058"/>
                </a:solidFill>
                <a:latin typeface="Garamond"/>
              </a:rPr>
              <a:t> </a:t>
            </a:r>
            <a:r>
              <a:rPr sz="3000" b="1" err="1">
                <a:solidFill>
                  <a:srgbClr val="4A0F22"/>
                </a:solidFill>
                <a:latin typeface="Garamond"/>
              </a:rPr>
              <a:t>Propiedades</a:t>
            </a:r>
            <a:r>
              <a:rPr sz="3000" b="1">
                <a:solidFill>
                  <a:srgbClr val="4A0F22"/>
                </a:solidFill>
                <a:latin typeface="Garamond"/>
              </a:rPr>
              <a:t> </a:t>
            </a:r>
            <a:r>
              <a:rPr sz="3000" b="1" err="1">
                <a:solidFill>
                  <a:srgbClr val="4A0F22"/>
                </a:solidFill>
                <a:latin typeface="Garamond"/>
              </a:rPr>
              <a:t>Estructurales</a:t>
            </a:r>
            <a:r>
              <a:rPr sz="3000" b="1">
                <a:solidFill>
                  <a:srgbClr val="4A0F22"/>
                </a:solidFill>
                <a:latin typeface="Garamond"/>
              </a:rPr>
              <a:t> e </a:t>
            </a:r>
            <a:r>
              <a:rPr sz="3000" b="1" err="1">
                <a:solidFill>
                  <a:srgbClr val="4A0F22"/>
                </a:solidFill>
                <a:latin typeface="Garamond"/>
              </a:rPr>
              <a:t>Implementación</a:t>
            </a:r>
            <a:endParaRPr lang="en-US" sz="3800"/>
          </a:p>
        </p:txBody>
      </p:sp>
      <p:sp>
        <p:nvSpPr>
          <p:cNvPr id="6" name="Shape 4"/>
          <p:cNvSpPr/>
          <p:nvPr/>
        </p:nvSpPr>
        <p:spPr>
          <a:xfrm>
            <a:off x="640080" y="2057400"/>
            <a:ext cx="10911535" cy="10973"/>
          </a:xfrm>
          <a:prstGeom prst="rect">
            <a:avLst/>
          </a:prstGeom>
          <a:solidFill>
            <a:srgbClr val="000000"/>
          </a:solidFill>
          <a:ln w="12700">
            <a:solidFill>
              <a:srgbClr val="333333"/>
            </a:solidFill>
            <a:prstDash val="solid"/>
          </a:ln>
        </p:spPr>
        <p:txBody>
          <a:bodyPr/>
          <a:lstStyle/>
          <a:p>
            <a:endParaRPr lang="en-MX"/>
          </a:p>
        </p:txBody>
      </p:sp>
      <p:sp>
        <p:nvSpPr>
          <p:cNvPr id="7" name="Text 5"/>
          <p:cNvSpPr/>
          <p:nvPr/>
        </p:nvSpPr>
        <p:spPr>
          <a:xfrm>
            <a:off x="640080" y="2331720"/>
            <a:ext cx="6766560" cy="3840480"/>
          </a:xfrm>
          <a:prstGeom prst="rect">
            <a:avLst/>
          </a:prstGeom>
          <a:noFill/>
          <a:ln/>
        </p:spPr>
        <p:txBody>
          <a:bodyPr wrap="square" lIns="0" tIns="0" rIns="0" bIns="0" rtlCol="0" anchor="t"/>
          <a:lstStyle/>
          <a:p>
            <a:pPr marL="0" indent="0" algn="just">
              <a:lnSpc>
                <a:spcPct val="140000"/>
              </a:lnSpc>
              <a:spcAft>
                <a:spcPts val="400"/>
              </a:spcAft>
              <a:buNone/>
            </a:pPr>
            <a:r>
              <a:rPr sz="1100" err="1">
                <a:solidFill>
                  <a:srgbClr val="2A2226"/>
                </a:solidFill>
              </a:rPr>
              <a:t>m×n</a:t>
            </a:r>
            <a:r>
              <a:rPr sz="1100">
                <a:solidFill>
                  <a:srgbClr val="2A2226"/>
                </a:solidFill>
              </a:rPr>
              <a:t> Variables de </a:t>
            </a:r>
            <a:r>
              <a:rPr sz="1100" err="1">
                <a:solidFill>
                  <a:srgbClr val="2A2226"/>
                </a:solidFill>
              </a:rPr>
              <a:t>decisión</a:t>
            </a:r>
            <a:r>
              <a:rPr sz="1100">
                <a:solidFill>
                  <a:srgbClr val="2A2226"/>
                </a:solidFill>
              </a:rPr>
              <a:t> (</a:t>
            </a:r>
            <a:r>
              <a:rPr sz="1100" err="1">
                <a:solidFill>
                  <a:srgbClr val="2A2226"/>
                </a:solidFill>
              </a:rPr>
              <a:t>aristas</a:t>
            </a:r>
            <a:r>
              <a:rPr sz="1100">
                <a:solidFill>
                  <a:srgbClr val="2A2226"/>
                </a:solidFill>
              </a:rPr>
              <a:t> del </a:t>
            </a:r>
            <a:r>
              <a:rPr sz="1100" err="1">
                <a:solidFill>
                  <a:srgbClr val="2A2226"/>
                </a:solidFill>
              </a:rPr>
              <a:t>grafo</a:t>
            </a:r>
            <a:r>
              <a:rPr sz="1100">
                <a:solidFill>
                  <a:srgbClr val="2A2226"/>
                </a:solidFill>
              </a:rPr>
              <a:t>).</a:t>
            </a:r>
            <a:endParaRPr lang="en-US" sz="1300"/>
          </a:p>
          <a:p>
            <a:pPr>
              <a:spcAft>
                <a:spcPts val="400"/>
              </a:spcAft>
            </a:pPr>
            <a:r>
              <a:rPr sz="1100">
                <a:solidFill>
                  <a:srgbClr val="2A2226"/>
                </a:solidFill>
              </a:rPr>
              <a:t>m+n−1 </a:t>
            </a:r>
            <a:r>
              <a:rPr sz="1100" err="1">
                <a:solidFill>
                  <a:srgbClr val="2A2226"/>
                </a:solidFill>
              </a:rPr>
              <a:t>Aristas</a:t>
            </a:r>
            <a:r>
              <a:rPr sz="1100">
                <a:solidFill>
                  <a:srgbClr val="2A2226"/>
                </a:solidFill>
              </a:rPr>
              <a:t> </a:t>
            </a:r>
            <a:r>
              <a:rPr sz="1100" err="1">
                <a:solidFill>
                  <a:srgbClr val="2A2226"/>
                </a:solidFill>
              </a:rPr>
              <a:t>activas</a:t>
            </a:r>
            <a:r>
              <a:rPr sz="1100">
                <a:solidFill>
                  <a:srgbClr val="2A2226"/>
                </a:solidFill>
              </a:rPr>
              <a:t> </a:t>
            </a:r>
            <a:r>
              <a:rPr sz="1100" err="1">
                <a:solidFill>
                  <a:srgbClr val="2A2226"/>
                </a:solidFill>
              </a:rPr>
              <a:t>en</a:t>
            </a:r>
            <a:r>
              <a:rPr sz="1100">
                <a:solidFill>
                  <a:srgbClr val="2A2226"/>
                </a:solidFill>
              </a:rPr>
              <a:t> la </a:t>
            </a:r>
            <a:r>
              <a:rPr sz="1100" err="1">
                <a:solidFill>
                  <a:srgbClr val="2A2226"/>
                </a:solidFill>
              </a:rPr>
              <a:t>solución</a:t>
            </a:r>
            <a:r>
              <a:rPr sz="1100">
                <a:solidFill>
                  <a:srgbClr val="2A2226"/>
                </a:solidFill>
              </a:rPr>
              <a:t> </a:t>
            </a:r>
            <a:r>
              <a:rPr sz="1100" err="1">
                <a:solidFill>
                  <a:srgbClr val="2A2226"/>
                </a:solidFill>
              </a:rPr>
              <a:t>óptima</a:t>
            </a:r>
            <a:r>
              <a:rPr sz="1100">
                <a:solidFill>
                  <a:srgbClr val="2A2226"/>
                </a:solidFill>
              </a:rPr>
              <a:t>.</a:t>
            </a:r>
          </a:p>
          <a:p>
            <a:pPr>
              <a:spcAft>
                <a:spcPts val="400"/>
              </a:spcAft>
            </a:pPr>
            <a:r>
              <a:rPr sz="1100">
                <a:solidFill>
                  <a:srgbClr val="2A2226"/>
                </a:solidFill>
              </a:rPr>
              <a:t>TU: </a:t>
            </a:r>
            <a:r>
              <a:rPr sz="1100" err="1">
                <a:solidFill>
                  <a:srgbClr val="2A2226"/>
                </a:solidFill>
              </a:rPr>
              <a:t>Matriz</a:t>
            </a:r>
            <a:r>
              <a:rPr sz="1100">
                <a:solidFill>
                  <a:srgbClr val="2A2226"/>
                </a:solidFill>
              </a:rPr>
              <a:t> </a:t>
            </a:r>
            <a:r>
              <a:rPr sz="1100" err="1">
                <a:solidFill>
                  <a:srgbClr val="2A2226"/>
                </a:solidFill>
              </a:rPr>
              <a:t>totalmente</a:t>
            </a:r>
            <a:r>
              <a:rPr sz="1100">
                <a:solidFill>
                  <a:srgbClr val="2A2226"/>
                </a:solidFill>
              </a:rPr>
              <a:t> unimodular. Todos sus </a:t>
            </a:r>
            <a:r>
              <a:rPr sz="1100" err="1">
                <a:solidFill>
                  <a:srgbClr val="2A2226"/>
                </a:solidFill>
              </a:rPr>
              <a:t>subdeterminantes</a:t>
            </a:r>
            <a:r>
              <a:rPr sz="1100">
                <a:solidFill>
                  <a:srgbClr val="2A2226"/>
                </a:solidFill>
              </a:rPr>
              <a:t> son 0, +1 o −1.</a:t>
            </a:r>
          </a:p>
          <a:p>
            <a:pPr>
              <a:spcAft>
                <a:spcPts val="400"/>
              </a:spcAft>
            </a:pPr>
            <a:r>
              <a:rPr sz="1100">
                <a:solidFill>
                  <a:srgbClr val="2A2226"/>
                </a:solidFill>
              </a:rPr>
              <a:t>Árbol de </a:t>
            </a:r>
            <a:r>
              <a:rPr sz="1100" err="1">
                <a:solidFill>
                  <a:srgbClr val="2A2226"/>
                </a:solidFill>
              </a:rPr>
              <a:t>Expansión</a:t>
            </a:r>
            <a:r>
              <a:rPr sz="1100">
                <a:solidFill>
                  <a:srgbClr val="2A2226"/>
                </a:solidFill>
              </a:rPr>
              <a:t>: la </a:t>
            </a:r>
            <a:r>
              <a:rPr sz="1100" err="1">
                <a:solidFill>
                  <a:srgbClr val="2A2226"/>
                </a:solidFill>
              </a:rPr>
              <a:t>solución</a:t>
            </a:r>
            <a:r>
              <a:rPr sz="1100">
                <a:solidFill>
                  <a:srgbClr val="2A2226"/>
                </a:solidFill>
              </a:rPr>
              <a:t> </a:t>
            </a:r>
            <a:r>
              <a:rPr sz="1100" err="1">
                <a:solidFill>
                  <a:srgbClr val="2A2226"/>
                </a:solidFill>
              </a:rPr>
              <a:t>óptima</a:t>
            </a:r>
            <a:r>
              <a:rPr sz="1100">
                <a:solidFill>
                  <a:srgbClr val="2A2226"/>
                </a:solidFill>
              </a:rPr>
              <a:t> </a:t>
            </a:r>
            <a:r>
              <a:rPr sz="1100" err="1">
                <a:solidFill>
                  <a:srgbClr val="2A2226"/>
                </a:solidFill>
              </a:rPr>
              <a:t>activa</a:t>
            </a:r>
            <a:r>
              <a:rPr sz="1100">
                <a:solidFill>
                  <a:srgbClr val="2A2226"/>
                </a:solidFill>
              </a:rPr>
              <a:t> </a:t>
            </a:r>
            <a:r>
              <a:rPr sz="1100" err="1">
                <a:solidFill>
                  <a:srgbClr val="2A2226"/>
                </a:solidFill>
              </a:rPr>
              <a:t>exactamente</a:t>
            </a:r>
            <a:r>
              <a:rPr sz="1100">
                <a:solidFill>
                  <a:srgbClr val="2A2226"/>
                </a:solidFill>
              </a:rPr>
              <a:t> m+n−1 </a:t>
            </a:r>
            <a:r>
              <a:rPr sz="1100" err="1">
                <a:solidFill>
                  <a:srgbClr val="2A2226"/>
                </a:solidFill>
              </a:rPr>
              <a:t>aristas</a:t>
            </a:r>
            <a:r>
              <a:rPr sz="1100">
                <a:solidFill>
                  <a:srgbClr val="2A2226"/>
                </a:solidFill>
              </a:rPr>
              <a:t> </a:t>
            </a:r>
            <a:r>
              <a:rPr sz="1100" err="1">
                <a:solidFill>
                  <a:srgbClr val="2A2226"/>
                </a:solidFill>
              </a:rPr>
              <a:t>formando</a:t>
            </a:r>
            <a:r>
              <a:rPr sz="1100">
                <a:solidFill>
                  <a:srgbClr val="2A2226"/>
                </a:solidFill>
              </a:rPr>
              <a:t> un árbol libre de </a:t>
            </a:r>
            <a:r>
              <a:rPr sz="1100" err="1">
                <a:solidFill>
                  <a:srgbClr val="2A2226"/>
                </a:solidFill>
              </a:rPr>
              <a:t>ciclos</a:t>
            </a:r>
            <a:r>
              <a:rPr sz="1100">
                <a:solidFill>
                  <a:srgbClr val="2A2226"/>
                </a:solidFill>
              </a:rPr>
              <a:t>.</a:t>
            </a:r>
          </a:p>
          <a:p>
            <a:pPr>
              <a:spcAft>
                <a:spcPts val="400"/>
              </a:spcAft>
            </a:pPr>
            <a:r>
              <a:rPr sz="1100" err="1">
                <a:solidFill>
                  <a:srgbClr val="2A2226"/>
                </a:solidFill>
              </a:rPr>
              <a:t>Unimodularidad</a:t>
            </a:r>
            <a:r>
              <a:rPr sz="1100">
                <a:solidFill>
                  <a:srgbClr val="2A2226"/>
                </a:solidFill>
              </a:rPr>
              <a:t> </a:t>
            </a:r>
            <a:r>
              <a:rPr sz="1100" err="1">
                <a:solidFill>
                  <a:srgbClr val="2A2226"/>
                </a:solidFill>
              </a:rPr>
              <a:t>garantiza</a:t>
            </a:r>
            <a:r>
              <a:rPr sz="1100">
                <a:solidFill>
                  <a:srgbClr val="2A2226"/>
                </a:solidFill>
              </a:rPr>
              <a:t> </a:t>
            </a:r>
            <a:r>
              <a:rPr sz="1100" err="1">
                <a:solidFill>
                  <a:srgbClr val="2A2226"/>
                </a:solidFill>
              </a:rPr>
              <a:t>flujos</a:t>
            </a:r>
            <a:r>
              <a:rPr sz="1100">
                <a:solidFill>
                  <a:srgbClr val="2A2226"/>
                </a:solidFill>
              </a:rPr>
              <a:t> </a:t>
            </a:r>
            <a:r>
              <a:rPr sz="1100" err="1">
                <a:solidFill>
                  <a:srgbClr val="2A2226"/>
                </a:solidFill>
              </a:rPr>
              <a:t>enteros</a:t>
            </a:r>
            <a:r>
              <a:rPr sz="1100">
                <a:solidFill>
                  <a:srgbClr val="2A2226"/>
                </a:solidFill>
              </a:rPr>
              <a:t> sin </a:t>
            </a:r>
            <a:r>
              <a:rPr sz="1100" err="1">
                <a:solidFill>
                  <a:srgbClr val="2A2226"/>
                </a:solidFill>
              </a:rPr>
              <a:t>programación</a:t>
            </a:r>
            <a:r>
              <a:rPr sz="1100">
                <a:solidFill>
                  <a:srgbClr val="2A2226"/>
                </a:solidFill>
              </a:rPr>
              <a:t> entera </a:t>
            </a:r>
            <a:r>
              <a:rPr sz="1100" err="1">
                <a:solidFill>
                  <a:srgbClr val="2A2226"/>
                </a:solidFill>
              </a:rPr>
              <a:t>explícita</a:t>
            </a:r>
            <a:r>
              <a:rPr sz="1100">
                <a:solidFill>
                  <a:srgbClr val="2A2226"/>
                </a:solidFill>
              </a:rPr>
              <a:t>.</a:t>
            </a:r>
          </a:p>
          <a:p>
            <a:pPr>
              <a:spcAft>
                <a:spcPts val="400"/>
              </a:spcAft>
            </a:pPr>
            <a:r>
              <a:rPr sz="1100" err="1">
                <a:solidFill>
                  <a:srgbClr val="2A2226"/>
                </a:solidFill>
              </a:rPr>
              <a:t>Implementación</a:t>
            </a:r>
            <a:r>
              <a:rPr sz="1100">
                <a:solidFill>
                  <a:srgbClr val="2A2226"/>
                </a:solidFill>
              </a:rPr>
              <a:t>: </a:t>
            </a:r>
            <a:r>
              <a:rPr sz="1100" err="1">
                <a:solidFill>
                  <a:srgbClr val="2A2226"/>
                </a:solidFill>
              </a:rPr>
              <a:t>PuLP</a:t>
            </a:r>
            <a:r>
              <a:rPr sz="1100">
                <a:solidFill>
                  <a:srgbClr val="2A2226"/>
                </a:solidFill>
              </a:rPr>
              <a:t> (solver CBC) </a:t>
            </a:r>
            <a:r>
              <a:rPr sz="1100" err="1">
                <a:solidFill>
                  <a:srgbClr val="2A2226"/>
                </a:solidFill>
              </a:rPr>
              <a:t>extrae</a:t>
            </a:r>
            <a:r>
              <a:rPr sz="1100">
                <a:solidFill>
                  <a:srgbClr val="2A2226"/>
                </a:solidFill>
              </a:rPr>
              <a:t> </a:t>
            </a:r>
            <a:r>
              <a:rPr sz="1100" err="1">
                <a:solidFill>
                  <a:srgbClr val="2A2226"/>
                </a:solidFill>
              </a:rPr>
              <a:t>flujos</a:t>
            </a:r>
            <a:r>
              <a:rPr sz="1100">
                <a:solidFill>
                  <a:srgbClr val="2A2226"/>
                </a:solidFill>
              </a:rPr>
              <a:t> xᵢⱼ y </a:t>
            </a:r>
            <a:r>
              <a:rPr sz="1100" err="1">
                <a:solidFill>
                  <a:srgbClr val="2A2226"/>
                </a:solidFill>
              </a:rPr>
              <a:t>precios</a:t>
            </a:r>
            <a:r>
              <a:rPr sz="1100">
                <a:solidFill>
                  <a:srgbClr val="2A2226"/>
                </a:solidFill>
              </a:rPr>
              <a:t> sombra (π). </a:t>
            </a:r>
            <a:r>
              <a:rPr sz="1100" err="1">
                <a:solidFill>
                  <a:srgbClr val="2A2226"/>
                </a:solidFill>
              </a:rPr>
              <a:t>NetworkX</a:t>
            </a:r>
            <a:r>
              <a:rPr sz="1100">
                <a:solidFill>
                  <a:srgbClr val="2A2226"/>
                </a:solidFill>
              </a:rPr>
              <a:t> </a:t>
            </a:r>
            <a:r>
              <a:rPr sz="1100" err="1">
                <a:solidFill>
                  <a:srgbClr val="2A2226"/>
                </a:solidFill>
              </a:rPr>
              <a:t>renderiza</a:t>
            </a:r>
            <a:r>
              <a:rPr sz="1100">
                <a:solidFill>
                  <a:srgbClr val="2A2226"/>
                </a:solidFill>
              </a:rPr>
              <a:t> </a:t>
            </a:r>
            <a:r>
              <a:rPr sz="1100" err="1">
                <a:solidFill>
                  <a:srgbClr val="2A2226"/>
                </a:solidFill>
              </a:rPr>
              <a:t>el</a:t>
            </a:r>
            <a:r>
              <a:rPr sz="1100">
                <a:solidFill>
                  <a:srgbClr val="2A2226"/>
                </a:solidFill>
              </a:rPr>
              <a:t> </a:t>
            </a:r>
            <a:r>
              <a:rPr sz="1100" err="1">
                <a:solidFill>
                  <a:srgbClr val="2A2226"/>
                </a:solidFill>
              </a:rPr>
              <a:t>grafo</a:t>
            </a:r>
            <a:r>
              <a:rPr sz="1100">
                <a:solidFill>
                  <a:srgbClr val="2A2226"/>
                </a:solidFill>
              </a:rPr>
              <a:t>.</a:t>
            </a:r>
          </a:p>
        </p:txBody>
      </p:sp>
      <p:sp>
        <p:nvSpPr>
          <p:cNvPr id="8" name="Text 6"/>
          <p:cNvSpPr/>
          <p:nvPr/>
        </p:nvSpPr>
        <p:spPr>
          <a:xfrm>
            <a:off x="7680960" y="2331720"/>
            <a:ext cx="3840480" cy="228600"/>
          </a:xfrm>
          <a:prstGeom prst="rect">
            <a:avLst/>
          </a:prstGeom>
          <a:noFill/>
          <a:ln/>
        </p:spPr>
        <p:txBody>
          <a:bodyPr wrap="square" lIns="0" tIns="0" rIns="0" bIns="0" rtlCol="0" anchor="t"/>
          <a:lstStyle/>
          <a:p>
            <a:pPr marL="0" indent="0" algn="l">
              <a:buNone/>
            </a:pPr>
            <a:r>
              <a:rPr lang="en-US" sz="800" b="1" kern="0" spc="1000">
                <a:solidFill>
                  <a:srgbClr val="8C6A38"/>
                </a:solidFill>
                <a:latin typeface="Inter" pitchFamily="34" charset="0"/>
                <a:ea typeface="Inter" pitchFamily="34" charset="-122"/>
                <a:cs typeface="Inter" pitchFamily="34" charset="-120"/>
              </a:rPr>
              <a:t>PUNTO FUNDAMENTAL</a:t>
            </a:r>
            <a:endParaRPr lang="en-US" sz="800"/>
          </a:p>
        </p:txBody>
      </p:sp>
      <p:sp>
        <p:nvSpPr>
          <p:cNvPr id="9" name="Shape 7"/>
          <p:cNvSpPr/>
          <p:nvPr/>
        </p:nvSpPr>
        <p:spPr>
          <a:xfrm>
            <a:off x="7680960" y="2606040"/>
            <a:ext cx="3840480" cy="20117"/>
          </a:xfrm>
          <a:prstGeom prst="rect">
            <a:avLst/>
          </a:prstGeom>
          <a:solidFill>
            <a:srgbClr val="B89058"/>
          </a:solidFill>
          <a:ln w="12700">
            <a:solidFill>
              <a:srgbClr val="B89058"/>
            </a:solidFill>
            <a:prstDash val="solid"/>
          </a:ln>
        </p:spPr>
        <p:txBody>
          <a:bodyPr/>
          <a:lstStyle/>
          <a:p>
            <a:endParaRPr lang="en-MX"/>
          </a:p>
        </p:txBody>
      </p:sp>
      <p:sp>
        <p:nvSpPr>
          <p:cNvPr id="10" name="Text 8"/>
          <p:cNvSpPr/>
          <p:nvPr/>
        </p:nvSpPr>
        <p:spPr>
          <a:xfrm>
            <a:off x="7680960" y="2788920"/>
            <a:ext cx="3840480" cy="3383280"/>
          </a:xfrm>
          <a:prstGeom prst="rect">
            <a:avLst/>
          </a:prstGeom>
          <a:noFill/>
          <a:ln/>
        </p:spPr>
        <p:txBody>
          <a:bodyPr wrap="square" lIns="0" tIns="0" rIns="0" bIns="0" rtlCol="0" anchor="t"/>
          <a:lstStyle/>
          <a:p>
            <a:pPr marL="0" indent="0" algn="l">
              <a:lnSpc>
                <a:spcPct val="135000"/>
              </a:lnSpc>
              <a:spcAft>
                <a:spcPts val="400"/>
              </a:spcAft>
              <a:buNone/>
            </a:pPr>
            <a:r>
              <a:rPr sz="1100">
                <a:solidFill>
                  <a:srgbClr val="4A0F22"/>
                </a:solidFill>
                <a:latin typeface="Courier New"/>
              </a:rPr>
              <a:t>Código: </a:t>
            </a:r>
            <a:r>
              <a:rPr sz="1100" err="1">
                <a:solidFill>
                  <a:srgbClr val="4A0F22"/>
                </a:solidFill>
                <a:latin typeface="Courier New"/>
              </a:rPr>
              <a:t>modelo.constraints</a:t>
            </a:r>
            <a:r>
              <a:rPr sz="1100">
                <a:solidFill>
                  <a:srgbClr val="4A0F22"/>
                </a:solidFill>
                <a:latin typeface="Courier New"/>
              </a:rPr>
              <a:t>['</a:t>
            </a:r>
            <a:r>
              <a:rPr sz="1100" err="1">
                <a:solidFill>
                  <a:srgbClr val="4A0F22"/>
                </a:solidFill>
                <a:latin typeface="Courier New"/>
              </a:rPr>
              <a:t>Oferta_i</a:t>
            </a:r>
            <a:r>
              <a:rPr sz="1100">
                <a:solidFill>
                  <a:srgbClr val="4A0F22"/>
                </a:solidFill>
                <a:latin typeface="Courier New"/>
              </a:rPr>
              <a:t>'].pi → U*ᵢ
</a:t>
            </a:r>
            <a:r>
              <a:rPr sz="1100" err="1">
                <a:solidFill>
                  <a:srgbClr val="4A0F22"/>
                </a:solidFill>
                <a:latin typeface="Courier New"/>
              </a:rPr>
              <a:t>modelo.constraints</a:t>
            </a:r>
            <a:r>
              <a:rPr sz="1100">
                <a:solidFill>
                  <a:srgbClr val="4A0F22"/>
                </a:solidFill>
                <a:latin typeface="Courier New"/>
              </a:rPr>
              <a:t>['</a:t>
            </a:r>
            <a:r>
              <a:rPr sz="1100" err="1">
                <a:solidFill>
                  <a:srgbClr val="4A0F22"/>
                </a:solidFill>
                <a:latin typeface="Courier New"/>
              </a:rPr>
              <a:t>Demanda_j</a:t>
            </a:r>
            <a:r>
              <a:rPr sz="1100">
                <a:solidFill>
                  <a:srgbClr val="4A0F22"/>
                </a:solidFill>
                <a:latin typeface="Courier New"/>
              </a:rPr>
              <a:t>'].pi → V*ⱼ
</a:t>
            </a:r>
            <a:r>
              <a:rPr sz="1100" err="1">
                <a:solidFill>
                  <a:srgbClr val="4A0F22"/>
                </a:solidFill>
                <a:latin typeface="Courier New"/>
              </a:rPr>
              <a:t>nx.DiGraph</a:t>
            </a:r>
            <a:r>
              <a:rPr sz="1100">
                <a:solidFill>
                  <a:srgbClr val="4A0F22"/>
                </a:solidFill>
                <a:latin typeface="Courier New"/>
              </a:rPr>
              <a:t>() → </a:t>
            </a:r>
            <a:r>
              <a:rPr sz="1100" err="1">
                <a:solidFill>
                  <a:srgbClr val="4A0F22"/>
                </a:solidFill>
                <a:latin typeface="Courier New"/>
              </a:rPr>
              <a:t>nx.bipartite_layout</a:t>
            </a:r>
            <a:r>
              <a:rPr sz="1100">
                <a:solidFill>
                  <a:srgbClr val="4A0F22"/>
                </a:solidFill>
                <a:latin typeface="Courier New"/>
              </a:rPr>
              <a:t>(G, </a:t>
            </a:r>
            <a:r>
              <a:rPr sz="1100" err="1">
                <a:solidFill>
                  <a:srgbClr val="4A0F22"/>
                </a:solidFill>
                <a:latin typeface="Courier New"/>
              </a:rPr>
              <a:t>origenes</a:t>
            </a:r>
            <a:r>
              <a:rPr sz="1100">
                <a:solidFill>
                  <a:srgbClr val="4A0F22"/>
                </a:solidFill>
                <a:latin typeface="Courier New"/>
              </a:rPr>
              <a:t>)</a:t>
            </a:r>
            <a:endParaRPr lang="en-US" sz="1400"/>
          </a:p>
        </p:txBody>
      </p:sp>
      <p:sp>
        <p:nvSpPr>
          <p:cNvPr id="18" name="Shape 9">
            <a:extLst>
              <a:ext uri="{FF2B5EF4-FFF2-40B4-BE49-F238E27FC236}">
                <a16:creationId xmlns:a16="http://schemas.microsoft.com/office/drawing/2014/main" id="{63ADEF3A-130A-8DDB-7C15-6950788A40D1}"/>
              </a:ext>
            </a:extLst>
          </p:cNvPr>
          <p:cNvSpPr/>
          <p:nvPr/>
        </p:nvSpPr>
        <p:spPr>
          <a:xfrm>
            <a:off x="548640" y="6473952"/>
            <a:ext cx="11094415" cy="10973"/>
          </a:xfrm>
          <a:prstGeom prst="rect">
            <a:avLst/>
          </a:prstGeom>
          <a:solidFill>
            <a:srgbClr val="E0D8CC"/>
          </a:solidFill>
          <a:ln w="12700">
            <a:solidFill>
              <a:srgbClr val="E0D8CC"/>
            </a:solidFill>
            <a:prstDash val="solid"/>
          </a:ln>
        </p:spPr>
        <p:txBody>
          <a:bodyPr/>
          <a:lstStyle/>
          <a:p>
            <a:endParaRPr lang="en-MX"/>
          </a:p>
        </p:txBody>
      </p:sp>
      <p:sp>
        <p:nvSpPr>
          <p:cNvPr id="19" name="Text 10">
            <a:extLst>
              <a:ext uri="{FF2B5EF4-FFF2-40B4-BE49-F238E27FC236}">
                <a16:creationId xmlns:a16="http://schemas.microsoft.com/office/drawing/2014/main" id="{DDC16DD9-5C19-16C4-3611-80E47044448D}"/>
              </a:ext>
            </a:extLst>
          </p:cNvPr>
          <p:cNvSpPr/>
          <p:nvPr/>
        </p:nvSpPr>
        <p:spPr>
          <a:xfrm>
            <a:off x="548640" y="6565392"/>
            <a:ext cx="1828800" cy="182880"/>
          </a:xfrm>
          <a:prstGeom prst="rect">
            <a:avLst/>
          </a:prstGeom>
          <a:noFill/>
          <a:ln/>
        </p:spPr>
        <p:txBody>
          <a:bodyPr wrap="square" lIns="0" tIns="0" rIns="0" bIns="0" rtlCol="0" anchor="ctr"/>
          <a:lstStyle/>
          <a:p>
            <a:pPr marL="0" indent="0" algn="l">
              <a:buNone/>
            </a:pPr>
            <a:r>
              <a:rPr lang="en-US" sz="800" b="1" kern="0" spc="400">
                <a:solidFill>
                  <a:srgbClr val="7A6F73"/>
                </a:solidFill>
                <a:latin typeface="Inter" pitchFamily="34" charset="0"/>
                <a:ea typeface="Inter" pitchFamily="34" charset="-122"/>
                <a:cs typeface="Inter" pitchFamily="34" charset="-120"/>
              </a:rPr>
              <a:t>M.C.D.I.</a:t>
            </a:r>
            <a:endParaRPr lang="en-US" sz="800"/>
          </a:p>
        </p:txBody>
      </p:sp>
      <p:sp>
        <p:nvSpPr>
          <p:cNvPr id="20" name="Text 11">
            <a:extLst>
              <a:ext uri="{FF2B5EF4-FFF2-40B4-BE49-F238E27FC236}">
                <a16:creationId xmlns:a16="http://schemas.microsoft.com/office/drawing/2014/main" id="{8AC0AAED-EF15-ADF8-AEC3-23D93AEE8143}"/>
              </a:ext>
            </a:extLst>
          </p:cNvPr>
          <p:cNvSpPr/>
          <p:nvPr/>
        </p:nvSpPr>
        <p:spPr>
          <a:xfrm>
            <a:off x="4724248" y="6565392"/>
            <a:ext cx="2743200" cy="182880"/>
          </a:xfrm>
          <a:prstGeom prst="rect">
            <a:avLst/>
          </a:prstGeom>
          <a:noFill/>
          <a:ln/>
        </p:spPr>
        <p:txBody>
          <a:bodyPr wrap="square" lIns="0" tIns="0" rIns="0" bIns="0" rtlCol="0" anchor="ctr"/>
          <a:lstStyle/>
          <a:p>
            <a:pPr marL="0" indent="0" algn="ctr">
              <a:buNone/>
            </a:pPr>
            <a:r>
              <a:rPr lang="en-US" sz="900" i="1">
                <a:solidFill>
                  <a:srgbClr val="8C6A38"/>
                </a:solidFill>
                <a:latin typeface="Garamond" pitchFamily="34" charset="0"/>
                <a:ea typeface="Garamond" pitchFamily="34" charset="-122"/>
                <a:cs typeface="Garamond" pitchFamily="34" charset="-120"/>
              </a:rPr>
              <a:t>—  10 / 20  —</a:t>
            </a:r>
            <a:endParaRPr lang="en-US" sz="900"/>
          </a:p>
        </p:txBody>
      </p:sp>
      <p:sp>
        <p:nvSpPr>
          <p:cNvPr id="21" name="Text 12">
            <a:extLst>
              <a:ext uri="{FF2B5EF4-FFF2-40B4-BE49-F238E27FC236}">
                <a16:creationId xmlns:a16="http://schemas.microsoft.com/office/drawing/2014/main" id="{C769EA09-7928-28C0-661D-F5FDB38EAC48}"/>
              </a:ext>
            </a:extLst>
          </p:cNvPr>
          <p:cNvSpPr/>
          <p:nvPr/>
        </p:nvSpPr>
        <p:spPr>
          <a:xfrm>
            <a:off x="8899855" y="6565392"/>
            <a:ext cx="2743200" cy="182880"/>
          </a:xfrm>
          <a:prstGeom prst="rect">
            <a:avLst/>
          </a:prstGeom>
          <a:noFill/>
          <a:ln/>
        </p:spPr>
        <p:txBody>
          <a:bodyPr wrap="square" lIns="0" tIns="0" rIns="0" bIns="0" rtlCol="0" anchor="ctr"/>
          <a:lstStyle/>
          <a:p>
            <a:pPr marL="0" indent="0" algn="r">
              <a:buNone/>
            </a:pPr>
            <a:r>
              <a:rPr lang="en-US" sz="800" i="1">
                <a:solidFill>
                  <a:srgbClr val="7A6F73"/>
                </a:solidFill>
                <a:latin typeface="Garamond" pitchFamily="34" charset="0"/>
                <a:ea typeface="Garamond" pitchFamily="34" charset="-122"/>
                <a:cs typeface="Garamond" pitchFamily="34" charset="-120"/>
              </a:rPr>
              <a:t>Equipo 5</a:t>
            </a:r>
            <a:endParaRPr lang="en-US" sz="800"/>
          </a:p>
        </p:txBody>
      </p:sp>
      <p:sp>
        <p:nvSpPr>
          <p:cNvPr id="11" name="Text 2">
            <a:extLst>
              <a:ext uri="{FF2B5EF4-FFF2-40B4-BE49-F238E27FC236}">
                <a16:creationId xmlns:a16="http://schemas.microsoft.com/office/drawing/2014/main" id="{4E8C1812-903A-8521-6D5D-042D859C5D02}"/>
              </a:ext>
            </a:extLst>
          </p:cNvPr>
          <p:cNvSpPr/>
          <p:nvPr/>
        </p:nvSpPr>
        <p:spPr>
          <a:xfrm>
            <a:off x="640080" y="868680"/>
            <a:ext cx="4572000" cy="228600"/>
          </a:xfrm>
          <a:prstGeom prst="rect">
            <a:avLst/>
          </a:prstGeom>
          <a:noFill/>
          <a:ln/>
        </p:spPr>
        <p:txBody>
          <a:bodyPr wrap="square" lIns="0" tIns="0" rIns="0" bIns="0" rtlCol="0" anchor="t"/>
          <a:lstStyle/>
          <a:p>
            <a:pPr marL="0" indent="0" algn="l">
              <a:buNone/>
            </a:pPr>
            <a:r>
              <a:rPr lang="en-US" sz="900" b="1" kern="0" spc="300">
                <a:solidFill>
                  <a:srgbClr val="8C6A38"/>
                </a:solidFill>
                <a:latin typeface="Inter" pitchFamily="34" charset="0"/>
                <a:ea typeface="Inter" pitchFamily="34" charset="-122"/>
                <a:cs typeface="Inter" pitchFamily="34" charset="-120"/>
              </a:rPr>
              <a:t>SECCION 2</a:t>
            </a:r>
            <a:endParaRPr lang="en-US" sz="900" spc="300"/>
          </a:p>
        </p:txBody>
      </p:sp>
      <p:pic>
        <p:nvPicPr>
          <p:cNvPr id="4" name="Picture 3">
            <a:extLst>
              <a:ext uri="{FF2B5EF4-FFF2-40B4-BE49-F238E27FC236}">
                <a16:creationId xmlns:a16="http://schemas.microsoft.com/office/drawing/2014/main" id="{DA73CE22-A361-ABCB-2EDC-614DF1F95E08}"/>
              </a:ext>
            </a:extLst>
          </p:cNvPr>
          <p:cNvPicPr>
            <a:picLocks noChangeAspect="1"/>
          </p:cNvPicPr>
          <p:nvPr/>
        </p:nvPicPr>
        <p:blipFill>
          <a:blip r:embed="rId4"/>
          <a:srcRect t="25469" b="9805"/>
          <a:stretch>
            <a:fillRect/>
          </a:stretch>
        </p:blipFill>
        <p:spPr>
          <a:xfrm>
            <a:off x="-23274" y="2322364"/>
            <a:ext cx="12215274" cy="441288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07F8894-33B7-8A60-2A41-B940773614C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4D6E556-FD57-A0D8-5965-B9BFE3AA16D8}"/>
              </a:ext>
            </a:extLst>
          </p:cNvPr>
          <p:cNvSpPr/>
          <p:nvPr/>
        </p:nvSpPr>
        <p:spPr>
          <a:xfrm>
            <a:off x="548640" y="320040"/>
            <a:ext cx="11094415" cy="228600"/>
          </a:xfrm>
          <a:prstGeom prst="rect">
            <a:avLst/>
          </a:prstGeom>
          <a:noFill/>
          <a:ln/>
        </p:spPr>
        <p:txBody>
          <a:bodyPr wrap="square" lIns="0" tIns="0" rIns="0" bIns="0" rtlCol="0" anchor="ctr"/>
          <a:lstStyle/>
          <a:p>
            <a:pPr marL="0" indent="0" algn="l">
              <a:buNone/>
            </a:pPr>
            <a:r>
              <a:rPr lang="en-US" sz="800" b="1" kern="0" spc="600">
                <a:solidFill>
                  <a:srgbClr val="4A0F22"/>
                </a:solidFill>
                <a:latin typeface="Inter" pitchFamily="34" charset="0"/>
                <a:ea typeface="Inter" pitchFamily="34" charset="-122"/>
                <a:cs typeface="Inter" pitchFamily="34" charset="-120"/>
              </a:rPr>
              <a:t>INFOTEC   ·   M.C.D.I.   ·   Matemáticas 2026-1</a:t>
            </a:r>
            <a:endParaRPr lang="en-US" sz="800"/>
          </a:p>
        </p:txBody>
      </p:sp>
      <p:sp>
        <p:nvSpPr>
          <p:cNvPr id="3" name="Shape 1">
            <a:extLst>
              <a:ext uri="{FF2B5EF4-FFF2-40B4-BE49-F238E27FC236}">
                <a16:creationId xmlns:a16="http://schemas.microsoft.com/office/drawing/2014/main" id="{FC13F598-D820-3F23-3E18-93BDB5757055}"/>
              </a:ext>
            </a:extLst>
          </p:cNvPr>
          <p:cNvSpPr/>
          <p:nvPr/>
        </p:nvSpPr>
        <p:spPr>
          <a:xfrm>
            <a:off x="548640" y="566928"/>
            <a:ext cx="11094415" cy="10973"/>
          </a:xfrm>
          <a:prstGeom prst="rect">
            <a:avLst/>
          </a:prstGeom>
          <a:solidFill>
            <a:srgbClr val="000000"/>
          </a:solidFill>
          <a:ln w="12700">
            <a:solidFill>
              <a:srgbClr val="333333"/>
            </a:solidFill>
            <a:prstDash val="solid"/>
          </a:ln>
        </p:spPr>
        <p:txBody>
          <a:bodyPr/>
          <a:lstStyle/>
          <a:p>
            <a:endParaRPr lang="en-MX"/>
          </a:p>
        </p:txBody>
      </p:sp>
      <p:sp>
        <p:nvSpPr>
          <p:cNvPr id="5" name="Text 3">
            <a:extLst>
              <a:ext uri="{FF2B5EF4-FFF2-40B4-BE49-F238E27FC236}">
                <a16:creationId xmlns:a16="http://schemas.microsoft.com/office/drawing/2014/main" id="{3945EB66-228C-093C-4455-71C09040712F}"/>
              </a:ext>
            </a:extLst>
          </p:cNvPr>
          <p:cNvSpPr/>
          <p:nvPr/>
        </p:nvSpPr>
        <p:spPr>
          <a:xfrm>
            <a:off x="640080" y="1097280"/>
            <a:ext cx="10911535" cy="868680"/>
          </a:xfrm>
          <a:prstGeom prst="rect">
            <a:avLst/>
          </a:prstGeom>
          <a:noFill/>
          <a:ln/>
        </p:spPr>
        <p:txBody>
          <a:bodyPr wrap="square" lIns="0" tIns="0" rIns="0" bIns="0" rtlCol="0" anchor="t"/>
          <a:lstStyle/>
          <a:p>
            <a:r>
              <a:rPr lang="es-ES" sz="3000" b="1">
                <a:solidFill>
                  <a:srgbClr val="B89058"/>
                </a:solidFill>
                <a:latin typeface="Garamond"/>
              </a:rPr>
              <a:t>12.</a:t>
            </a:r>
            <a:r>
              <a:rPr sz="3000" b="1">
                <a:solidFill>
                  <a:srgbClr val="B89058"/>
                </a:solidFill>
                <a:latin typeface="Garamond"/>
              </a:rPr>
              <a:t> </a:t>
            </a:r>
            <a:r>
              <a:rPr lang="es-ES" sz="3000" b="1">
                <a:solidFill>
                  <a:srgbClr val="4A0F22"/>
                </a:solidFill>
                <a:latin typeface="Garamond"/>
              </a:rPr>
              <a:t>Implementación Computacional en Python</a:t>
            </a:r>
            <a:endParaRPr lang="en-US" sz="3800"/>
          </a:p>
        </p:txBody>
      </p:sp>
      <p:sp>
        <p:nvSpPr>
          <p:cNvPr id="6" name="Shape 4">
            <a:extLst>
              <a:ext uri="{FF2B5EF4-FFF2-40B4-BE49-F238E27FC236}">
                <a16:creationId xmlns:a16="http://schemas.microsoft.com/office/drawing/2014/main" id="{F99945DD-95D4-A744-E367-D6D82E430078}"/>
              </a:ext>
            </a:extLst>
          </p:cNvPr>
          <p:cNvSpPr/>
          <p:nvPr/>
        </p:nvSpPr>
        <p:spPr>
          <a:xfrm>
            <a:off x="640080" y="2057400"/>
            <a:ext cx="10911535" cy="10973"/>
          </a:xfrm>
          <a:prstGeom prst="rect">
            <a:avLst/>
          </a:prstGeom>
          <a:solidFill>
            <a:srgbClr val="000000"/>
          </a:solidFill>
          <a:ln w="12700">
            <a:solidFill>
              <a:srgbClr val="333333"/>
            </a:solidFill>
            <a:prstDash val="solid"/>
          </a:ln>
        </p:spPr>
        <p:txBody>
          <a:bodyPr/>
          <a:lstStyle/>
          <a:p>
            <a:endParaRPr lang="en-MX"/>
          </a:p>
        </p:txBody>
      </p:sp>
      <p:sp>
        <p:nvSpPr>
          <p:cNvPr id="18" name="Shape 9">
            <a:extLst>
              <a:ext uri="{FF2B5EF4-FFF2-40B4-BE49-F238E27FC236}">
                <a16:creationId xmlns:a16="http://schemas.microsoft.com/office/drawing/2014/main" id="{42E1A4FF-643D-30A8-65B4-387BC1F72DE3}"/>
              </a:ext>
            </a:extLst>
          </p:cNvPr>
          <p:cNvSpPr/>
          <p:nvPr/>
        </p:nvSpPr>
        <p:spPr>
          <a:xfrm>
            <a:off x="548640" y="6473952"/>
            <a:ext cx="11094415" cy="10973"/>
          </a:xfrm>
          <a:prstGeom prst="rect">
            <a:avLst/>
          </a:prstGeom>
          <a:solidFill>
            <a:srgbClr val="E0D8CC"/>
          </a:solidFill>
          <a:ln w="12700">
            <a:solidFill>
              <a:srgbClr val="E0D8CC"/>
            </a:solidFill>
            <a:prstDash val="solid"/>
          </a:ln>
        </p:spPr>
        <p:txBody>
          <a:bodyPr/>
          <a:lstStyle/>
          <a:p>
            <a:endParaRPr lang="en-MX"/>
          </a:p>
        </p:txBody>
      </p:sp>
      <p:sp>
        <p:nvSpPr>
          <p:cNvPr id="19" name="Text 10">
            <a:extLst>
              <a:ext uri="{FF2B5EF4-FFF2-40B4-BE49-F238E27FC236}">
                <a16:creationId xmlns:a16="http://schemas.microsoft.com/office/drawing/2014/main" id="{5DFD3CC4-815B-F75F-CF09-8E6B0E9F06E6}"/>
              </a:ext>
            </a:extLst>
          </p:cNvPr>
          <p:cNvSpPr/>
          <p:nvPr/>
        </p:nvSpPr>
        <p:spPr>
          <a:xfrm>
            <a:off x="548640" y="6565392"/>
            <a:ext cx="1828800" cy="182880"/>
          </a:xfrm>
          <a:prstGeom prst="rect">
            <a:avLst/>
          </a:prstGeom>
          <a:noFill/>
          <a:ln/>
        </p:spPr>
        <p:txBody>
          <a:bodyPr wrap="square" lIns="0" tIns="0" rIns="0" bIns="0" rtlCol="0" anchor="ctr"/>
          <a:lstStyle/>
          <a:p>
            <a:pPr marL="0" indent="0" algn="l">
              <a:buNone/>
            </a:pPr>
            <a:r>
              <a:rPr lang="en-US" sz="800" b="1" kern="0" spc="400">
                <a:solidFill>
                  <a:srgbClr val="7A6F73"/>
                </a:solidFill>
                <a:latin typeface="Inter" pitchFamily="34" charset="0"/>
                <a:ea typeface="Inter" pitchFamily="34" charset="-122"/>
                <a:cs typeface="Inter" pitchFamily="34" charset="-120"/>
              </a:rPr>
              <a:t>M.C.D.I.</a:t>
            </a:r>
            <a:endParaRPr lang="en-US" sz="800"/>
          </a:p>
        </p:txBody>
      </p:sp>
      <p:sp>
        <p:nvSpPr>
          <p:cNvPr id="20" name="Text 11">
            <a:extLst>
              <a:ext uri="{FF2B5EF4-FFF2-40B4-BE49-F238E27FC236}">
                <a16:creationId xmlns:a16="http://schemas.microsoft.com/office/drawing/2014/main" id="{1C64BF62-DA15-E2B4-C26C-0FBD378EA6D7}"/>
              </a:ext>
            </a:extLst>
          </p:cNvPr>
          <p:cNvSpPr/>
          <p:nvPr/>
        </p:nvSpPr>
        <p:spPr>
          <a:xfrm>
            <a:off x="4724248" y="6565392"/>
            <a:ext cx="2743200" cy="182880"/>
          </a:xfrm>
          <a:prstGeom prst="rect">
            <a:avLst/>
          </a:prstGeom>
          <a:noFill/>
          <a:ln/>
        </p:spPr>
        <p:txBody>
          <a:bodyPr wrap="square" lIns="0" tIns="0" rIns="0" bIns="0" rtlCol="0" anchor="ctr"/>
          <a:lstStyle/>
          <a:p>
            <a:pPr marL="0" indent="0" algn="ctr">
              <a:buNone/>
            </a:pPr>
            <a:r>
              <a:rPr lang="en-US" sz="900" i="1">
                <a:solidFill>
                  <a:srgbClr val="8C6A38"/>
                </a:solidFill>
                <a:latin typeface="Garamond" pitchFamily="34" charset="0"/>
                <a:ea typeface="Garamond" pitchFamily="34" charset="-122"/>
                <a:cs typeface="Garamond" pitchFamily="34" charset="-120"/>
              </a:rPr>
              <a:t>—  10 / 20  —</a:t>
            </a:r>
            <a:endParaRPr lang="en-US" sz="900"/>
          </a:p>
        </p:txBody>
      </p:sp>
      <p:sp>
        <p:nvSpPr>
          <p:cNvPr id="21" name="Text 12">
            <a:extLst>
              <a:ext uri="{FF2B5EF4-FFF2-40B4-BE49-F238E27FC236}">
                <a16:creationId xmlns:a16="http://schemas.microsoft.com/office/drawing/2014/main" id="{5BD4B15F-2BA4-4DF7-D9C1-F31B14EAA9B3}"/>
              </a:ext>
            </a:extLst>
          </p:cNvPr>
          <p:cNvSpPr/>
          <p:nvPr/>
        </p:nvSpPr>
        <p:spPr>
          <a:xfrm>
            <a:off x="8899855" y="6565392"/>
            <a:ext cx="2743200" cy="182880"/>
          </a:xfrm>
          <a:prstGeom prst="rect">
            <a:avLst/>
          </a:prstGeom>
          <a:noFill/>
          <a:ln/>
        </p:spPr>
        <p:txBody>
          <a:bodyPr wrap="square" lIns="0" tIns="0" rIns="0" bIns="0" rtlCol="0" anchor="ctr"/>
          <a:lstStyle/>
          <a:p>
            <a:pPr marL="0" indent="0" algn="r">
              <a:buNone/>
            </a:pPr>
            <a:r>
              <a:rPr lang="en-US" sz="800" i="1">
                <a:solidFill>
                  <a:srgbClr val="7A6F73"/>
                </a:solidFill>
                <a:latin typeface="Garamond" pitchFamily="34" charset="0"/>
                <a:ea typeface="Garamond" pitchFamily="34" charset="-122"/>
                <a:cs typeface="Garamond" pitchFamily="34" charset="-120"/>
              </a:rPr>
              <a:t>Equipo 5</a:t>
            </a:r>
            <a:endParaRPr lang="en-US" sz="800"/>
          </a:p>
        </p:txBody>
      </p:sp>
      <p:sp>
        <p:nvSpPr>
          <p:cNvPr id="11" name="Text 2">
            <a:extLst>
              <a:ext uri="{FF2B5EF4-FFF2-40B4-BE49-F238E27FC236}">
                <a16:creationId xmlns:a16="http://schemas.microsoft.com/office/drawing/2014/main" id="{CF04D172-D03F-CADC-E5EB-2AB064DC397B}"/>
              </a:ext>
            </a:extLst>
          </p:cNvPr>
          <p:cNvSpPr/>
          <p:nvPr/>
        </p:nvSpPr>
        <p:spPr>
          <a:xfrm>
            <a:off x="640080" y="868680"/>
            <a:ext cx="4572000" cy="228600"/>
          </a:xfrm>
          <a:prstGeom prst="rect">
            <a:avLst/>
          </a:prstGeom>
          <a:noFill/>
          <a:ln/>
        </p:spPr>
        <p:txBody>
          <a:bodyPr wrap="square" lIns="0" tIns="0" rIns="0" bIns="0" rtlCol="0" anchor="t"/>
          <a:lstStyle/>
          <a:p>
            <a:pPr marL="0" indent="0" algn="l">
              <a:buNone/>
            </a:pPr>
            <a:r>
              <a:rPr lang="en-US" sz="900" b="1" kern="0" spc="300">
                <a:solidFill>
                  <a:srgbClr val="8C6A38"/>
                </a:solidFill>
                <a:latin typeface="Inter" pitchFamily="34" charset="0"/>
                <a:ea typeface="Inter" pitchFamily="34" charset="-122"/>
                <a:cs typeface="Inter" pitchFamily="34" charset="-120"/>
              </a:rPr>
              <a:t>SECCION 2</a:t>
            </a:r>
            <a:endParaRPr lang="en-US" sz="900" spc="300"/>
          </a:p>
        </p:txBody>
      </p:sp>
      <p:pic>
        <p:nvPicPr>
          <p:cNvPr id="4" name="Picture 3" descr="A graph with lines and numbers&#10;&#10;AI-generated content may be incorrect.">
            <a:extLst>
              <a:ext uri="{FF2B5EF4-FFF2-40B4-BE49-F238E27FC236}">
                <a16:creationId xmlns:a16="http://schemas.microsoft.com/office/drawing/2014/main" id="{BB04BE22-4215-AC30-2C96-A05425F58E57}"/>
              </a:ext>
            </a:extLst>
          </p:cNvPr>
          <p:cNvPicPr>
            <a:picLocks noChangeAspect="1"/>
          </p:cNvPicPr>
          <p:nvPr/>
        </p:nvPicPr>
        <p:blipFill>
          <a:blip r:embed="rId4"/>
          <a:stretch>
            <a:fillRect/>
          </a:stretch>
        </p:blipFill>
        <p:spPr>
          <a:xfrm>
            <a:off x="7078238" y="2294860"/>
            <a:ext cx="4813780" cy="3313815"/>
          </a:xfrm>
          <a:prstGeom prst="rect">
            <a:avLst/>
          </a:prstGeom>
        </p:spPr>
      </p:pic>
      <p:sp>
        <p:nvSpPr>
          <p:cNvPr id="8" name="TextBox 7">
            <a:extLst>
              <a:ext uri="{FF2B5EF4-FFF2-40B4-BE49-F238E27FC236}">
                <a16:creationId xmlns:a16="http://schemas.microsoft.com/office/drawing/2014/main" id="{3044A385-8CC8-55A2-4062-D2BBB13E18BF}"/>
              </a:ext>
            </a:extLst>
          </p:cNvPr>
          <p:cNvSpPr txBox="1"/>
          <p:nvPr/>
        </p:nvSpPr>
        <p:spPr>
          <a:xfrm>
            <a:off x="637449" y="2300258"/>
            <a:ext cx="6266392" cy="600164"/>
          </a:xfrm>
          <a:prstGeom prst="rect">
            <a:avLst/>
          </a:prstGeom>
          <a:solidFill>
            <a:schemeClr val="accent3">
              <a:lumMod val="40000"/>
              <a:lumOff val="60000"/>
            </a:schemeClr>
          </a:solidFill>
          <a:ln>
            <a:solidFill>
              <a:srgbClr val="00B050"/>
            </a:solid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03030"/>
                </a:solidFill>
                <a:latin typeface="Consolas"/>
              </a:rPr>
              <a:t># </a:t>
            </a:r>
            <a:r>
              <a:rPr lang="en-US" sz="1100" b="1" err="1">
                <a:solidFill>
                  <a:srgbClr val="303030"/>
                </a:solidFill>
                <a:latin typeface="Consolas"/>
              </a:rPr>
              <a:t>Extracción</a:t>
            </a:r>
            <a:r>
              <a:rPr lang="en-US" sz="1100" b="1">
                <a:solidFill>
                  <a:srgbClr val="303030"/>
                </a:solidFill>
                <a:latin typeface="Consolas"/>
              </a:rPr>
              <a:t> </a:t>
            </a:r>
            <a:r>
              <a:rPr lang="en-US" sz="1100" b="1" err="1">
                <a:solidFill>
                  <a:srgbClr val="303030"/>
                </a:solidFill>
                <a:latin typeface="Consolas"/>
              </a:rPr>
              <a:t>analítica</a:t>
            </a:r>
            <a:r>
              <a:rPr lang="en-US" sz="1100" b="1">
                <a:solidFill>
                  <a:srgbClr val="303030"/>
                </a:solidFill>
                <a:latin typeface="Consolas"/>
              </a:rPr>
              <a:t> de </a:t>
            </a:r>
            <a:r>
              <a:rPr lang="en-US" sz="1100" b="1" err="1">
                <a:solidFill>
                  <a:srgbClr val="303030"/>
                </a:solidFill>
                <a:latin typeface="Consolas"/>
              </a:rPr>
              <a:t>Precios</a:t>
            </a:r>
            <a:r>
              <a:rPr lang="en-US" sz="1100" b="1">
                <a:solidFill>
                  <a:srgbClr val="303030"/>
                </a:solidFill>
                <a:latin typeface="Consolas"/>
              </a:rPr>
              <a:t> Sombra (</a:t>
            </a:r>
            <a:r>
              <a:rPr lang="en-US" sz="1100" b="1" err="1">
                <a:solidFill>
                  <a:srgbClr val="303030"/>
                </a:solidFill>
                <a:latin typeface="Consolas"/>
              </a:rPr>
              <a:t>Multiplicadores</a:t>
            </a:r>
            <a:r>
              <a:rPr lang="en-US" sz="1100" b="1">
                <a:solidFill>
                  <a:srgbClr val="303030"/>
                </a:solidFill>
                <a:latin typeface="Consolas"/>
              </a:rPr>
              <a:t> de Lagrange)
</a:t>
            </a:r>
            <a:r>
              <a:rPr lang="en-US" sz="1100" b="1" err="1">
                <a:solidFill>
                  <a:srgbClr val="303030"/>
                </a:solidFill>
                <a:latin typeface="Consolas"/>
              </a:rPr>
              <a:t>U_i</a:t>
            </a:r>
            <a:r>
              <a:rPr lang="en-US" sz="1100" b="1">
                <a:solidFill>
                  <a:srgbClr val="303030"/>
                </a:solidFill>
                <a:latin typeface="Consolas"/>
              </a:rPr>
              <a:t> = </a:t>
            </a:r>
            <a:r>
              <a:rPr lang="en-US" sz="1100" b="1" err="1">
                <a:solidFill>
                  <a:srgbClr val="303030"/>
                </a:solidFill>
                <a:latin typeface="Consolas"/>
              </a:rPr>
              <a:t>modelo.constraints</a:t>
            </a:r>
            <a:r>
              <a:rPr lang="en-US" sz="1100" b="1">
                <a:solidFill>
                  <a:srgbClr val="303030"/>
                </a:solidFill>
                <a:latin typeface="Consolas"/>
              </a:rPr>
              <a:t>[</a:t>
            </a:r>
            <a:r>
              <a:rPr lang="en-US" sz="1100" b="1" err="1">
                <a:solidFill>
                  <a:srgbClr val="303030"/>
                </a:solidFill>
                <a:latin typeface="Consolas"/>
              </a:rPr>
              <a:t>f'Oferta</a:t>
            </a:r>
            <a:r>
              <a:rPr lang="en-US" sz="1100" b="1">
                <a:solidFill>
                  <a:srgbClr val="303030"/>
                </a:solidFill>
                <a:latin typeface="Consolas"/>
              </a:rPr>
              <a:t>_{</a:t>
            </a:r>
            <a:r>
              <a:rPr lang="en-US" sz="1100" b="1" err="1">
                <a:solidFill>
                  <a:srgbClr val="303030"/>
                </a:solidFill>
                <a:latin typeface="Consolas"/>
              </a:rPr>
              <a:t>i</a:t>
            </a:r>
            <a:r>
              <a:rPr lang="en-US" sz="1100" b="1">
                <a:solidFill>
                  <a:srgbClr val="303030"/>
                </a:solidFill>
                <a:latin typeface="Consolas"/>
              </a:rPr>
              <a:t>}'].pi
</a:t>
            </a:r>
            <a:r>
              <a:rPr lang="en-US" sz="1100" b="1" err="1">
                <a:solidFill>
                  <a:srgbClr val="303030"/>
                </a:solidFill>
                <a:latin typeface="Consolas"/>
              </a:rPr>
              <a:t>V_j</a:t>
            </a:r>
            <a:r>
              <a:rPr lang="en-US" sz="1100" b="1">
                <a:solidFill>
                  <a:srgbClr val="303030"/>
                </a:solidFill>
                <a:latin typeface="Consolas"/>
              </a:rPr>
              <a:t> = </a:t>
            </a:r>
            <a:r>
              <a:rPr lang="en-US" sz="1100" b="1" err="1">
                <a:solidFill>
                  <a:srgbClr val="303030"/>
                </a:solidFill>
                <a:latin typeface="Consolas"/>
              </a:rPr>
              <a:t>modelo.constraints</a:t>
            </a:r>
            <a:r>
              <a:rPr lang="en-US" sz="1100" b="1">
                <a:solidFill>
                  <a:srgbClr val="303030"/>
                </a:solidFill>
                <a:latin typeface="Consolas"/>
              </a:rPr>
              <a:t>[</a:t>
            </a:r>
            <a:r>
              <a:rPr lang="en-US" sz="1100" b="1" err="1">
                <a:solidFill>
                  <a:srgbClr val="303030"/>
                </a:solidFill>
                <a:latin typeface="Consolas"/>
              </a:rPr>
              <a:t>f'Demanda</a:t>
            </a:r>
            <a:r>
              <a:rPr lang="en-US" sz="1100" b="1">
                <a:solidFill>
                  <a:srgbClr val="303030"/>
                </a:solidFill>
                <a:latin typeface="Consolas"/>
              </a:rPr>
              <a:t>_{j}'].pi</a:t>
            </a:r>
            <a:endParaRPr lang="en-US" b="1"/>
          </a:p>
        </p:txBody>
      </p:sp>
      <p:sp>
        <p:nvSpPr>
          <p:cNvPr id="9" name="TextBox 8">
            <a:extLst>
              <a:ext uri="{FF2B5EF4-FFF2-40B4-BE49-F238E27FC236}">
                <a16:creationId xmlns:a16="http://schemas.microsoft.com/office/drawing/2014/main" id="{37D9E2BA-769E-C986-A51F-30BCADC56EC1}"/>
              </a:ext>
            </a:extLst>
          </p:cNvPr>
          <p:cNvSpPr txBox="1"/>
          <p:nvPr/>
        </p:nvSpPr>
        <p:spPr>
          <a:xfrm>
            <a:off x="637449" y="3044536"/>
            <a:ext cx="6266392" cy="600164"/>
          </a:xfrm>
          <a:prstGeom prst="rect">
            <a:avLst/>
          </a:prstGeom>
          <a:solidFill>
            <a:schemeClr val="accent3">
              <a:lumMod val="40000"/>
              <a:lumOff val="60000"/>
            </a:schemeClr>
          </a:solidFill>
          <a:ln>
            <a:solidFill>
              <a:srgbClr val="00B050"/>
            </a:solid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03030"/>
                </a:solidFill>
                <a:latin typeface="Consolas"/>
              </a:rPr>
              <a:t># </a:t>
            </a:r>
            <a:r>
              <a:rPr lang="en-US" sz="1100" b="1" err="1">
                <a:solidFill>
                  <a:srgbClr val="303030"/>
                </a:solidFill>
                <a:latin typeface="Consolas"/>
              </a:rPr>
              <a:t>Filtrado</a:t>
            </a:r>
            <a:r>
              <a:rPr lang="en-US" sz="1100" b="1">
                <a:solidFill>
                  <a:srgbClr val="303030"/>
                </a:solidFill>
                <a:latin typeface="Consolas"/>
              </a:rPr>
              <a:t> de </a:t>
            </a:r>
            <a:r>
              <a:rPr lang="en-US" sz="1100" b="1" err="1">
                <a:solidFill>
                  <a:srgbClr val="303030"/>
                </a:solidFill>
                <a:latin typeface="Consolas"/>
              </a:rPr>
              <a:t>rutas</a:t>
            </a:r>
            <a:r>
              <a:rPr lang="en-US" sz="1100" b="1">
                <a:solidFill>
                  <a:srgbClr val="303030"/>
                </a:solidFill>
                <a:latin typeface="Consolas"/>
              </a:rPr>
              <a:t> </a:t>
            </a:r>
            <a:r>
              <a:rPr lang="en-US" sz="1100" b="1" err="1">
                <a:solidFill>
                  <a:srgbClr val="303030"/>
                </a:solidFill>
                <a:latin typeface="Consolas"/>
              </a:rPr>
              <a:t>deficitarias</a:t>
            </a:r>
            <a:r>
              <a:rPr lang="en-US" sz="1100" b="1">
                <a:solidFill>
                  <a:srgbClr val="303030"/>
                </a:solidFill>
                <a:latin typeface="Consolas"/>
              </a:rPr>
              <a:t> (</a:t>
            </a:r>
            <a:r>
              <a:rPr lang="en-US" sz="1100" b="1" err="1">
                <a:solidFill>
                  <a:srgbClr val="303030"/>
                </a:solidFill>
                <a:latin typeface="Consolas"/>
              </a:rPr>
              <a:t>Holgura</a:t>
            </a:r>
            <a:r>
              <a:rPr lang="en-US" sz="1100" b="1">
                <a:solidFill>
                  <a:srgbClr val="303030"/>
                </a:solidFill>
                <a:latin typeface="Consolas"/>
              </a:rPr>
              <a:t> </a:t>
            </a:r>
            <a:r>
              <a:rPr lang="en-US" sz="1100" b="1" err="1">
                <a:solidFill>
                  <a:srgbClr val="303030"/>
                </a:solidFill>
                <a:latin typeface="Consolas"/>
              </a:rPr>
              <a:t>Complementaria</a:t>
            </a:r>
            <a:r>
              <a:rPr lang="en-US" sz="1100" b="1">
                <a:solidFill>
                  <a:srgbClr val="303030"/>
                </a:solidFill>
                <a:latin typeface="Consolas"/>
              </a:rPr>
              <a:t>)
if </a:t>
            </a:r>
            <a:r>
              <a:rPr lang="en-US" sz="1100" b="1" err="1">
                <a:solidFill>
                  <a:srgbClr val="303030"/>
                </a:solidFill>
                <a:latin typeface="Consolas"/>
              </a:rPr>
              <a:t>flujo</a:t>
            </a:r>
            <a:r>
              <a:rPr lang="en-US" sz="1100" b="1">
                <a:solidFill>
                  <a:srgbClr val="303030"/>
                </a:solidFill>
                <a:latin typeface="Consolas"/>
              </a:rPr>
              <a:t> &gt; 0:  
    </a:t>
            </a:r>
            <a:r>
              <a:rPr lang="en-US" sz="1100" b="1" err="1">
                <a:solidFill>
                  <a:srgbClr val="303030"/>
                </a:solidFill>
                <a:latin typeface="Consolas"/>
              </a:rPr>
              <a:t>G.add_edge</a:t>
            </a:r>
            <a:r>
              <a:rPr lang="en-US" sz="1100" b="1">
                <a:solidFill>
                  <a:srgbClr val="303030"/>
                </a:solidFill>
                <a:latin typeface="Consolas"/>
              </a:rPr>
              <a:t>(u, v, weight=</a:t>
            </a:r>
            <a:r>
              <a:rPr lang="en-US" sz="1100" b="1" err="1">
                <a:solidFill>
                  <a:srgbClr val="303030"/>
                </a:solidFill>
                <a:latin typeface="Consolas"/>
              </a:rPr>
              <a:t>flujo</a:t>
            </a:r>
            <a:r>
              <a:rPr lang="en-US" sz="1100" b="1">
                <a:solidFill>
                  <a:srgbClr val="303030"/>
                </a:solidFill>
                <a:latin typeface="Consolas"/>
              </a:rPr>
              <a:t>)</a:t>
            </a:r>
            <a:endParaRPr lang="en-US" b="1"/>
          </a:p>
        </p:txBody>
      </p:sp>
      <p:sp>
        <p:nvSpPr>
          <p:cNvPr id="10" name="TextBox 9">
            <a:extLst>
              <a:ext uri="{FF2B5EF4-FFF2-40B4-BE49-F238E27FC236}">
                <a16:creationId xmlns:a16="http://schemas.microsoft.com/office/drawing/2014/main" id="{B78E08FC-B0BF-7F2C-636F-6E7DC7D8A12F}"/>
              </a:ext>
            </a:extLst>
          </p:cNvPr>
          <p:cNvSpPr txBox="1"/>
          <p:nvPr/>
        </p:nvSpPr>
        <p:spPr>
          <a:xfrm>
            <a:off x="646309" y="3735653"/>
            <a:ext cx="6257532" cy="430887"/>
          </a:xfrm>
          <a:prstGeom prst="rect">
            <a:avLst/>
          </a:prstGeom>
          <a:solidFill>
            <a:schemeClr val="accent3">
              <a:lumMod val="40000"/>
              <a:lumOff val="60000"/>
            </a:schemeClr>
          </a:solidFill>
          <a:ln>
            <a:solidFill>
              <a:srgbClr val="00B050"/>
            </a:solid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03030"/>
                </a:solidFill>
                <a:latin typeface="Consolas"/>
              </a:rPr>
              <a:t># </a:t>
            </a:r>
            <a:r>
              <a:rPr lang="en-US" sz="1100" b="1" err="1">
                <a:solidFill>
                  <a:srgbClr val="303030"/>
                </a:solidFill>
                <a:latin typeface="Consolas"/>
              </a:rPr>
              <a:t>Renderización</a:t>
            </a:r>
            <a:r>
              <a:rPr lang="en-US" sz="1100" b="1">
                <a:solidFill>
                  <a:srgbClr val="303030"/>
                </a:solidFill>
                <a:latin typeface="Consolas"/>
              </a:rPr>
              <a:t> </a:t>
            </a:r>
            <a:r>
              <a:rPr lang="en-US" sz="1100" b="1" err="1">
                <a:solidFill>
                  <a:srgbClr val="303030"/>
                </a:solidFill>
                <a:latin typeface="Consolas"/>
              </a:rPr>
              <a:t>topológica</a:t>
            </a:r>
            <a:r>
              <a:rPr lang="en-US" sz="1100" b="1">
                <a:solidFill>
                  <a:srgbClr val="303030"/>
                </a:solidFill>
                <a:latin typeface="Consolas"/>
              </a:rPr>
              <a:t>
pos = </a:t>
            </a:r>
            <a:r>
              <a:rPr lang="en-US" sz="1100" b="1" err="1">
                <a:solidFill>
                  <a:srgbClr val="303030"/>
                </a:solidFill>
                <a:latin typeface="Consolas"/>
              </a:rPr>
              <a:t>nx.bipartite_layout</a:t>
            </a:r>
            <a:r>
              <a:rPr lang="en-US" sz="1100" b="1">
                <a:solidFill>
                  <a:srgbClr val="303030"/>
                </a:solidFill>
                <a:latin typeface="Consolas"/>
              </a:rPr>
              <a:t>(G, </a:t>
            </a:r>
            <a:r>
              <a:rPr lang="en-US" sz="1100" b="1" err="1">
                <a:solidFill>
                  <a:srgbClr val="303030"/>
                </a:solidFill>
                <a:latin typeface="Consolas"/>
              </a:rPr>
              <a:t>origenes</a:t>
            </a:r>
            <a:r>
              <a:rPr lang="en-US" sz="1100" b="1">
                <a:solidFill>
                  <a:srgbClr val="303030"/>
                </a:solidFill>
                <a:latin typeface="Consolas"/>
              </a:rPr>
              <a:t>)</a:t>
            </a:r>
            <a:endParaRPr lang="en-US"/>
          </a:p>
        </p:txBody>
      </p:sp>
      <p:sp>
        <p:nvSpPr>
          <p:cNvPr id="13" name="TextBox 12">
            <a:extLst>
              <a:ext uri="{FF2B5EF4-FFF2-40B4-BE49-F238E27FC236}">
                <a16:creationId xmlns:a16="http://schemas.microsoft.com/office/drawing/2014/main" id="{F1D6AD5A-C2F4-C705-9761-C37DF5210406}"/>
              </a:ext>
            </a:extLst>
          </p:cNvPr>
          <p:cNvSpPr txBox="1"/>
          <p:nvPr/>
        </p:nvSpPr>
        <p:spPr>
          <a:xfrm>
            <a:off x="637448" y="4409047"/>
            <a:ext cx="3351300" cy="1785104"/>
          </a:xfrm>
          <a:prstGeom prst="rect">
            <a:avLst/>
          </a:prstGeom>
          <a:solidFill>
            <a:schemeClr val="accent3">
              <a:lumMod val="40000"/>
              <a:lumOff val="60000"/>
            </a:schemeClr>
          </a:solidFill>
          <a:ln>
            <a:solidFill>
              <a:srgbClr val="00B050"/>
            </a:solid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03030"/>
                </a:solidFill>
                <a:latin typeface="Consolas"/>
                <a:ea typeface="+mn-lt"/>
                <a:cs typeface="+mn-lt"/>
              </a:rPr>
              <a:t>Costo Óptimo Total (Z*): $47,700.00 </a:t>
            </a:r>
            <a:endParaRPr lang="en-US">
              <a:solidFill>
                <a:srgbClr val="000000"/>
              </a:solidFill>
              <a:latin typeface="Calibri"/>
              <a:ea typeface="+mn-lt"/>
              <a:cs typeface="+mn-lt"/>
            </a:endParaRPr>
          </a:p>
          <a:p>
            <a:r>
              <a:rPr lang="en-US" sz="1100" b="1">
                <a:solidFill>
                  <a:srgbClr val="303030"/>
                </a:solidFill>
                <a:latin typeface="Consolas"/>
                <a:ea typeface="+mn-lt"/>
                <a:cs typeface="+mn-lt"/>
              </a:rPr>
              <a:t>--- FLUJOS ÓPTIMOS (</a:t>
            </a:r>
            <a:r>
              <a:rPr lang="en-US" sz="1100" b="1" err="1">
                <a:solidFill>
                  <a:srgbClr val="303030"/>
                </a:solidFill>
                <a:latin typeface="Consolas"/>
                <a:ea typeface="+mn-lt"/>
                <a:cs typeface="+mn-lt"/>
              </a:rPr>
              <a:t>Aristas</a:t>
            </a:r>
            <a:r>
              <a:rPr lang="en-US" sz="1100" b="1">
                <a:solidFill>
                  <a:srgbClr val="303030"/>
                </a:solidFill>
                <a:latin typeface="Consolas"/>
                <a:ea typeface="+mn-lt"/>
                <a:cs typeface="+mn-lt"/>
              </a:rPr>
              <a:t> Activas) --- </a:t>
            </a:r>
            <a:endParaRPr lang="en-US"/>
          </a:p>
          <a:p>
            <a:r>
              <a:rPr lang="en-US" sz="1100" b="1" err="1">
                <a:solidFill>
                  <a:srgbClr val="303030"/>
                </a:solidFill>
                <a:latin typeface="Consolas"/>
                <a:ea typeface="+mn-lt"/>
                <a:cs typeface="+mn-lt"/>
              </a:rPr>
              <a:t>Planta_A</a:t>
            </a:r>
            <a:r>
              <a:rPr lang="en-US" sz="1100" b="1">
                <a:solidFill>
                  <a:srgbClr val="303030"/>
                </a:solidFill>
                <a:latin typeface="Consolas"/>
                <a:ea typeface="+mn-lt"/>
                <a:cs typeface="+mn-lt"/>
              </a:rPr>
              <a:t> -&gt; Mercado_1: 1300.0 </a:t>
            </a:r>
            <a:r>
              <a:rPr lang="en-US" sz="1100" b="1" err="1">
                <a:solidFill>
                  <a:srgbClr val="303030"/>
                </a:solidFill>
                <a:latin typeface="Consolas"/>
                <a:ea typeface="+mn-lt"/>
                <a:cs typeface="+mn-lt"/>
              </a:rPr>
              <a:t>unidades</a:t>
            </a:r>
            <a:r>
              <a:rPr lang="en-US" sz="1100" b="1">
                <a:solidFill>
                  <a:srgbClr val="303030"/>
                </a:solidFill>
                <a:latin typeface="Consolas"/>
                <a:ea typeface="+mn-lt"/>
                <a:cs typeface="+mn-lt"/>
              </a:rPr>
              <a:t> </a:t>
            </a:r>
            <a:endParaRPr lang="en-US">
              <a:solidFill>
                <a:srgbClr val="000000"/>
              </a:solidFill>
              <a:latin typeface="Calibri"/>
              <a:ea typeface="+mn-lt"/>
              <a:cs typeface="+mn-lt"/>
            </a:endParaRPr>
          </a:p>
          <a:p>
            <a:r>
              <a:rPr lang="en-US" sz="1100" b="1" err="1">
                <a:solidFill>
                  <a:srgbClr val="303030"/>
                </a:solidFill>
                <a:latin typeface="Consolas"/>
                <a:ea typeface="+mn-lt"/>
                <a:cs typeface="+mn-lt"/>
              </a:rPr>
              <a:t>Planta_A</a:t>
            </a:r>
            <a:r>
              <a:rPr lang="en-US" sz="1100" b="1">
                <a:solidFill>
                  <a:srgbClr val="303030"/>
                </a:solidFill>
                <a:latin typeface="Consolas"/>
                <a:ea typeface="+mn-lt"/>
                <a:cs typeface="+mn-lt"/>
              </a:rPr>
              <a:t> -&gt; Mercado_2: 300.0 </a:t>
            </a:r>
            <a:r>
              <a:rPr lang="en-US" sz="1100" b="1" err="1">
                <a:solidFill>
                  <a:srgbClr val="303030"/>
                </a:solidFill>
                <a:latin typeface="Consolas"/>
                <a:ea typeface="+mn-lt"/>
                <a:cs typeface="+mn-lt"/>
              </a:rPr>
              <a:t>unidades</a:t>
            </a:r>
            <a:r>
              <a:rPr lang="en-US" sz="1100" b="1">
                <a:solidFill>
                  <a:srgbClr val="303030"/>
                </a:solidFill>
                <a:latin typeface="Consolas"/>
                <a:ea typeface="+mn-lt"/>
                <a:cs typeface="+mn-lt"/>
              </a:rPr>
              <a:t> </a:t>
            </a:r>
            <a:endParaRPr lang="en-US">
              <a:solidFill>
                <a:srgbClr val="000000"/>
              </a:solidFill>
              <a:latin typeface="Calibri"/>
              <a:ea typeface="+mn-lt"/>
              <a:cs typeface="+mn-lt"/>
            </a:endParaRPr>
          </a:p>
          <a:p>
            <a:r>
              <a:rPr lang="en-US" sz="1100" b="1" err="1">
                <a:solidFill>
                  <a:srgbClr val="303030"/>
                </a:solidFill>
                <a:latin typeface="Consolas"/>
                <a:ea typeface="+mn-lt"/>
                <a:cs typeface="+mn-lt"/>
              </a:rPr>
              <a:t>Planta_A</a:t>
            </a:r>
            <a:r>
              <a:rPr lang="en-US" sz="1100" b="1">
                <a:solidFill>
                  <a:srgbClr val="303030"/>
                </a:solidFill>
                <a:latin typeface="Consolas"/>
                <a:ea typeface="+mn-lt"/>
                <a:cs typeface="+mn-lt"/>
              </a:rPr>
              <a:t> -&gt; Mercado_4: 400.0 </a:t>
            </a:r>
            <a:r>
              <a:rPr lang="en-US" sz="1100" b="1" err="1">
                <a:solidFill>
                  <a:srgbClr val="303030"/>
                </a:solidFill>
                <a:latin typeface="Consolas"/>
                <a:ea typeface="+mn-lt"/>
                <a:cs typeface="+mn-lt"/>
              </a:rPr>
              <a:t>unidades</a:t>
            </a:r>
            <a:r>
              <a:rPr lang="en-US" sz="1100" b="1">
                <a:solidFill>
                  <a:srgbClr val="303030"/>
                </a:solidFill>
                <a:latin typeface="Consolas"/>
                <a:ea typeface="+mn-lt"/>
                <a:cs typeface="+mn-lt"/>
              </a:rPr>
              <a:t> </a:t>
            </a:r>
            <a:endParaRPr lang="en-US">
              <a:solidFill>
                <a:srgbClr val="000000"/>
              </a:solidFill>
              <a:latin typeface="Calibri"/>
              <a:ea typeface="+mn-lt"/>
              <a:cs typeface="+mn-lt"/>
            </a:endParaRPr>
          </a:p>
          <a:p>
            <a:r>
              <a:rPr lang="en-US" sz="1100" b="1" err="1">
                <a:solidFill>
                  <a:srgbClr val="303030"/>
                </a:solidFill>
                <a:latin typeface="Consolas"/>
                <a:ea typeface="+mn-lt"/>
                <a:cs typeface="+mn-lt"/>
              </a:rPr>
              <a:t>Planta_B</a:t>
            </a:r>
            <a:r>
              <a:rPr lang="en-US" sz="1100" b="1">
                <a:solidFill>
                  <a:srgbClr val="303030"/>
                </a:solidFill>
                <a:latin typeface="Consolas"/>
                <a:ea typeface="+mn-lt"/>
                <a:cs typeface="+mn-lt"/>
              </a:rPr>
              <a:t> -&gt; Mercado_2: 1500.0 </a:t>
            </a:r>
            <a:r>
              <a:rPr lang="en-US" sz="1100" b="1" err="1">
                <a:solidFill>
                  <a:srgbClr val="303030"/>
                </a:solidFill>
                <a:latin typeface="Consolas"/>
                <a:ea typeface="+mn-lt"/>
                <a:cs typeface="+mn-lt"/>
              </a:rPr>
              <a:t>unidades</a:t>
            </a:r>
            <a:r>
              <a:rPr lang="en-US" sz="1100" b="1">
                <a:solidFill>
                  <a:srgbClr val="303030"/>
                </a:solidFill>
                <a:latin typeface="Consolas"/>
                <a:ea typeface="+mn-lt"/>
                <a:cs typeface="+mn-lt"/>
              </a:rPr>
              <a:t> </a:t>
            </a:r>
            <a:endParaRPr lang="en-US">
              <a:solidFill>
                <a:srgbClr val="000000"/>
              </a:solidFill>
              <a:latin typeface="Calibri"/>
              <a:ea typeface="+mn-lt"/>
              <a:cs typeface="+mn-lt"/>
            </a:endParaRPr>
          </a:p>
          <a:p>
            <a:r>
              <a:rPr lang="en-US" sz="1100" b="1" err="1">
                <a:solidFill>
                  <a:srgbClr val="303030"/>
                </a:solidFill>
                <a:latin typeface="Consolas"/>
                <a:ea typeface="+mn-lt"/>
                <a:cs typeface="+mn-lt"/>
              </a:rPr>
              <a:t>Planta_C</a:t>
            </a:r>
            <a:r>
              <a:rPr lang="en-US" sz="1100" b="1">
                <a:solidFill>
                  <a:srgbClr val="303030"/>
                </a:solidFill>
                <a:latin typeface="Consolas"/>
                <a:ea typeface="+mn-lt"/>
                <a:cs typeface="+mn-lt"/>
              </a:rPr>
              <a:t> -&gt; Mercado_3: 900.0 </a:t>
            </a:r>
            <a:r>
              <a:rPr lang="en-US" sz="1100" b="1" err="1">
                <a:solidFill>
                  <a:srgbClr val="303030"/>
                </a:solidFill>
                <a:latin typeface="Consolas"/>
                <a:ea typeface="+mn-lt"/>
                <a:cs typeface="+mn-lt"/>
              </a:rPr>
              <a:t>unidades</a:t>
            </a:r>
            <a:r>
              <a:rPr lang="en-US" sz="1100" b="1">
                <a:solidFill>
                  <a:srgbClr val="303030"/>
                </a:solidFill>
                <a:latin typeface="Consolas"/>
                <a:ea typeface="+mn-lt"/>
                <a:cs typeface="+mn-lt"/>
              </a:rPr>
              <a:t> </a:t>
            </a:r>
            <a:endParaRPr lang="en-US">
              <a:solidFill>
                <a:srgbClr val="000000"/>
              </a:solidFill>
              <a:latin typeface="Calibri"/>
              <a:ea typeface="+mn-lt"/>
              <a:cs typeface="+mn-lt"/>
            </a:endParaRPr>
          </a:p>
          <a:p>
            <a:r>
              <a:rPr lang="en-US" sz="1100" b="1" err="1">
                <a:solidFill>
                  <a:srgbClr val="303030"/>
                </a:solidFill>
                <a:latin typeface="Consolas"/>
                <a:ea typeface="+mn-lt"/>
                <a:cs typeface="+mn-lt"/>
              </a:rPr>
              <a:t>Planta_C</a:t>
            </a:r>
            <a:r>
              <a:rPr lang="en-US" sz="1100" b="1">
                <a:solidFill>
                  <a:srgbClr val="303030"/>
                </a:solidFill>
                <a:latin typeface="Consolas"/>
                <a:ea typeface="+mn-lt"/>
                <a:cs typeface="+mn-lt"/>
              </a:rPr>
              <a:t> -&gt; Mercado_4: 100.0 </a:t>
            </a:r>
            <a:r>
              <a:rPr lang="en-US" sz="1100" b="1" err="1">
                <a:solidFill>
                  <a:srgbClr val="303030"/>
                </a:solidFill>
                <a:latin typeface="Consolas"/>
                <a:ea typeface="+mn-lt"/>
                <a:cs typeface="+mn-lt"/>
              </a:rPr>
              <a:t>unidades</a:t>
            </a:r>
            <a:r>
              <a:rPr lang="en-US" sz="1100" b="1">
                <a:solidFill>
                  <a:srgbClr val="303030"/>
                </a:solidFill>
                <a:latin typeface="Consolas"/>
                <a:ea typeface="+mn-lt"/>
                <a:cs typeface="+mn-lt"/>
              </a:rPr>
              <a:t> </a:t>
            </a:r>
            <a:endParaRPr lang="en-US">
              <a:solidFill>
                <a:srgbClr val="000000"/>
              </a:solidFill>
              <a:latin typeface="Calibri"/>
              <a:ea typeface="+mn-lt"/>
              <a:cs typeface="+mn-lt"/>
            </a:endParaRPr>
          </a:p>
          <a:p>
            <a:endParaRPr lang="en-US" sz="1100" b="1">
              <a:solidFill>
                <a:srgbClr val="303030"/>
              </a:solidFill>
              <a:latin typeface="Consolas"/>
              <a:ea typeface="Calibri"/>
              <a:cs typeface="Calibri"/>
            </a:endParaRPr>
          </a:p>
          <a:p>
            <a:endParaRPr lang="en-US" sz="1100" b="1">
              <a:solidFill>
                <a:srgbClr val="303030"/>
              </a:solidFill>
              <a:latin typeface="Consolas"/>
              <a:ea typeface="Calibri"/>
              <a:cs typeface="Calibri"/>
            </a:endParaRPr>
          </a:p>
        </p:txBody>
      </p:sp>
      <p:sp>
        <p:nvSpPr>
          <p:cNvPr id="15" name="TextBox 14">
            <a:extLst>
              <a:ext uri="{FF2B5EF4-FFF2-40B4-BE49-F238E27FC236}">
                <a16:creationId xmlns:a16="http://schemas.microsoft.com/office/drawing/2014/main" id="{8B83D9D8-AB09-269F-31AA-291F339B13A6}"/>
              </a:ext>
            </a:extLst>
          </p:cNvPr>
          <p:cNvSpPr txBox="1"/>
          <p:nvPr/>
        </p:nvSpPr>
        <p:spPr>
          <a:xfrm>
            <a:off x="4119611" y="4409047"/>
            <a:ext cx="2784231" cy="1785104"/>
          </a:xfrm>
          <a:prstGeom prst="rect">
            <a:avLst/>
          </a:prstGeom>
          <a:solidFill>
            <a:schemeClr val="accent3">
              <a:lumMod val="40000"/>
              <a:lumOff val="60000"/>
            </a:schemeClr>
          </a:solidFill>
          <a:ln>
            <a:solidFill>
              <a:srgbClr val="00B050"/>
            </a:solid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solidFill>
                  <a:srgbClr val="303030"/>
                </a:solidFill>
                <a:latin typeface="Consolas"/>
                <a:ea typeface="Calibri"/>
                <a:cs typeface="Calibri"/>
              </a:rPr>
              <a:t>--- PRECIOS SOMBRA (</a:t>
            </a:r>
            <a:r>
              <a:rPr lang="en-US" sz="1100" b="1" err="1">
                <a:solidFill>
                  <a:srgbClr val="303030"/>
                </a:solidFill>
                <a:latin typeface="Consolas"/>
                <a:ea typeface="Calibri"/>
                <a:cs typeface="Calibri"/>
              </a:rPr>
              <a:t>U_i</a:t>
            </a:r>
            <a:r>
              <a:rPr lang="en-US" sz="1100" b="1">
                <a:solidFill>
                  <a:srgbClr val="303030"/>
                </a:solidFill>
                <a:latin typeface="Consolas"/>
                <a:ea typeface="Calibri"/>
                <a:cs typeface="Calibri"/>
              </a:rPr>
              <a:t> y </a:t>
            </a:r>
            <a:r>
              <a:rPr lang="en-US" sz="1100" b="1" err="1">
                <a:solidFill>
                  <a:srgbClr val="303030"/>
                </a:solidFill>
                <a:latin typeface="Consolas"/>
                <a:ea typeface="Calibri"/>
                <a:cs typeface="Calibri"/>
              </a:rPr>
              <a:t>V_j</a:t>
            </a:r>
            <a:r>
              <a:rPr lang="en-US" sz="1100" b="1">
                <a:solidFill>
                  <a:srgbClr val="303030"/>
                </a:solidFill>
                <a:latin typeface="Consolas"/>
                <a:ea typeface="Calibri"/>
                <a:cs typeface="Calibri"/>
              </a:rPr>
              <a:t>) --- </a:t>
            </a:r>
            <a:endParaRPr lang="en-US" sz="1100">
              <a:solidFill>
                <a:srgbClr val="000000"/>
              </a:solidFill>
              <a:latin typeface="Consolas"/>
              <a:ea typeface="Calibri"/>
              <a:cs typeface="Calibri"/>
            </a:endParaRPr>
          </a:p>
          <a:p>
            <a:r>
              <a:rPr lang="en-US" sz="1100" b="1" err="1">
                <a:solidFill>
                  <a:srgbClr val="303030"/>
                </a:solidFill>
                <a:latin typeface="Consolas"/>
                <a:ea typeface="Calibri"/>
                <a:cs typeface="Calibri"/>
              </a:rPr>
              <a:t>U_i</a:t>
            </a:r>
            <a:r>
              <a:rPr lang="en-US" sz="1100" b="1">
                <a:solidFill>
                  <a:srgbClr val="303030"/>
                </a:solidFill>
                <a:latin typeface="Consolas"/>
                <a:ea typeface="Calibri"/>
                <a:cs typeface="Calibri"/>
              </a:rPr>
              <a:t> para </a:t>
            </a:r>
            <a:r>
              <a:rPr lang="en-US" sz="1100" b="1" err="1">
                <a:solidFill>
                  <a:srgbClr val="303030"/>
                </a:solidFill>
                <a:latin typeface="Consolas"/>
                <a:ea typeface="Calibri"/>
                <a:cs typeface="Calibri"/>
              </a:rPr>
              <a:t>Planta_A</a:t>
            </a:r>
            <a:r>
              <a:rPr lang="en-US" sz="1100" b="1">
                <a:solidFill>
                  <a:srgbClr val="303030"/>
                </a:solidFill>
                <a:latin typeface="Consolas"/>
                <a:ea typeface="Calibri"/>
                <a:cs typeface="Calibri"/>
              </a:rPr>
              <a:t>: 10.0 </a:t>
            </a:r>
            <a:endParaRPr lang="en-US" sz="1100">
              <a:solidFill>
                <a:srgbClr val="000000"/>
              </a:solidFill>
              <a:latin typeface="Consolas"/>
              <a:ea typeface="Calibri"/>
              <a:cs typeface="Calibri"/>
            </a:endParaRPr>
          </a:p>
          <a:p>
            <a:r>
              <a:rPr lang="en-US" sz="1100" b="1">
                <a:solidFill>
                  <a:srgbClr val="303030"/>
                </a:solidFill>
                <a:latin typeface="Consolas"/>
                <a:ea typeface="Calibri"/>
                <a:cs typeface="Calibri"/>
              </a:rPr>
              <a:t>U_i para Planta_B: 5.0 </a:t>
            </a:r>
            <a:endParaRPr lang="en-US" sz="1100">
              <a:solidFill>
                <a:srgbClr val="000000"/>
              </a:solidFill>
              <a:latin typeface="Consolas"/>
              <a:ea typeface="Calibri"/>
              <a:cs typeface="Calibri"/>
            </a:endParaRPr>
          </a:p>
          <a:p>
            <a:r>
              <a:rPr lang="en-US" sz="1100" b="1">
                <a:solidFill>
                  <a:srgbClr val="303030"/>
                </a:solidFill>
                <a:latin typeface="Consolas"/>
                <a:ea typeface="Calibri"/>
                <a:cs typeface="Calibri"/>
              </a:rPr>
              <a:t>U_i para Planta_C: 12.0 </a:t>
            </a:r>
            <a:endParaRPr lang="en-US" sz="1100">
              <a:solidFill>
                <a:srgbClr val="000000"/>
              </a:solidFill>
              <a:latin typeface="Consolas"/>
              <a:ea typeface="Calibri"/>
              <a:cs typeface="Calibri"/>
            </a:endParaRPr>
          </a:p>
          <a:p>
            <a:r>
              <a:rPr lang="en-US" sz="1100" b="1">
                <a:solidFill>
                  <a:srgbClr val="303030"/>
                </a:solidFill>
                <a:latin typeface="Consolas"/>
                <a:ea typeface="Calibri"/>
                <a:cs typeface="Calibri"/>
              </a:rPr>
              <a:t>V_j para Mercado_1: 0.0 </a:t>
            </a:r>
            <a:endParaRPr lang="en-US" sz="1100">
              <a:solidFill>
                <a:srgbClr val="000000"/>
              </a:solidFill>
              <a:latin typeface="Consolas"/>
              <a:ea typeface="Calibri"/>
              <a:cs typeface="Calibri"/>
            </a:endParaRPr>
          </a:p>
          <a:p>
            <a:r>
              <a:rPr lang="en-US" sz="1100" b="1">
                <a:solidFill>
                  <a:srgbClr val="303030"/>
                </a:solidFill>
                <a:latin typeface="Consolas"/>
                <a:ea typeface="Calibri"/>
                <a:cs typeface="Calibri"/>
              </a:rPr>
              <a:t>V_j para Mercado_2: 5.0 </a:t>
            </a:r>
            <a:endParaRPr lang="en-US" sz="1100">
              <a:solidFill>
                <a:srgbClr val="000000"/>
              </a:solidFill>
              <a:latin typeface="Consolas"/>
              <a:ea typeface="Calibri"/>
              <a:cs typeface="Calibri"/>
            </a:endParaRPr>
          </a:p>
          <a:p>
            <a:r>
              <a:rPr lang="en-US" sz="1100" b="1">
                <a:solidFill>
                  <a:srgbClr val="303030"/>
                </a:solidFill>
                <a:latin typeface="Consolas"/>
                <a:ea typeface="Calibri"/>
                <a:cs typeface="Calibri"/>
              </a:rPr>
              <a:t>V_j para Mercado_3: -2.0 </a:t>
            </a:r>
            <a:endParaRPr lang="en-US" sz="1100">
              <a:solidFill>
                <a:srgbClr val="000000"/>
              </a:solidFill>
              <a:latin typeface="Consolas"/>
              <a:ea typeface="Calibri"/>
              <a:cs typeface="Calibri"/>
            </a:endParaRPr>
          </a:p>
          <a:p>
            <a:r>
              <a:rPr lang="en-US" sz="1100" b="1">
                <a:solidFill>
                  <a:srgbClr val="303030"/>
                </a:solidFill>
                <a:latin typeface="Consolas"/>
                <a:ea typeface="Calibri"/>
                <a:cs typeface="Calibri"/>
              </a:rPr>
              <a:t>V_j para Mercado_4: 2.0</a:t>
            </a:r>
            <a:endParaRPr lang="en-US"/>
          </a:p>
          <a:p>
            <a:endParaRPr lang="en-US" sz="1100" b="1">
              <a:solidFill>
                <a:srgbClr val="303030"/>
              </a:solidFill>
              <a:latin typeface="Consolas"/>
              <a:ea typeface="Calibri"/>
              <a:cs typeface="Calibri"/>
            </a:endParaRPr>
          </a:p>
        </p:txBody>
      </p:sp>
    </p:spTree>
    <p:extLst>
      <p:ext uri="{BB962C8B-B14F-4D97-AF65-F5344CB8AC3E}">
        <p14:creationId xmlns:p14="http://schemas.microsoft.com/office/powerpoint/2010/main" val="29734344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C5B3CBE-61AF-E981-41AC-5F1B5B381F4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0BA78B7-BB5B-A362-E830-28D2E2AB1F5A}"/>
              </a:ext>
            </a:extLst>
          </p:cNvPr>
          <p:cNvSpPr/>
          <p:nvPr/>
        </p:nvSpPr>
        <p:spPr>
          <a:xfrm>
            <a:off x="548640" y="320040"/>
            <a:ext cx="11094415" cy="228600"/>
          </a:xfrm>
          <a:prstGeom prst="rect">
            <a:avLst/>
          </a:prstGeom>
          <a:noFill/>
          <a:ln/>
        </p:spPr>
        <p:txBody>
          <a:bodyPr wrap="square" lIns="0" tIns="0" rIns="0" bIns="0" rtlCol="0" anchor="ctr"/>
          <a:lstStyle/>
          <a:p>
            <a:pPr marL="0" indent="0" algn="l">
              <a:buNone/>
            </a:pPr>
            <a:r>
              <a:rPr lang="en-US" sz="800" b="1" kern="0" spc="600">
                <a:solidFill>
                  <a:srgbClr val="4A0F22"/>
                </a:solidFill>
                <a:latin typeface="Inter" pitchFamily="34" charset="0"/>
                <a:ea typeface="Inter" pitchFamily="34" charset="-122"/>
                <a:cs typeface="Inter" pitchFamily="34" charset="-120"/>
              </a:rPr>
              <a:t>INFOTEC   ·   M.C.D.I.   ·   Matemáticas 2026-1</a:t>
            </a:r>
            <a:endParaRPr lang="en-US" sz="800"/>
          </a:p>
        </p:txBody>
      </p:sp>
      <p:sp>
        <p:nvSpPr>
          <p:cNvPr id="3" name="Shape 1">
            <a:extLst>
              <a:ext uri="{FF2B5EF4-FFF2-40B4-BE49-F238E27FC236}">
                <a16:creationId xmlns:a16="http://schemas.microsoft.com/office/drawing/2014/main" id="{626BBF7E-16BF-A00D-811A-618FA8C3E82F}"/>
              </a:ext>
            </a:extLst>
          </p:cNvPr>
          <p:cNvSpPr/>
          <p:nvPr/>
        </p:nvSpPr>
        <p:spPr>
          <a:xfrm>
            <a:off x="548640" y="566928"/>
            <a:ext cx="11094415" cy="10973"/>
          </a:xfrm>
          <a:prstGeom prst="rect">
            <a:avLst/>
          </a:prstGeom>
          <a:solidFill>
            <a:srgbClr val="000000"/>
          </a:solidFill>
          <a:ln w="12700">
            <a:solidFill>
              <a:srgbClr val="333333"/>
            </a:solidFill>
            <a:prstDash val="solid"/>
          </a:ln>
        </p:spPr>
        <p:txBody>
          <a:bodyPr/>
          <a:lstStyle/>
          <a:p>
            <a:endParaRPr lang="en-MX"/>
          </a:p>
        </p:txBody>
      </p:sp>
      <p:sp>
        <p:nvSpPr>
          <p:cNvPr id="5" name="Text 3">
            <a:extLst>
              <a:ext uri="{FF2B5EF4-FFF2-40B4-BE49-F238E27FC236}">
                <a16:creationId xmlns:a16="http://schemas.microsoft.com/office/drawing/2014/main" id="{0BC34A12-0340-3370-5080-E47353B35C36}"/>
              </a:ext>
            </a:extLst>
          </p:cNvPr>
          <p:cNvSpPr/>
          <p:nvPr/>
        </p:nvSpPr>
        <p:spPr>
          <a:xfrm>
            <a:off x="640080" y="1097280"/>
            <a:ext cx="10911535" cy="868680"/>
          </a:xfrm>
          <a:prstGeom prst="rect">
            <a:avLst/>
          </a:prstGeom>
          <a:noFill/>
          <a:ln/>
        </p:spPr>
        <p:txBody>
          <a:bodyPr wrap="square" lIns="0" tIns="0" rIns="0" bIns="0" rtlCol="0" anchor="t"/>
          <a:lstStyle/>
          <a:p>
            <a:r>
              <a:rPr lang="es-ES" sz="3000" b="1">
                <a:solidFill>
                  <a:srgbClr val="B89058"/>
                </a:solidFill>
                <a:latin typeface="Garamond"/>
              </a:rPr>
              <a:t>13.</a:t>
            </a:r>
            <a:r>
              <a:rPr sz="3000" b="1">
                <a:solidFill>
                  <a:srgbClr val="B89058"/>
                </a:solidFill>
                <a:latin typeface="Garamond"/>
              </a:rPr>
              <a:t> </a:t>
            </a:r>
            <a:r>
              <a:rPr lang="es-ES" sz="3000" b="1">
                <a:solidFill>
                  <a:srgbClr val="4A0F22"/>
                </a:solidFill>
                <a:latin typeface="Garamond"/>
              </a:rPr>
              <a:t>Conclusiones de la Sección y Análisis Estructural</a:t>
            </a:r>
            <a:endParaRPr lang="en-US" sz="3800"/>
          </a:p>
        </p:txBody>
      </p:sp>
      <p:sp>
        <p:nvSpPr>
          <p:cNvPr id="6" name="Shape 4">
            <a:extLst>
              <a:ext uri="{FF2B5EF4-FFF2-40B4-BE49-F238E27FC236}">
                <a16:creationId xmlns:a16="http://schemas.microsoft.com/office/drawing/2014/main" id="{DF1D9294-7E28-FD06-D6C8-34EBD723E0E5}"/>
              </a:ext>
            </a:extLst>
          </p:cNvPr>
          <p:cNvSpPr/>
          <p:nvPr/>
        </p:nvSpPr>
        <p:spPr>
          <a:xfrm>
            <a:off x="640080" y="2057400"/>
            <a:ext cx="10911535" cy="10973"/>
          </a:xfrm>
          <a:prstGeom prst="rect">
            <a:avLst/>
          </a:prstGeom>
          <a:solidFill>
            <a:srgbClr val="000000"/>
          </a:solidFill>
          <a:ln w="12700">
            <a:solidFill>
              <a:srgbClr val="333333"/>
            </a:solidFill>
            <a:prstDash val="solid"/>
          </a:ln>
        </p:spPr>
        <p:txBody>
          <a:bodyPr/>
          <a:lstStyle/>
          <a:p>
            <a:endParaRPr lang="en-MX"/>
          </a:p>
        </p:txBody>
      </p:sp>
      <p:sp>
        <p:nvSpPr>
          <p:cNvPr id="18" name="Shape 9">
            <a:extLst>
              <a:ext uri="{FF2B5EF4-FFF2-40B4-BE49-F238E27FC236}">
                <a16:creationId xmlns:a16="http://schemas.microsoft.com/office/drawing/2014/main" id="{78B3BCAF-D62F-CBBA-BD9E-3B5812197C0C}"/>
              </a:ext>
            </a:extLst>
          </p:cNvPr>
          <p:cNvSpPr/>
          <p:nvPr/>
        </p:nvSpPr>
        <p:spPr>
          <a:xfrm>
            <a:off x="548640" y="6473952"/>
            <a:ext cx="11094415" cy="10973"/>
          </a:xfrm>
          <a:prstGeom prst="rect">
            <a:avLst/>
          </a:prstGeom>
          <a:solidFill>
            <a:srgbClr val="E0D8CC"/>
          </a:solidFill>
          <a:ln w="12700">
            <a:solidFill>
              <a:srgbClr val="E0D8CC"/>
            </a:solidFill>
            <a:prstDash val="solid"/>
          </a:ln>
        </p:spPr>
        <p:txBody>
          <a:bodyPr/>
          <a:lstStyle/>
          <a:p>
            <a:endParaRPr lang="en-MX"/>
          </a:p>
        </p:txBody>
      </p:sp>
      <p:sp>
        <p:nvSpPr>
          <p:cNvPr id="19" name="Text 10">
            <a:extLst>
              <a:ext uri="{FF2B5EF4-FFF2-40B4-BE49-F238E27FC236}">
                <a16:creationId xmlns:a16="http://schemas.microsoft.com/office/drawing/2014/main" id="{89DE5F59-1DA6-668D-C06A-432449A9A560}"/>
              </a:ext>
            </a:extLst>
          </p:cNvPr>
          <p:cNvSpPr/>
          <p:nvPr/>
        </p:nvSpPr>
        <p:spPr>
          <a:xfrm>
            <a:off x="548640" y="6565392"/>
            <a:ext cx="1828800" cy="182880"/>
          </a:xfrm>
          <a:prstGeom prst="rect">
            <a:avLst/>
          </a:prstGeom>
          <a:noFill/>
          <a:ln/>
        </p:spPr>
        <p:txBody>
          <a:bodyPr wrap="square" lIns="0" tIns="0" rIns="0" bIns="0" rtlCol="0" anchor="ctr"/>
          <a:lstStyle/>
          <a:p>
            <a:pPr marL="0" indent="0" algn="l">
              <a:buNone/>
            </a:pPr>
            <a:r>
              <a:rPr lang="en-US" sz="800" b="1" kern="0" spc="400">
                <a:solidFill>
                  <a:srgbClr val="7A6F73"/>
                </a:solidFill>
                <a:latin typeface="Inter" pitchFamily="34" charset="0"/>
                <a:ea typeface="Inter" pitchFamily="34" charset="-122"/>
                <a:cs typeface="Inter" pitchFamily="34" charset="-120"/>
              </a:rPr>
              <a:t>M.C.D.I.</a:t>
            </a:r>
            <a:endParaRPr lang="en-US" sz="800"/>
          </a:p>
        </p:txBody>
      </p:sp>
      <p:sp>
        <p:nvSpPr>
          <p:cNvPr id="20" name="Text 11">
            <a:extLst>
              <a:ext uri="{FF2B5EF4-FFF2-40B4-BE49-F238E27FC236}">
                <a16:creationId xmlns:a16="http://schemas.microsoft.com/office/drawing/2014/main" id="{32409E34-BA4A-9D66-FD7A-2ED790D01D72}"/>
              </a:ext>
            </a:extLst>
          </p:cNvPr>
          <p:cNvSpPr/>
          <p:nvPr/>
        </p:nvSpPr>
        <p:spPr>
          <a:xfrm>
            <a:off x="4724248" y="6565392"/>
            <a:ext cx="2743200" cy="182880"/>
          </a:xfrm>
          <a:prstGeom prst="rect">
            <a:avLst/>
          </a:prstGeom>
          <a:noFill/>
          <a:ln/>
        </p:spPr>
        <p:txBody>
          <a:bodyPr wrap="square" lIns="0" tIns="0" rIns="0" bIns="0" rtlCol="0" anchor="ctr"/>
          <a:lstStyle/>
          <a:p>
            <a:pPr marL="0" indent="0" algn="ctr">
              <a:buNone/>
            </a:pPr>
            <a:r>
              <a:rPr lang="en-US" sz="900" i="1">
                <a:solidFill>
                  <a:srgbClr val="8C6A38"/>
                </a:solidFill>
                <a:latin typeface="Garamond" pitchFamily="34" charset="0"/>
                <a:ea typeface="Garamond" pitchFamily="34" charset="-122"/>
                <a:cs typeface="Garamond" pitchFamily="34" charset="-120"/>
              </a:rPr>
              <a:t>—  10 / 20  —</a:t>
            </a:r>
            <a:endParaRPr lang="en-US" sz="900"/>
          </a:p>
        </p:txBody>
      </p:sp>
      <p:sp>
        <p:nvSpPr>
          <p:cNvPr id="21" name="Text 12">
            <a:extLst>
              <a:ext uri="{FF2B5EF4-FFF2-40B4-BE49-F238E27FC236}">
                <a16:creationId xmlns:a16="http://schemas.microsoft.com/office/drawing/2014/main" id="{10B51D4A-BE0A-C1F2-77AE-89D6C49DC556}"/>
              </a:ext>
            </a:extLst>
          </p:cNvPr>
          <p:cNvSpPr/>
          <p:nvPr/>
        </p:nvSpPr>
        <p:spPr>
          <a:xfrm>
            <a:off x="8899855" y="6565392"/>
            <a:ext cx="2743200" cy="182880"/>
          </a:xfrm>
          <a:prstGeom prst="rect">
            <a:avLst/>
          </a:prstGeom>
          <a:noFill/>
          <a:ln/>
        </p:spPr>
        <p:txBody>
          <a:bodyPr wrap="square" lIns="0" tIns="0" rIns="0" bIns="0" rtlCol="0" anchor="ctr"/>
          <a:lstStyle/>
          <a:p>
            <a:pPr marL="0" indent="0" algn="r">
              <a:buNone/>
            </a:pPr>
            <a:r>
              <a:rPr lang="en-US" sz="800" i="1">
                <a:solidFill>
                  <a:srgbClr val="7A6F73"/>
                </a:solidFill>
                <a:latin typeface="Garamond" pitchFamily="34" charset="0"/>
                <a:ea typeface="Garamond" pitchFamily="34" charset="-122"/>
                <a:cs typeface="Garamond" pitchFamily="34" charset="-120"/>
              </a:rPr>
              <a:t>Equipo 5</a:t>
            </a:r>
            <a:endParaRPr lang="en-US" sz="800"/>
          </a:p>
        </p:txBody>
      </p:sp>
      <p:sp>
        <p:nvSpPr>
          <p:cNvPr id="11" name="Text 2">
            <a:extLst>
              <a:ext uri="{FF2B5EF4-FFF2-40B4-BE49-F238E27FC236}">
                <a16:creationId xmlns:a16="http://schemas.microsoft.com/office/drawing/2014/main" id="{96767C83-E989-E15D-2337-64D9D25C6F58}"/>
              </a:ext>
            </a:extLst>
          </p:cNvPr>
          <p:cNvSpPr/>
          <p:nvPr/>
        </p:nvSpPr>
        <p:spPr>
          <a:xfrm>
            <a:off x="640080" y="868680"/>
            <a:ext cx="4572000" cy="228600"/>
          </a:xfrm>
          <a:prstGeom prst="rect">
            <a:avLst/>
          </a:prstGeom>
          <a:noFill/>
          <a:ln/>
        </p:spPr>
        <p:txBody>
          <a:bodyPr wrap="square" lIns="0" tIns="0" rIns="0" bIns="0" rtlCol="0" anchor="t"/>
          <a:lstStyle/>
          <a:p>
            <a:pPr marL="0" indent="0" algn="l">
              <a:buNone/>
            </a:pPr>
            <a:r>
              <a:rPr lang="en-US" sz="900" b="1" kern="0" spc="300">
                <a:solidFill>
                  <a:srgbClr val="8C6A38"/>
                </a:solidFill>
                <a:latin typeface="Inter" pitchFamily="34" charset="0"/>
                <a:ea typeface="Inter" pitchFamily="34" charset="-122"/>
                <a:cs typeface="Inter" pitchFamily="34" charset="-120"/>
              </a:rPr>
              <a:t>SECCION 2</a:t>
            </a:r>
            <a:endParaRPr lang="en-US" sz="900" spc="300"/>
          </a:p>
        </p:txBody>
      </p:sp>
      <p:pic>
        <p:nvPicPr>
          <p:cNvPr id="4" name="Picture 3">
            <a:extLst>
              <a:ext uri="{FF2B5EF4-FFF2-40B4-BE49-F238E27FC236}">
                <a16:creationId xmlns:a16="http://schemas.microsoft.com/office/drawing/2014/main" id="{1D8B1123-CE32-0696-5F13-00693705F4E8}"/>
              </a:ext>
            </a:extLst>
          </p:cNvPr>
          <p:cNvPicPr>
            <a:picLocks noChangeAspect="1"/>
          </p:cNvPicPr>
          <p:nvPr/>
        </p:nvPicPr>
        <p:blipFill>
          <a:blip r:embed="rId4"/>
          <a:srcRect t="28734" b="2740"/>
          <a:stretch>
            <a:fillRect/>
          </a:stretch>
        </p:blipFill>
        <p:spPr>
          <a:xfrm>
            <a:off x="640079" y="2194560"/>
            <a:ext cx="10911535" cy="4173308"/>
          </a:xfrm>
          <a:prstGeom prst="rect">
            <a:avLst/>
          </a:prstGeom>
        </p:spPr>
      </p:pic>
    </p:spTree>
    <p:extLst>
      <p:ext uri="{BB962C8B-B14F-4D97-AF65-F5344CB8AC3E}">
        <p14:creationId xmlns:p14="http://schemas.microsoft.com/office/powerpoint/2010/main" val="17051840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228600"/>
          </a:xfrm>
          <a:prstGeom prst="rect">
            <a:avLst/>
          </a:prstGeom>
          <a:noFill/>
          <a:ln/>
        </p:spPr>
        <p:txBody>
          <a:bodyPr wrap="square" lIns="0" tIns="0" rIns="0" bIns="0" rtlCol="0" anchor="ctr"/>
          <a:lstStyle/>
          <a:p>
            <a:pPr marL="0" indent="0" algn="l">
              <a:buNone/>
            </a:pPr>
            <a:r>
              <a:rPr lang="en-US" sz="800" b="1" kern="0" spc="600">
                <a:solidFill>
                  <a:srgbClr val="4A0F22"/>
                </a:solidFill>
                <a:latin typeface="Inter" pitchFamily="34" charset="0"/>
                <a:ea typeface="Inter" pitchFamily="34" charset="-122"/>
                <a:cs typeface="Inter" pitchFamily="34" charset="-120"/>
              </a:rPr>
              <a:t>INFOTEC   ·   M.C.D.I.   ·   Matemáticas 2026-1</a:t>
            </a:r>
            <a:endParaRPr lang="en-US" sz="800"/>
          </a:p>
        </p:txBody>
      </p:sp>
      <p:sp>
        <p:nvSpPr>
          <p:cNvPr id="3" name="Shape 1"/>
          <p:cNvSpPr/>
          <p:nvPr/>
        </p:nvSpPr>
        <p:spPr>
          <a:xfrm>
            <a:off x="548640" y="566928"/>
            <a:ext cx="11094415" cy="10973"/>
          </a:xfrm>
          <a:prstGeom prst="rect">
            <a:avLst/>
          </a:prstGeom>
          <a:solidFill>
            <a:srgbClr val="000000"/>
          </a:solidFill>
          <a:ln w="12700">
            <a:solidFill>
              <a:srgbClr val="333333"/>
            </a:solidFill>
            <a:prstDash val="solid"/>
          </a:ln>
        </p:spPr>
        <p:txBody>
          <a:bodyPr/>
          <a:lstStyle/>
          <a:p>
            <a:endParaRPr lang="en-MX"/>
          </a:p>
        </p:txBody>
      </p:sp>
      <p:sp>
        <p:nvSpPr>
          <p:cNvPr id="5" name="Text 3"/>
          <p:cNvSpPr/>
          <p:nvPr/>
        </p:nvSpPr>
        <p:spPr>
          <a:xfrm>
            <a:off x="640080" y="1097280"/>
            <a:ext cx="10911535" cy="868680"/>
          </a:xfrm>
          <a:prstGeom prst="rect">
            <a:avLst/>
          </a:prstGeom>
          <a:noFill/>
          <a:ln/>
        </p:spPr>
        <p:txBody>
          <a:bodyPr wrap="square" lIns="0" tIns="0" rIns="0" bIns="0" rtlCol="0" anchor="t"/>
          <a:lstStyle/>
          <a:p>
            <a:r>
              <a:rPr lang="es-ES" sz="3000" b="1">
                <a:solidFill>
                  <a:srgbClr val="B89058"/>
                </a:solidFill>
                <a:latin typeface="Garamond"/>
              </a:rPr>
              <a:t>14.</a:t>
            </a:r>
            <a:r>
              <a:rPr sz="3000" b="1">
                <a:solidFill>
                  <a:srgbClr val="B89058"/>
                </a:solidFill>
                <a:latin typeface="Garamond"/>
              </a:rPr>
              <a:t> </a:t>
            </a:r>
            <a:r>
              <a:rPr sz="3000" b="1" err="1">
                <a:solidFill>
                  <a:srgbClr val="4A0F22"/>
                </a:solidFill>
                <a:latin typeface="Garamond"/>
              </a:rPr>
              <a:t>Ejemplo</a:t>
            </a:r>
            <a:r>
              <a:rPr sz="3000" b="1">
                <a:solidFill>
                  <a:srgbClr val="4A0F22"/>
                </a:solidFill>
                <a:latin typeface="Garamond"/>
              </a:rPr>
              <a:t> 1: Mercado Libre — Buen Fin 2026</a:t>
            </a:r>
            <a:endParaRPr lang="en-US" sz="3800"/>
          </a:p>
        </p:txBody>
      </p:sp>
      <p:sp>
        <p:nvSpPr>
          <p:cNvPr id="6" name="Shape 4"/>
          <p:cNvSpPr/>
          <p:nvPr/>
        </p:nvSpPr>
        <p:spPr>
          <a:xfrm>
            <a:off x="640080" y="2057400"/>
            <a:ext cx="10911535" cy="10973"/>
          </a:xfrm>
          <a:prstGeom prst="rect">
            <a:avLst/>
          </a:prstGeom>
          <a:solidFill>
            <a:srgbClr val="000000"/>
          </a:solidFill>
          <a:ln w="12700">
            <a:solidFill>
              <a:srgbClr val="333333"/>
            </a:solidFill>
            <a:prstDash val="solid"/>
          </a:ln>
        </p:spPr>
        <p:txBody>
          <a:bodyPr/>
          <a:lstStyle/>
          <a:p>
            <a:endParaRPr lang="en-MX"/>
          </a:p>
        </p:txBody>
      </p:sp>
      <p:sp>
        <p:nvSpPr>
          <p:cNvPr id="7" name="Text 5"/>
          <p:cNvSpPr/>
          <p:nvPr/>
        </p:nvSpPr>
        <p:spPr>
          <a:xfrm>
            <a:off x="353961" y="2182045"/>
            <a:ext cx="11690555" cy="3883351"/>
          </a:xfrm>
          <a:prstGeom prst="rect">
            <a:avLst/>
          </a:prstGeom>
          <a:noFill/>
          <a:ln/>
        </p:spPr>
        <p:txBody>
          <a:bodyPr wrap="square" lIns="0" tIns="0" rIns="0" bIns="0" rtlCol="0" anchor="t"/>
          <a:lstStyle/>
          <a:p>
            <a:pPr>
              <a:buNone/>
            </a:pPr>
            <a:r>
              <a:rPr lang="en-US" sz="1600">
                <a:solidFill>
                  <a:srgbClr val="2A2226"/>
                </a:solidFill>
                <a:ea typeface="+mn-lt"/>
                <a:cs typeface="+mn-lt"/>
              </a:rPr>
              <a:t>•</a:t>
            </a:r>
            <a:r>
              <a:rPr lang="en-US" sz="1600" b="1">
                <a:solidFill>
                  <a:srgbClr val="2A2226"/>
                </a:solidFill>
                <a:ea typeface="+mn-lt"/>
                <a:cs typeface="+mn-lt"/>
              </a:rPr>
              <a:t>El </a:t>
            </a:r>
            <a:r>
              <a:rPr lang="en-US" sz="1600" b="1" err="1">
                <a:solidFill>
                  <a:srgbClr val="2A2226"/>
                </a:solidFill>
                <a:ea typeface="+mn-lt"/>
                <a:cs typeface="+mn-lt"/>
              </a:rPr>
              <a:t>Problema</a:t>
            </a:r>
            <a:r>
              <a:rPr lang="en-US" sz="1600" b="1">
                <a:solidFill>
                  <a:srgbClr val="2A2226"/>
                </a:solidFill>
                <a:ea typeface="+mn-lt"/>
                <a:cs typeface="+mn-lt"/>
              </a:rPr>
              <a:t>:</a:t>
            </a:r>
            <a:r>
              <a:rPr lang="en-US" sz="1600">
                <a:solidFill>
                  <a:srgbClr val="2A2226"/>
                </a:solidFill>
                <a:ea typeface="+mn-lt"/>
                <a:cs typeface="+mn-lt"/>
              </a:rPr>
              <a:t> Mercado Libre </a:t>
            </a:r>
            <a:r>
              <a:rPr lang="en-US" sz="1600" err="1">
                <a:solidFill>
                  <a:srgbClr val="2A2226"/>
                </a:solidFill>
                <a:ea typeface="+mn-lt"/>
                <a:cs typeface="+mn-lt"/>
              </a:rPr>
              <a:t>necesita</a:t>
            </a:r>
            <a:r>
              <a:rPr lang="en-US" sz="1600">
                <a:solidFill>
                  <a:srgbClr val="2A2226"/>
                </a:solidFill>
                <a:ea typeface="+mn-lt"/>
                <a:cs typeface="+mn-lt"/>
              </a:rPr>
              <a:t> </a:t>
            </a:r>
            <a:r>
              <a:rPr lang="en-US" sz="1600" err="1">
                <a:solidFill>
                  <a:srgbClr val="2A2226"/>
                </a:solidFill>
                <a:ea typeface="+mn-lt"/>
                <a:cs typeface="+mn-lt"/>
              </a:rPr>
              <a:t>distribuir</a:t>
            </a:r>
            <a:r>
              <a:rPr lang="en-US" sz="1600">
                <a:solidFill>
                  <a:srgbClr val="2A2226"/>
                </a:solidFill>
                <a:ea typeface="+mn-lt"/>
                <a:cs typeface="+mn-lt"/>
              </a:rPr>
              <a:t> 120 </a:t>
            </a:r>
            <a:r>
              <a:rPr lang="en-US" sz="1600" err="1">
                <a:solidFill>
                  <a:srgbClr val="2A2226"/>
                </a:solidFill>
                <a:ea typeface="+mn-lt"/>
                <a:cs typeface="+mn-lt"/>
              </a:rPr>
              <a:t>lotes</a:t>
            </a:r>
            <a:r>
              <a:rPr lang="en-US" sz="1600">
                <a:solidFill>
                  <a:srgbClr val="2A2226"/>
                </a:solidFill>
                <a:ea typeface="+mn-lt"/>
                <a:cs typeface="+mn-lt"/>
              </a:rPr>
              <a:t> de iPhone 18 </a:t>
            </a:r>
            <a:r>
              <a:rPr lang="en-US" sz="1600" err="1">
                <a:solidFill>
                  <a:srgbClr val="2A2226"/>
                </a:solidFill>
                <a:ea typeface="+mn-lt"/>
                <a:cs typeface="+mn-lt"/>
              </a:rPr>
              <a:t>desde</a:t>
            </a:r>
            <a:r>
              <a:rPr lang="en-US" sz="1600">
                <a:solidFill>
                  <a:srgbClr val="2A2226"/>
                </a:solidFill>
                <a:ea typeface="+mn-lt"/>
                <a:cs typeface="+mn-lt"/>
              </a:rPr>
              <a:t> 3 Mega Centros </a:t>
            </a:r>
            <a:r>
              <a:rPr lang="en-US" sz="1600" err="1">
                <a:solidFill>
                  <a:srgbClr val="2A2226"/>
                </a:solidFill>
                <a:ea typeface="+mn-lt"/>
                <a:cs typeface="+mn-lt"/>
              </a:rPr>
              <a:t>hacia</a:t>
            </a:r>
            <a:r>
              <a:rPr lang="en-US" sz="1600">
                <a:solidFill>
                  <a:srgbClr val="2A2226"/>
                </a:solidFill>
                <a:ea typeface="+mn-lt"/>
                <a:cs typeface="+mn-lt"/>
              </a:rPr>
              <a:t> 5 </a:t>
            </a:r>
            <a:r>
              <a:rPr lang="en-US" sz="1600" err="1">
                <a:solidFill>
                  <a:srgbClr val="2A2226"/>
                </a:solidFill>
                <a:ea typeface="+mn-lt"/>
                <a:cs typeface="+mn-lt"/>
              </a:rPr>
              <a:t>ciudades</a:t>
            </a:r>
            <a:r>
              <a:rPr lang="en-US" sz="1600">
                <a:solidFill>
                  <a:srgbClr val="2A2226"/>
                </a:solidFill>
                <a:ea typeface="+mn-lt"/>
                <a:cs typeface="+mn-lt"/>
              </a:rPr>
              <a:t> </a:t>
            </a:r>
            <a:r>
              <a:rPr lang="en-US" sz="1600" err="1">
                <a:solidFill>
                  <a:srgbClr val="2A2226"/>
                </a:solidFill>
                <a:ea typeface="+mn-lt"/>
                <a:cs typeface="+mn-lt"/>
              </a:rPr>
              <a:t>destino</a:t>
            </a:r>
            <a:r>
              <a:rPr lang="en-US" sz="1600">
                <a:solidFill>
                  <a:srgbClr val="2A2226"/>
                </a:solidFill>
                <a:ea typeface="+mn-lt"/>
                <a:cs typeface="+mn-lt"/>
              </a:rPr>
              <a:t> antes del Buen Fin.</a:t>
            </a:r>
            <a:endParaRPr lang="es-ES" sz="1600">
              <a:ea typeface="+mn-lt"/>
              <a:cs typeface="+mn-lt"/>
            </a:endParaRPr>
          </a:p>
          <a:p>
            <a:r>
              <a:rPr lang="en-US" sz="1600">
                <a:solidFill>
                  <a:srgbClr val="2A2226"/>
                </a:solidFill>
                <a:ea typeface="+mn-lt"/>
                <a:cs typeface="+mn-lt"/>
              </a:rPr>
              <a:t>•</a:t>
            </a:r>
            <a:r>
              <a:rPr lang="en-US" sz="1600" b="1">
                <a:solidFill>
                  <a:srgbClr val="2A2226"/>
                </a:solidFill>
                <a:ea typeface="+mn-lt"/>
                <a:cs typeface="+mn-lt"/>
              </a:rPr>
              <a:t>La </a:t>
            </a:r>
            <a:r>
              <a:rPr lang="en-US" sz="1600" b="1" err="1">
                <a:solidFill>
                  <a:srgbClr val="2A2226"/>
                </a:solidFill>
                <a:ea typeface="+mn-lt"/>
                <a:cs typeface="+mn-lt"/>
              </a:rPr>
              <a:t>Restricción</a:t>
            </a:r>
            <a:r>
              <a:rPr lang="en-US" sz="1600" b="1">
                <a:solidFill>
                  <a:srgbClr val="2A2226"/>
                </a:solidFill>
                <a:ea typeface="+mn-lt"/>
                <a:cs typeface="+mn-lt"/>
              </a:rPr>
              <a:t>:</a:t>
            </a:r>
            <a:r>
              <a:rPr lang="en-US" sz="1600">
                <a:solidFill>
                  <a:srgbClr val="2A2226"/>
                </a:solidFill>
                <a:ea typeface="+mn-lt"/>
                <a:cs typeface="+mn-lt"/>
              </a:rPr>
              <a:t> La </a:t>
            </a:r>
            <a:r>
              <a:rPr lang="en-US" sz="1600" err="1">
                <a:solidFill>
                  <a:srgbClr val="2A2226"/>
                </a:solidFill>
                <a:ea typeface="+mn-lt"/>
                <a:cs typeface="+mn-lt"/>
              </a:rPr>
              <a:t>oferta</a:t>
            </a:r>
            <a:r>
              <a:rPr lang="en-US" sz="1600">
                <a:solidFill>
                  <a:srgbClr val="2A2226"/>
                </a:solidFill>
                <a:ea typeface="+mn-lt"/>
                <a:cs typeface="+mn-lt"/>
              </a:rPr>
              <a:t> </a:t>
            </a:r>
            <a:r>
              <a:rPr lang="en-US" sz="1600" err="1">
                <a:solidFill>
                  <a:srgbClr val="2A2226"/>
                </a:solidFill>
                <a:ea typeface="+mn-lt"/>
                <a:cs typeface="+mn-lt"/>
              </a:rPr>
              <a:t>empata</a:t>
            </a:r>
            <a:r>
              <a:rPr lang="en-US" sz="1600">
                <a:solidFill>
                  <a:srgbClr val="2A2226"/>
                </a:solidFill>
                <a:ea typeface="+mn-lt"/>
                <a:cs typeface="+mn-lt"/>
              </a:rPr>
              <a:t> </a:t>
            </a:r>
            <a:r>
              <a:rPr lang="en-US" sz="1600" err="1">
                <a:solidFill>
                  <a:srgbClr val="2A2226"/>
                </a:solidFill>
                <a:ea typeface="+mn-lt"/>
                <a:cs typeface="+mn-lt"/>
              </a:rPr>
              <a:t>exactamente</a:t>
            </a:r>
            <a:r>
              <a:rPr lang="en-US" sz="1600">
                <a:solidFill>
                  <a:srgbClr val="2A2226"/>
                </a:solidFill>
                <a:ea typeface="+mn-lt"/>
                <a:cs typeface="+mn-lt"/>
              </a:rPr>
              <a:t> con la </a:t>
            </a:r>
            <a:r>
              <a:rPr lang="en-US" sz="1600" err="1">
                <a:solidFill>
                  <a:srgbClr val="2A2226"/>
                </a:solidFill>
                <a:ea typeface="+mn-lt"/>
                <a:cs typeface="+mn-lt"/>
              </a:rPr>
              <a:t>demanda</a:t>
            </a:r>
            <a:r>
              <a:rPr lang="en-US" sz="1600">
                <a:solidFill>
                  <a:srgbClr val="2A2226"/>
                </a:solidFill>
                <a:ea typeface="+mn-lt"/>
                <a:cs typeface="+mn-lt"/>
              </a:rPr>
              <a:t> </a:t>
            </a:r>
            <a:r>
              <a:rPr lang="en-US" sz="1600" err="1">
                <a:solidFill>
                  <a:srgbClr val="2A2226"/>
                </a:solidFill>
                <a:ea typeface="+mn-lt"/>
                <a:cs typeface="+mn-lt"/>
              </a:rPr>
              <a:t>requerida</a:t>
            </a:r>
            <a:r>
              <a:rPr lang="en-US" sz="1600">
                <a:solidFill>
                  <a:srgbClr val="2A2226"/>
                </a:solidFill>
                <a:ea typeface="+mn-lt"/>
                <a:cs typeface="+mn-lt"/>
              </a:rPr>
              <a:t> (</a:t>
            </a:r>
            <a:r>
              <a:rPr lang="en-US" sz="1600" err="1">
                <a:solidFill>
                  <a:srgbClr val="2A2226"/>
                </a:solidFill>
                <a:ea typeface="+mn-lt"/>
                <a:cs typeface="+mn-lt"/>
              </a:rPr>
              <a:t>Problema</a:t>
            </a:r>
            <a:r>
              <a:rPr lang="en-US" sz="1600">
                <a:solidFill>
                  <a:srgbClr val="2A2226"/>
                </a:solidFill>
                <a:ea typeface="+mn-lt"/>
                <a:cs typeface="+mn-lt"/>
              </a:rPr>
              <a:t> </a:t>
            </a:r>
            <a:r>
              <a:rPr lang="en-US" sz="1600" err="1">
                <a:solidFill>
                  <a:srgbClr val="2A2226"/>
                </a:solidFill>
                <a:ea typeface="+mn-lt"/>
                <a:cs typeface="+mn-lt"/>
              </a:rPr>
              <a:t>Balanceado</a:t>
            </a:r>
            <a:r>
              <a:rPr lang="en-US" sz="1600">
                <a:solidFill>
                  <a:srgbClr val="2A2226"/>
                </a:solidFill>
                <a:ea typeface="+mn-lt"/>
                <a:cs typeface="+mn-lt"/>
              </a:rPr>
              <a:t>).</a:t>
            </a:r>
            <a:endParaRPr lang="en-US" sz="1600">
              <a:ea typeface="+mn-lt"/>
              <a:cs typeface="+mn-lt"/>
            </a:endParaRPr>
          </a:p>
          <a:p>
            <a:r>
              <a:rPr lang="en-US" sz="1600">
                <a:solidFill>
                  <a:srgbClr val="2A2226"/>
                </a:solidFill>
                <a:ea typeface="+mn-lt"/>
                <a:cs typeface="+mn-lt"/>
              </a:rPr>
              <a:t>•</a:t>
            </a:r>
            <a:r>
              <a:rPr lang="en-US" sz="1600" b="1">
                <a:solidFill>
                  <a:srgbClr val="2A2226"/>
                </a:solidFill>
                <a:ea typeface="+mn-lt"/>
                <a:cs typeface="+mn-lt"/>
              </a:rPr>
              <a:t>El </a:t>
            </a:r>
            <a:r>
              <a:rPr lang="en-US" sz="1600" b="1" err="1">
                <a:solidFill>
                  <a:srgbClr val="2A2226"/>
                </a:solidFill>
                <a:ea typeface="+mn-lt"/>
                <a:cs typeface="+mn-lt"/>
              </a:rPr>
              <a:t>Objetivo</a:t>
            </a:r>
            <a:r>
              <a:rPr lang="en-US" sz="1600" b="1">
                <a:solidFill>
                  <a:srgbClr val="2A2226"/>
                </a:solidFill>
                <a:ea typeface="+mn-lt"/>
                <a:cs typeface="+mn-lt"/>
              </a:rPr>
              <a:t>:</a:t>
            </a:r>
            <a:r>
              <a:rPr lang="en-US" sz="1600">
                <a:solidFill>
                  <a:srgbClr val="2A2226"/>
                </a:solidFill>
                <a:ea typeface="+mn-lt"/>
                <a:cs typeface="+mn-lt"/>
              </a:rPr>
              <a:t> </a:t>
            </a:r>
            <a:r>
              <a:rPr lang="en-US" sz="1600" err="1">
                <a:solidFill>
                  <a:srgbClr val="2A2226"/>
                </a:solidFill>
                <a:ea typeface="+mn-lt"/>
                <a:cs typeface="+mn-lt"/>
              </a:rPr>
              <a:t>Determinar</a:t>
            </a:r>
            <a:r>
              <a:rPr lang="en-US" sz="1600">
                <a:solidFill>
                  <a:srgbClr val="2A2226"/>
                </a:solidFill>
                <a:ea typeface="+mn-lt"/>
                <a:cs typeface="+mn-lt"/>
              </a:rPr>
              <a:t> </a:t>
            </a:r>
            <a:r>
              <a:rPr lang="en-US" sz="1600" err="1">
                <a:solidFill>
                  <a:srgbClr val="2A2226"/>
                </a:solidFill>
                <a:ea typeface="+mn-lt"/>
                <a:cs typeface="+mn-lt"/>
              </a:rPr>
              <a:t>cuántos</a:t>
            </a:r>
            <a:r>
              <a:rPr lang="en-US" sz="1600">
                <a:solidFill>
                  <a:srgbClr val="2A2226"/>
                </a:solidFill>
                <a:ea typeface="+mn-lt"/>
                <a:cs typeface="+mn-lt"/>
              </a:rPr>
              <a:t> </a:t>
            </a:r>
            <a:r>
              <a:rPr lang="en-US" sz="1600" err="1">
                <a:solidFill>
                  <a:srgbClr val="2A2226"/>
                </a:solidFill>
                <a:ea typeface="+mn-lt"/>
                <a:cs typeface="+mn-lt"/>
              </a:rPr>
              <a:t>lotes</a:t>
            </a:r>
            <a:r>
              <a:rPr lang="en-US" sz="1600">
                <a:solidFill>
                  <a:srgbClr val="2A2226"/>
                </a:solidFill>
                <a:ea typeface="+mn-lt"/>
                <a:cs typeface="+mn-lt"/>
              </a:rPr>
              <a:t> </a:t>
            </a:r>
            <a:r>
              <a:rPr lang="en-US" sz="1600" err="1">
                <a:solidFill>
                  <a:srgbClr val="2A2226"/>
                </a:solidFill>
                <a:ea typeface="+mn-lt"/>
                <a:cs typeface="+mn-lt"/>
              </a:rPr>
              <a:t>enviar</a:t>
            </a:r>
            <a:r>
              <a:rPr lang="en-US" sz="1600">
                <a:solidFill>
                  <a:srgbClr val="2A2226"/>
                </a:solidFill>
                <a:ea typeface="+mn-lt"/>
                <a:cs typeface="+mn-lt"/>
              </a:rPr>
              <a:t> </a:t>
            </a:r>
            <a:r>
              <a:rPr lang="en-US" sz="1600" err="1">
                <a:solidFill>
                  <a:srgbClr val="2A2226"/>
                </a:solidFill>
                <a:ea typeface="+mn-lt"/>
                <a:cs typeface="+mn-lt"/>
              </a:rPr>
              <a:t>por</a:t>
            </a:r>
            <a:r>
              <a:rPr lang="en-US" sz="1600">
                <a:solidFill>
                  <a:srgbClr val="2A2226"/>
                </a:solidFill>
                <a:ea typeface="+mn-lt"/>
                <a:cs typeface="+mn-lt"/>
              </a:rPr>
              <a:t> </a:t>
            </a:r>
            <a:r>
              <a:rPr lang="en-US" sz="1600" err="1">
                <a:solidFill>
                  <a:srgbClr val="2A2226"/>
                </a:solidFill>
                <a:ea typeface="+mn-lt"/>
                <a:cs typeface="+mn-lt"/>
              </a:rPr>
              <a:t>cada</a:t>
            </a:r>
            <a:r>
              <a:rPr lang="en-US" sz="1600">
                <a:solidFill>
                  <a:srgbClr val="2A2226"/>
                </a:solidFill>
                <a:ea typeface="+mn-lt"/>
                <a:cs typeface="+mn-lt"/>
              </a:rPr>
              <a:t> </a:t>
            </a:r>
            <a:r>
              <a:rPr lang="en-US" sz="1600" err="1">
                <a:solidFill>
                  <a:srgbClr val="2A2226"/>
                </a:solidFill>
                <a:ea typeface="+mn-lt"/>
                <a:cs typeface="+mn-lt"/>
              </a:rPr>
              <a:t>ruta</a:t>
            </a:r>
            <a:r>
              <a:rPr lang="en-US" sz="1600">
                <a:solidFill>
                  <a:srgbClr val="2A2226"/>
                </a:solidFill>
                <a:ea typeface="+mn-lt"/>
                <a:cs typeface="+mn-lt"/>
              </a:rPr>
              <a:t> para </a:t>
            </a:r>
            <a:r>
              <a:rPr lang="en-US" sz="1600" err="1">
                <a:solidFill>
                  <a:srgbClr val="2A2226"/>
                </a:solidFill>
                <a:ea typeface="+mn-lt"/>
                <a:cs typeface="+mn-lt"/>
              </a:rPr>
              <a:t>garantizar</a:t>
            </a:r>
            <a:r>
              <a:rPr lang="en-US" sz="1600">
                <a:solidFill>
                  <a:srgbClr val="2A2226"/>
                </a:solidFill>
                <a:ea typeface="+mn-lt"/>
                <a:cs typeface="+mn-lt"/>
              </a:rPr>
              <a:t> </a:t>
            </a:r>
            <a:r>
              <a:rPr lang="en-US" sz="1600" err="1">
                <a:solidFill>
                  <a:srgbClr val="2A2226"/>
                </a:solidFill>
                <a:ea typeface="+mn-lt"/>
                <a:cs typeface="+mn-lt"/>
              </a:rPr>
              <a:t>el</a:t>
            </a:r>
            <a:r>
              <a:rPr lang="en-US" sz="1600">
                <a:solidFill>
                  <a:srgbClr val="2A2226"/>
                </a:solidFill>
                <a:ea typeface="+mn-lt"/>
                <a:cs typeface="+mn-lt"/>
              </a:rPr>
              <a:t> 100% de </a:t>
            </a:r>
            <a:r>
              <a:rPr lang="en-US" sz="1600" err="1">
                <a:solidFill>
                  <a:srgbClr val="2A2226"/>
                </a:solidFill>
                <a:ea typeface="+mn-lt"/>
                <a:cs typeface="+mn-lt"/>
              </a:rPr>
              <a:t>abasto</a:t>
            </a:r>
            <a:r>
              <a:rPr lang="en-US" sz="1600">
                <a:solidFill>
                  <a:srgbClr val="2A2226"/>
                </a:solidFill>
                <a:ea typeface="+mn-lt"/>
                <a:cs typeface="+mn-lt"/>
              </a:rPr>
              <a:t> </a:t>
            </a:r>
            <a:r>
              <a:rPr lang="en-US" sz="1600" err="1">
                <a:solidFill>
                  <a:srgbClr val="2A2226"/>
                </a:solidFill>
                <a:ea typeface="+mn-lt"/>
                <a:cs typeface="+mn-lt"/>
              </a:rPr>
              <a:t>incurriendo</a:t>
            </a:r>
            <a:r>
              <a:rPr lang="en-US" sz="1600">
                <a:solidFill>
                  <a:srgbClr val="2A2226"/>
                </a:solidFill>
                <a:ea typeface="+mn-lt"/>
                <a:cs typeface="+mn-lt"/>
              </a:rPr>
              <a:t> </a:t>
            </a:r>
            <a:r>
              <a:rPr lang="en-US" sz="1600" err="1">
                <a:solidFill>
                  <a:srgbClr val="2A2226"/>
                </a:solidFill>
                <a:ea typeface="+mn-lt"/>
                <a:cs typeface="+mn-lt"/>
              </a:rPr>
              <a:t>en</a:t>
            </a:r>
            <a:r>
              <a:rPr lang="en-US" sz="1600">
                <a:solidFill>
                  <a:srgbClr val="2A2226"/>
                </a:solidFill>
                <a:ea typeface="+mn-lt"/>
                <a:cs typeface="+mn-lt"/>
              </a:rPr>
              <a:t> </a:t>
            </a:r>
            <a:r>
              <a:rPr lang="en-US" sz="1600" err="1">
                <a:solidFill>
                  <a:srgbClr val="2A2226"/>
                </a:solidFill>
                <a:ea typeface="+mn-lt"/>
                <a:cs typeface="+mn-lt"/>
              </a:rPr>
              <a:t>el</a:t>
            </a:r>
            <a:r>
              <a:rPr lang="en-US" sz="1600">
                <a:solidFill>
                  <a:srgbClr val="2A2226"/>
                </a:solidFill>
                <a:ea typeface="+mn-lt"/>
                <a:cs typeface="+mn-lt"/>
              </a:rPr>
              <a:t> </a:t>
            </a:r>
            <a:r>
              <a:rPr lang="en-US" sz="1600" err="1">
                <a:solidFill>
                  <a:srgbClr val="2A2226"/>
                </a:solidFill>
                <a:ea typeface="+mn-lt"/>
                <a:cs typeface="+mn-lt"/>
              </a:rPr>
              <a:t>costo</a:t>
            </a:r>
            <a:r>
              <a:rPr lang="en-US" sz="1600">
                <a:solidFill>
                  <a:srgbClr val="2A2226"/>
                </a:solidFill>
                <a:ea typeface="+mn-lt"/>
                <a:cs typeface="+mn-lt"/>
              </a:rPr>
              <a:t> de </a:t>
            </a:r>
            <a:r>
              <a:rPr lang="en-US" sz="1600" err="1">
                <a:solidFill>
                  <a:srgbClr val="2A2226"/>
                </a:solidFill>
                <a:ea typeface="+mn-lt"/>
                <a:cs typeface="+mn-lt"/>
              </a:rPr>
              <a:t>flete</a:t>
            </a:r>
            <a:r>
              <a:rPr lang="en-US" sz="1600">
                <a:solidFill>
                  <a:srgbClr val="2A2226"/>
                </a:solidFill>
                <a:ea typeface="+mn-lt"/>
                <a:cs typeface="+mn-lt"/>
              </a:rPr>
              <a:t> </a:t>
            </a:r>
            <a:r>
              <a:rPr lang="en-US" sz="1600" err="1">
                <a:solidFill>
                  <a:srgbClr val="2A2226"/>
                </a:solidFill>
                <a:ea typeface="+mn-lt"/>
                <a:cs typeface="+mn-lt"/>
              </a:rPr>
              <a:t>más</a:t>
            </a:r>
            <a:r>
              <a:rPr lang="en-US" sz="1600">
                <a:solidFill>
                  <a:srgbClr val="2A2226"/>
                </a:solidFill>
                <a:ea typeface="+mn-lt"/>
                <a:cs typeface="+mn-lt"/>
              </a:rPr>
              <a:t> bajo </a:t>
            </a:r>
            <a:r>
              <a:rPr lang="en-US" sz="1600" err="1">
                <a:solidFill>
                  <a:srgbClr val="2A2226"/>
                </a:solidFill>
                <a:ea typeface="+mn-lt"/>
                <a:cs typeface="+mn-lt"/>
              </a:rPr>
              <a:t>posible</a:t>
            </a:r>
            <a:r>
              <a:rPr lang="en-US" sz="1600">
                <a:solidFill>
                  <a:srgbClr val="2A2226"/>
                </a:solidFill>
                <a:ea typeface="+mn-lt"/>
                <a:cs typeface="+mn-lt"/>
              </a:rPr>
              <a:t>.</a:t>
            </a:r>
            <a:endParaRPr lang="en-US" sz="1600">
              <a:ea typeface="+mn-lt"/>
              <a:cs typeface="+mn-lt"/>
            </a:endParaRPr>
          </a:p>
          <a:p>
            <a:pPr algn="just">
              <a:lnSpc>
                <a:spcPct val="140000"/>
              </a:lnSpc>
              <a:spcAft>
                <a:spcPts val="400"/>
              </a:spcAft>
            </a:pPr>
            <a:endParaRPr sz="1400">
              <a:solidFill>
                <a:srgbClr val="2A2226"/>
              </a:solidFill>
              <a:ea typeface="Calibri"/>
              <a:cs typeface="Calibri"/>
            </a:endParaRPr>
          </a:p>
        </p:txBody>
      </p:sp>
      <p:sp>
        <p:nvSpPr>
          <p:cNvPr id="25" name="Shape 9">
            <a:extLst>
              <a:ext uri="{FF2B5EF4-FFF2-40B4-BE49-F238E27FC236}">
                <a16:creationId xmlns:a16="http://schemas.microsoft.com/office/drawing/2014/main" id="{E29EF3A9-DD76-A568-E70D-6792450E04CF}"/>
              </a:ext>
            </a:extLst>
          </p:cNvPr>
          <p:cNvSpPr/>
          <p:nvPr/>
        </p:nvSpPr>
        <p:spPr>
          <a:xfrm>
            <a:off x="548640" y="6473952"/>
            <a:ext cx="11094415" cy="10973"/>
          </a:xfrm>
          <a:prstGeom prst="rect">
            <a:avLst/>
          </a:prstGeom>
          <a:solidFill>
            <a:srgbClr val="E0D8CC"/>
          </a:solidFill>
          <a:ln w="12700">
            <a:solidFill>
              <a:srgbClr val="E0D8CC"/>
            </a:solidFill>
            <a:prstDash val="solid"/>
          </a:ln>
        </p:spPr>
        <p:txBody>
          <a:bodyPr/>
          <a:lstStyle/>
          <a:p>
            <a:endParaRPr lang="en-MX"/>
          </a:p>
        </p:txBody>
      </p:sp>
      <p:sp>
        <p:nvSpPr>
          <p:cNvPr id="26" name="Text 10">
            <a:extLst>
              <a:ext uri="{FF2B5EF4-FFF2-40B4-BE49-F238E27FC236}">
                <a16:creationId xmlns:a16="http://schemas.microsoft.com/office/drawing/2014/main" id="{E5ACA95B-EB34-6318-2106-0D267C4D0C57}"/>
              </a:ext>
            </a:extLst>
          </p:cNvPr>
          <p:cNvSpPr/>
          <p:nvPr/>
        </p:nvSpPr>
        <p:spPr>
          <a:xfrm>
            <a:off x="548640" y="6565392"/>
            <a:ext cx="1828800" cy="182880"/>
          </a:xfrm>
          <a:prstGeom prst="rect">
            <a:avLst/>
          </a:prstGeom>
          <a:noFill/>
          <a:ln/>
        </p:spPr>
        <p:txBody>
          <a:bodyPr wrap="square" lIns="0" tIns="0" rIns="0" bIns="0" rtlCol="0" anchor="ctr"/>
          <a:lstStyle/>
          <a:p>
            <a:pPr marL="0" indent="0" algn="l">
              <a:buNone/>
            </a:pPr>
            <a:r>
              <a:rPr lang="en-US" sz="800" b="1" kern="0" spc="400">
                <a:solidFill>
                  <a:srgbClr val="7A6F73"/>
                </a:solidFill>
                <a:latin typeface="Inter" pitchFamily="34" charset="0"/>
                <a:ea typeface="Inter" pitchFamily="34" charset="-122"/>
                <a:cs typeface="Inter" pitchFamily="34" charset="-120"/>
              </a:rPr>
              <a:t>M.C.D.I.</a:t>
            </a:r>
            <a:endParaRPr lang="en-US" sz="800"/>
          </a:p>
        </p:txBody>
      </p:sp>
      <p:sp>
        <p:nvSpPr>
          <p:cNvPr id="27" name="Text 11">
            <a:extLst>
              <a:ext uri="{FF2B5EF4-FFF2-40B4-BE49-F238E27FC236}">
                <a16:creationId xmlns:a16="http://schemas.microsoft.com/office/drawing/2014/main" id="{09898F06-DCC9-DFE0-0FC8-606D69354709}"/>
              </a:ext>
            </a:extLst>
          </p:cNvPr>
          <p:cNvSpPr/>
          <p:nvPr/>
        </p:nvSpPr>
        <p:spPr>
          <a:xfrm>
            <a:off x="4724248" y="6565392"/>
            <a:ext cx="2743200" cy="182880"/>
          </a:xfrm>
          <a:prstGeom prst="rect">
            <a:avLst/>
          </a:prstGeom>
          <a:noFill/>
          <a:ln/>
        </p:spPr>
        <p:txBody>
          <a:bodyPr wrap="square" lIns="0" tIns="0" rIns="0" bIns="0" rtlCol="0" anchor="ctr"/>
          <a:lstStyle/>
          <a:p>
            <a:pPr marL="0" indent="0" algn="ctr">
              <a:buNone/>
            </a:pPr>
            <a:r>
              <a:rPr lang="en-US" sz="900" i="1">
                <a:solidFill>
                  <a:srgbClr val="8C6A38"/>
                </a:solidFill>
                <a:latin typeface="Garamond" pitchFamily="34" charset="0"/>
                <a:ea typeface="Garamond" pitchFamily="34" charset="-122"/>
                <a:cs typeface="Garamond" pitchFamily="34" charset="-120"/>
              </a:rPr>
              <a:t>—  11 / 20  —</a:t>
            </a:r>
            <a:endParaRPr lang="en-US" sz="900"/>
          </a:p>
        </p:txBody>
      </p:sp>
      <p:sp>
        <p:nvSpPr>
          <p:cNvPr id="28" name="Text 12">
            <a:extLst>
              <a:ext uri="{FF2B5EF4-FFF2-40B4-BE49-F238E27FC236}">
                <a16:creationId xmlns:a16="http://schemas.microsoft.com/office/drawing/2014/main" id="{28583113-9C3D-2496-45F8-0560268E0474}"/>
              </a:ext>
            </a:extLst>
          </p:cNvPr>
          <p:cNvSpPr/>
          <p:nvPr/>
        </p:nvSpPr>
        <p:spPr>
          <a:xfrm>
            <a:off x="8899855" y="6565392"/>
            <a:ext cx="2743200" cy="182880"/>
          </a:xfrm>
          <a:prstGeom prst="rect">
            <a:avLst/>
          </a:prstGeom>
          <a:noFill/>
          <a:ln/>
        </p:spPr>
        <p:txBody>
          <a:bodyPr wrap="square" lIns="0" tIns="0" rIns="0" bIns="0" rtlCol="0" anchor="ctr"/>
          <a:lstStyle/>
          <a:p>
            <a:pPr marL="0" indent="0" algn="r">
              <a:buNone/>
            </a:pPr>
            <a:r>
              <a:rPr lang="en-US" sz="800" i="1">
                <a:solidFill>
                  <a:srgbClr val="7A6F73"/>
                </a:solidFill>
                <a:latin typeface="Garamond" pitchFamily="34" charset="0"/>
                <a:ea typeface="Garamond" pitchFamily="34" charset="-122"/>
                <a:cs typeface="Garamond" pitchFamily="34" charset="-120"/>
              </a:rPr>
              <a:t>Equipo 5</a:t>
            </a:r>
            <a:endParaRPr lang="en-US" sz="800"/>
          </a:p>
        </p:txBody>
      </p:sp>
      <p:sp>
        <p:nvSpPr>
          <p:cNvPr id="11" name="Text 2">
            <a:extLst>
              <a:ext uri="{FF2B5EF4-FFF2-40B4-BE49-F238E27FC236}">
                <a16:creationId xmlns:a16="http://schemas.microsoft.com/office/drawing/2014/main" id="{C73DF0D3-48A9-D139-C3F1-19E67E95AE60}"/>
              </a:ext>
            </a:extLst>
          </p:cNvPr>
          <p:cNvSpPr/>
          <p:nvPr/>
        </p:nvSpPr>
        <p:spPr>
          <a:xfrm>
            <a:off x="640080" y="868680"/>
            <a:ext cx="4572000" cy="228600"/>
          </a:xfrm>
          <a:prstGeom prst="rect">
            <a:avLst/>
          </a:prstGeom>
          <a:noFill/>
          <a:ln/>
        </p:spPr>
        <p:txBody>
          <a:bodyPr wrap="square" lIns="0" tIns="0" rIns="0" bIns="0" rtlCol="0" anchor="t"/>
          <a:lstStyle/>
          <a:p>
            <a:pPr marL="0" indent="0" algn="l">
              <a:buNone/>
            </a:pPr>
            <a:r>
              <a:rPr lang="en-US" sz="900" b="1" kern="0" spc="300">
                <a:solidFill>
                  <a:srgbClr val="8C6A38"/>
                </a:solidFill>
                <a:latin typeface="Inter" pitchFamily="34" charset="0"/>
                <a:ea typeface="Inter" pitchFamily="34" charset="-122"/>
                <a:cs typeface="Inter" pitchFamily="34" charset="-120"/>
              </a:rPr>
              <a:t>SECCION 3</a:t>
            </a:r>
            <a:endParaRPr lang="en-US" sz="900" spc="300"/>
          </a:p>
        </p:txBody>
      </p:sp>
      <p:sp>
        <p:nvSpPr>
          <p:cNvPr id="12" name="CuadroTexto 11">
            <a:extLst>
              <a:ext uri="{FF2B5EF4-FFF2-40B4-BE49-F238E27FC236}">
                <a16:creationId xmlns:a16="http://schemas.microsoft.com/office/drawing/2014/main" id="{D518257B-B459-07B0-9927-AA0FB9BEC602}"/>
              </a:ext>
            </a:extLst>
          </p:cNvPr>
          <p:cNvSpPr txBox="1"/>
          <p:nvPr/>
        </p:nvSpPr>
        <p:spPr>
          <a:xfrm>
            <a:off x="1098610" y="4600356"/>
            <a:ext cx="3153746" cy="1354217"/>
          </a:xfrm>
          <a:prstGeom prst="rect">
            <a:avLst/>
          </a:prstGeom>
          <a:noFill/>
        </p:spPr>
        <p:txBody>
          <a:bodyPr wrap="square" lIns="91440" tIns="45720" rIns="91440" bIns="45720" rtlCol="0" anchor="t">
            <a:spAutoFit/>
          </a:bodyPr>
          <a:lstStyle/>
          <a:p>
            <a:pPr algn="ctr"/>
            <a:r>
              <a:rPr lang="es-MX" sz="1600" b="1"/>
              <a:t>Oferta: 120 Lotes </a:t>
            </a:r>
          </a:p>
          <a:p>
            <a:pPr algn="ctr"/>
            <a:r>
              <a:rPr lang="es-MX" sz="1600"/>
              <a:t>Mega centros de distribución</a:t>
            </a:r>
          </a:p>
          <a:p>
            <a:pPr algn="ctr"/>
            <a:r>
              <a:rPr lang="es-MX" sz="1600"/>
              <a:t>1. Cuautitlan Izcalli: 40</a:t>
            </a:r>
            <a:endParaRPr lang="es-MX" sz="1600">
              <a:ea typeface="Calibri"/>
              <a:cs typeface="Calibri"/>
            </a:endParaRPr>
          </a:p>
          <a:p>
            <a:pPr algn="ctr"/>
            <a:r>
              <a:rPr lang="es-MX" sz="1600"/>
              <a:t>2. Monterrey: 35</a:t>
            </a:r>
            <a:endParaRPr lang="es-MX" sz="1600">
              <a:ea typeface="Calibri"/>
              <a:cs typeface="Calibri"/>
            </a:endParaRPr>
          </a:p>
          <a:p>
            <a:pPr algn="ctr"/>
            <a:r>
              <a:rPr lang="es-MX" sz="1600"/>
              <a:t>3. Guadalajara: 45</a:t>
            </a:r>
            <a:endParaRPr lang="es-MX" sz="1600">
              <a:ea typeface="Calibri"/>
              <a:cs typeface="Calibri"/>
            </a:endParaRPr>
          </a:p>
        </p:txBody>
      </p:sp>
      <p:sp>
        <p:nvSpPr>
          <p:cNvPr id="13" name="CuadroTexto 12">
            <a:extLst>
              <a:ext uri="{FF2B5EF4-FFF2-40B4-BE49-F238E27FC236}">
                <a16:creationId xmlns:a16="http://schemas.microsoft.com/office/drawing/2014/main" id="{D3198FBE-74D8-469E-B6C6-6562DEC50D7B}"/>
              </a:ext>
            </a:extLst>
          </p:cNvPr>
          <p:cNvSpPr txBox="1"/>
          <p:nvPr/>
        </p:nvSpPr>
        <p:spPr>
          <a:xfrm>
            <a:off x="7864633" y="4581393"/>
            <a:ext cx="2341983" cy="1846659"/>
          </a:xfrm>
          <a:prstGeom prst="rect">
            <a:avLst/>
          </a:prstGeom>
          <a:noFill/>
        </p:spPr>
        <p:txBody>
          <a:bodyPr wrap="square" lIns="91440" tIns="45720" rIns="91440" bIns="45720" anchor="t">
            <a:spAutoFit/>
          </a:bodyPr>
          <a:lstStyle/>
          <a:p>
            <a:pPr algn="ctr"/>
            <a:r>
              <a:rPr lang="es-MX" sz="1600" b="1"/>
              <a:t>Demanda: 120 Lotes </a:t>
            </a:r>
          </a:p>
          <a:p>
            <a:pPr algn="ctr"/>
            <a:r>
              <a:rPr lang="es-MX" sz="1600"/>
              <a:t>Centro Ultima Milla</a:t>
            </a:r>
          </a:p>
          <a:p>
            <a:pPr algn="ctr"/>
            <a:r>
              <a:rPr lang="es-MX" sz="1600"/>
              <a:t>1. Tijuana 20</a:t>
            </a:r>
            <a:endParaRPr lang="es-MX" sz="1600">
              <a:ea typeface="Calibri"/>
              <a:cs typeface="Calibri"/>
            </a:endParaRPr>
          </a:p>
          <a:p>
            <a:pPr algn="ctr"/>
            <a:r>
              <a:rPr lang="es-MX" sz="1600"/>
              <a:t>2. Puebla 25</a:t>
            </a:r>
            <a:endParaRPr lang="es-MX" sz="1600">
              <a:ea typeface="Calibri"/>
              <a:cs typeface="Calibri"/>
            </a:endParaRPr>
          </a:p>
          <a:p>
            <a:pPr algn="ctr"/>
            <a:r>
              <a:rPr lang="es-MX" sz="1600"/>
              <a:t>3. Querétaro 30</a:t>
            </a:r>
            <a:endParaRPr lang="es-MX" sz="1600">
              <a:ea typeface="Calibri"/>
              <a:cs typeface="Calibri"/>
            </a:endParaRPr>
          </a:p>
          <a:p>
            <a:pPr algn="ctr"/>
            <a:r>
              <a:rPr lang="es-MX" sz="1600"/>
              <a:t>4. Mérida 15</a:t>
            </a:r>
            <a:endParaRPr lang="es-MX" sz="1600">
              <a:ea typeface="Calibri"/>
              <a:cs typeface="Calibri"/>
            </a:endParaRPr>
          </a:p>
          <a:p>
            <a:pPr algn="ctr"/>
            <a:r>
              <a:rPr lang="es-MX" sz="1600"/>
              <a:t>5. Hermosillo 30</a:t>
            </a:r>
            <a:endParaRPr lang="es-MX" sz="1600">
              <a:ea typeface="Calibri"/>
              <a:cs typeface="Calibri"/>
            </a:endParaRPr>
          </a:p>
        </p:txBody>
      </p:sp>
      <p:pic>
        <p:nvPicPr>
          <p:cNvPr id="16" name="Imagen 15">
            <a:extLst>
              <a:ext uri="{FF2B5EF4-FFF2-40B4-BE49-F238E27FC236}">
                <a16:creationId xmlns:a16="http://schemas.microsoft.com/office/drawing/2014/main" id="{DB9DF140-0515-7AE2-8FFA-408CBA5E196C}"/>
              </a:ext>
            </a:extLst>
          </p:cNvPr>
          <p:cNvPicPr>
            <a:picLocks noChangeAspect="1"/>
          </p:cNvPicPr>
          <p:nvPr/>
        </p:nvPicPr>
        <p:blipFill>
          <a:blip r:embed="rId4"/>
          <a:srcRect r="2911" b="2601"/>
          <a:stretch>
            <a:fillRect/>
          </a:stretch>
        </p:blipFill>
        <p:spPr>
          <a:xfrm>
            <a:off x="1932044" y="2977249"/>
            <a:ext cx="7928236" cy="1604144"/>
          </a:xfrm>
          <a:prstGeom prst="rect">
            <a:avLst/>
          </a:prstGeom>
        </p:spPr>
      </p:pic>
    </p:spTree>
    <p:extLst>
      <p:ext uri="{BB962C8B-B14F-4D97-AF65-F5344CB8AC3E}">
        <p14:creationId xmlns:p14="http://schemas.microsoft.com/office/powerpoint/2010/main" val="37190951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pSp>
        <p:nvGrpSpPr>
          <p:cNvPr id="12" name="Grupo 11">
            <a:extLst>
              <a:ext uri="{FF2B5EF4-FFF2-40B4-BE49-F238E27FC236}">
                <a16:creationId xmlns:a16="http://schemas.microsoft.com/office/drawing/2014/main" id="{0B028F44-0A19-3D28-C198-C43354887F67}"/>
              </a:ext>
            </a:extLst>
          </p:cNvPr>
          <p:cNvGrpSpPr/>
          <p:nvPr/>
        </p:nvGrpSpPr>
        <p:grpSpPr>
          <a:xfrm>
            <a:off x="448351" y="1988458"/>
            <a:ext cx="7150018" cy="4343753"/>
            <a:chOff x="552451" y="132849"/>
            <a:chExt cx="10559424" cy="6415023"/>
          </a:xfrm>
        </p:grpSpPr>
        <p:pic>
          <p:nvPicPr>
            <p:cNvPr id="13" name="Imagen 12">
              <a:extLst>
                <a:ext uri="{FF2B5EF4-FFF2-40B4-BE49-F238E27FC236}">
                  <a16:creationId xmlns:a16="http://schemas.microsoft.com/office/drawing/2014/main" id="{CA79A073-4C39-2DBB-BD6E-822748EF9C34}"/>
                </a:ext>
              </a:extLst>
            </p:cNvPr>
            <p:cNvPicPr>
              <a:picLocks noChangeAspect="1"/>
            </p:cNvPicPr>
            <p:nvPr/>
          </p:nvPicPr>
          <p:blipFill>
            <a:blip r:embed="rId4">
              <a:alphaModFix amt="20000"/>
            </a:blip>
            <a:stretch>
              <a:fillRect/>
            </a:stretch>
          </p:blipFill>
          <p:spPr>
            <a:xfrm>
              <a:off x="2066599" y="904875"/>
              <a:ext cx="7647378" cy="5195194"/>
            </a:xfrm>
            <a:prstGeom prst="rect">
              <a:avLst/>
            </a:prstGeom>
          </p:spPr>
        </p:pic>
        <p:pic>
          <p:nvPicPr>
            <p:cNvPr id="14" name="Imagen 13" descr="Un conjunto de letras negras en un fondo negro&#10;&#10;El contenido generado por IA puede ser incorrecto.">
              <a:extLst>
                <a:ext uri="{FF2B5EF4-FFF2-40B4-BE49-F238E27FC236}">
                  <a16:creationId xmlns:a16="http://schemas.microsoft.com/office/drawing/2014/main" id="{7F3CFC84-86B3-1670-22FA-4192E8F786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2451" y="132849"/>
              <a:ext cx="10559424" cy="6415023"/>
            </a:xfrm>
            <a:prstGeom prst="rect">
              <a:avLst/>
            </a:prstGeom>
          </p:spPr>
        </p:pic>
      </p:grpSp>
      <p:sp>
        <p:nvSpPr>
          <p:cNvPr id="2" name="Text 0"/>
          <p:cNvSpPr/>
          <p:nvPr/>
        </p:nvSpPr>
        <p:spPr>
          <a:xfrm>
            <a:off x="548640" y="320040"/>
            <a:ext cx="11094415" cy="228600"/>
          </a:xfrm>
          <a:prstGeom prst="rect">
            <a:avLst/>
          </a:prstGeom>
          <a:noFill/>
          <a:ln/>
        </p:spPr>
        <p:txBody>
          <a:bodyPr wrap="square" lIns="0" tIns="0" rIns="0" bIns="0" rtlCol="0" anchor="ctr"/>
          <a:lstStyle/>
          <a:p>
            <a:pPr marL="0" indent="0" algn="l">
              <a:buNone/>
            </a:pPr>
            <a:r>
              <a:rPr lang="en-US" sz="800" b="1" kern="0" spc="600">
                <a:solidFill>
                  <a:srgbClr val="4A0F22"/>
                </a:solidFill>
                <a:latin typeface="Inter" pitchFamily="34" charset="0"/>
                <a:ea typeface="Inter" pitchFamily="34" charset="-122"/>
                <a:cs typeface="Inter" pitchFamily="34" charset="-120"/>
              </a:rPr>
              <a:t>INFOTEC   ·   M.C.D.I.   ·   Matemáticas 2026-1</a:t>
            </a:r>
            <a:endParaRPr lang="en-US" sz="800"/>
          </a:p>
        </p:txBody>
      </p:sp>
      <p:sp>
        <p:nvSpPr>
          <p:cNvPr id="3" name="Shape 1"/>
          <p:cNvSpPr/>
          <p:nvPr/>
        </p:nvSpPr>
        <p:spPr>
          <a:xfrm>
            <a:off x="548640" y="566928"/>
            <a:ext cx="11094415" cy="10973"/>
          </a:xfrm>
          <a:prstGeom prst="rect">
            <a:avLst/>
          </a:prstGeom>
          <a:solidFill>
            <a:srgbClr val="000000"/>
          </a:solidFill>
          <a:ln w="12700">
            <a:solidFill>
              <a:srgbClr val="333333"/>
            </a:solidFill>
            <a:prstDash val="solid"/>
          </a:ln>
        </p:spPr>
        <p:txBody>
          <a:bodyPr/>
          <a:lstStyle/>
          <a:p>
            <a:endParaRPr lang="en-MX"/>
          </a:p>
        </p:txBody>
      </p:sp>
      <p:sp>
        <p:nvSpPr>
          <p:cNvPr id="5" name="Text 3"/>
          <p:cNvSpPr/>
          <p:nvPr/>
        </p:nvSpPr>
        <p:spPr>
          <a:xfrm>
            <a:off x="640080" y="1097280"/>
            <a:ext cx="10911535" cy="868680"/>
          </a:xfrm>
          <a:prstGeom prst="rect">
            <a:avLst/>
          </a:prstGeom>
          <a:noFill/>
          <a:ln/>
        </p:spPr>
        <p:txBody>
          <a:bodyPr wrap="square" lIns="0" tIns="0" rIns="0" bIns="0" rtlCol="0" anchor="t"/>
          <a:lstStyle/>
          <a:p>
            <a:r>
              <a:rPr lang="es-ES" sz="3000" b="1">
                <a:solidFill>
                  <a:srgbClr val="B89058"/>
                </a:solidFill>
                <a:latin typeface="Garamond"/>
              </a:rPr>
              <a:t>15.</a:t>
            </a:r>
            <a:r>
              <a:rPr sz="3000" b="1">
                <a:solidFill>
                  <a:srgbClr val="B89058"/>
                </a:solidFill>
                <a:latin typeface="Garamond"/>
              </a:rPr>
              <a:t> </a:t>
            </a:r>
            <a:r>
              <a:rPr sz="3000" b="1" err="1">
                <a:solidFill>
                  <a:srgbClr val="4A0F22"/>
                </a:solidFill>
                <a:latin typeface="Garamond"/>
              </a:rPr>
              <a:t>Topología</a:t>
            </a:r>
            <a:r>
              <a:rPr sz="3000" b="1">
                <a:solidFill>
                  <a:srgbClr val="4A0F22"/>
                </a:solidFill>
                <a:latin typeface="Garamond"/>
              </a:rPr>
              <a:t> de la Red — 15 Variables de </a:t>
            </a:r>
            <a:r>
              <a:rPr sz="3000" b="1" err="1">
                <a:solidFill>
                  <a:srgbClr val="4A0F22"/>
                </a:solidFill>
                <a:latin typeface="Garamond"/>
              </a:rPr>
              <a:t>Decisión</a:t>
            </a:r>
            <a:endParaRPr lang="en-US" sz="3800"/>
          </a:p>
        </p:txBody>
      </p:sp>
      <p:sp>
        <p:nvSpPr>
          <p:cNvPr id="6" name="Shape 4"/>
          <p:cNvSpPr/>
          <p:nvPr/>
        </p:nvSpPr>
        <p:spPr>
          <a:xfrm>
            <a:off x="640080" y="2057400"/>
            <a:ext cx="10911535" cy="10973"/>
          </a:xfrm>
          <a:prstGeom prst="rect">
            <a:avLst/>
          </a:prstGeom>
          <a:solidFill>
            <a:srgbClr val="000000"/>
          </a:solidFill>
          <a:ln w="12700">
            <a:solidFill>
              <a:srgbClr val="333333"/>
            </a:solidFill>
            <a:prstDash val="solid"/>
          </a:ln>
        </p:spPr>
        <p:txBody>
          <a:bodyPr/>
          <a:lstStyle/>
          <a:p>
            <a:endParaRPr lang="en-MX"/>
          </a:p>
        </p:txBody>
      </p:sp>
      <p:sp>
        <p:nvSpPr>
          <p:cNvPr id="7" name="Text 5"/>
          <p:cNvSpPr/>
          <p:nvPr/>
        </p:nvSpPr>
        <p:spPr>
          <a:xfrm>
            <a:off x="7339289" y="3518258"/>
            <a:ext cx="4471406" cy="868679"/>
          </a:xfrm>
          <a:prstGeom prst="rect">
            <a:avLst/>
          </a:prstGeom>
          <a:noFill/>
          <a:ln/>
        </p:spPr>
        <p:txBody>
          <a:bodyPr wrap="square" lIns="0" tIns="0" rIns="0" bIns="0" rtlCol="0" anchor="t"/>
          <a:lstStyle/>
          <a:p>
            <a:pPr algn="ctr"/>
            <a:r>
              <a:rPr lang="es-ES" sz="1600"/>
              <a:t>Grafo Bipartito: </a:t>
            </a:r>
          </a:p>
          <a:p>
            <a:pPr algn="ctr"/>
            <a:r>
              <a:rPr lang="es-ES" sz="1600"/>
              <a:t>15 Rutas Posibles = 15 Variables de Decisión</a:t>
            </a:r>
          </a:p>
          <a:p>
            <a:pPr algn="ctr"/>
            <a:r>
              <a:rPr lang="es-MX" sz="1600">
                <a:ea typeface="Aptos" panose="020B0004020202020204" pitchFamily="34" charset="0"/>
                <a:cs typeface="Times New Roman" panose="02020603050405020304" pitchFamily="18" charset="0"/>
              </a:rPr>
              <a:t>Máximo de m + n - 1 rutas ≠ 0 (3 + 5 - 1 = 7) </a:t>
            </a:r>
            <a:endParaRPr lang="es-MX" sz="1600"/>
          </a:p>
        </p:txBody>
      </p:sp>
      <p:sp>
        <p:nvSpPr>
          <p:cNvPr id="18" name="Shape 9">
            <a:extLst>
              <a:ext uri="{FF2B5EF4-FFF2-40B4-BE49-F238E27FC236}">
                <a16:creationId xmlns:a16="http://schemas.microsoft.com/office/drawing/2014/main" id="{7510ABB6-1549-0ABE-7492-4F624520F57B}"/>
              </a:ext>
            </a:extLst>
          </p:cNvPr>
          <p:cNvSpPr/>
          <p:nvPr/>
        </p:nvSpPr>
        <p:spPr>
          <a:xfrm>
            <a:off x="548640" y="6473952"/>
            <a:ext cx="11094415" cy="10973"/>
          </a:xfrm>
          <a:prstGeom prst="rect">
            <a:avLst/>
          </a:prstGeom>
          <a:solidFill>
            <a:srgbClr val="E0D8CC"/>
          </a:solidFill>
          <a:ln w="12700">
            <a:solidFill>
              <a:srgbClr val="E0D8CC"/>
            </a:solidFill>
            <a:prstDash val="solid"/>
          </a:ln>
        </p:spPr>
        <p:txBody>
          <a:bodyPr/>
          <a:lstStyle/>
          <a:p>
            <a:endParaRPr lang="en-MX"/>
          </a:p>
        </p:txBody>
      </p:sp>
      <p:sp>
        <p:nvSpPr>
          <p:cNvPr id="19" name="Text 10">
            <a:extLst>
              <a:ext uri="{FF2B5EF4-FFF2-40B4-BE49-F238E27FC236}">
                <a16:creationId xmlns:a16="http://schemas.microsoft.com/office/drawing/2014/main" id="{4A7F4C32-AE93-979A-22CC-60DA08BD4858}"/>
              </a:ext>
            </a:extLst>
          </p:cNvPr>
          <p:cNvSpPr/>
          <p:nvPr/>
        </p:nvSpPr>
        <p:spPr>
          <a:xfrm>
            <a:off x="548640" y="6565392"/>
            <a:ext cx="1828800" cy="182880"/>
          </a:xfrm>
          <a:prstGeom prst="rect">
            <a:avLst/>
          </a:prstGeom>
          <a:noFill/>
          <a:ln/>
        </p:spPr>
        <p:txBody>
          <a:bodyPr wrap="square" lIns="0" tIns="0" rIns="0" bIns="0" rtlCol="0" anchor="ctr"/>
          <a:lstStyle/>
          <a:p>
            <a:pPr marL="0" indent="0" algn="l">
              <a:buNone/>
            </a:pPr>
            <a:r>
              <a:rPr lang="en-US" sz="800" b="1" kern="0" spc="400">
                <a:solidFill>
                  <a:srgbClr val="7A6F73"/>
                </a:solidFill>
                <a:latin typeface="Inter" pitchFamily="34" charset="0"/>
                <a:ea typeface="Inter" pitchFamily="34" charset="-122"/>
                <a:cs typeface="Inter" pitchFamily="34" charset="-120"/>
              </a:rPr>
              <a:t>M.C.D.I.</a:t>
            </a:r>
            <a:endParaRPr lang="en-US" sz="800"/>
          </a:p>
        </p:txBody>
      </p:sp>
      <p:sp>
        <p:nvSpPr>
          <p:cNvPr id="20" name="Text 11">
            <a:extLst>
              <a:ext uri="{FF2B5EF4-FFF2-40B4-BE49-F238E27FC236}">
                <a16:creationId xmlns:a16="http://schemas.microsoft.com/office/drawing/2014/main" id="{B1B50618-8999-9617-A7A8-9188528BBDC6}"/>
              </a:ext>
            </a:extLst>
          </p:cNvPr>
          <p:cNvSpPr/>
          <p:nvPr/>
        </p:nvSpPr>
        <p:spPr>
          <a:xfrm>
            <a:off x="4724248" y="6565392"/>
            <a:ext cx="2743200" cy="182880"/>
          </a:xfrm>
          <a:prstGeom prst="rect">
            <a:avLst/>
          </a:prstGeom>
          <a:noFill/>
          <a:ln/>
        </p:spPr>
        <p:txBody>
          <a:bodyPr wrap="square" lIns="0" tIns="0" rIns="0" bIns="0" rtlCol="0" anchor="ctr"/>
          <a:lstStyle/>
          <a:p>
            <a:pPr marL="0" indent="0" algn="ctr">
              <a:buNone/>
            </a:pPr>
            <a:r>
              <a:rPr lang="en-US" sz="900" i="1">
                <a:solidFill>
                  <a:srgbClr val="8C6A38"/>
                </a:solidFill>
                <a:latin typeface="Garamond" pitchFamily="34" charset="0"/>
                <a:ea typeface="Garamond" pitchFamily="34" charset="-122"/>
                <a:cs typeface="Garamond" pitchFamily="34" charset="-120"/>
              </a:rPr>
              <a:t>—  12 / 20  —</a:t>
            </a:r>
            <a:endParaRPr lang="en-US" sz="900"/>
          </a:p>
        </p:txBody>
      </p:sp>
      <p:sp>
        <p:nvSpPr>
          <p:cNvPr id="21" name="Text 12">
            <a:extLst>
              <a:ext uri="{FF2B5EF4-FFF2-40B4-BE49-F238E27FC236}">
                <a16:creationId xmlns:a16="http://schemas.microsoft.com/office/drawing/2014/main" id="{420EE302-A439-CDC7-8626-92368D4EFB90}"/>
              </a:ext>
            </a:extLst>
          </p:cNvPr>
          <p:cNvSpPr/>
          <p:nvPr/>
        </p:nvSpPr>
        <p:spPr>
          <a:xfrm>
            <a:off x="8899855" y="6565392"/>
            <a:ext cx="2743200" cy="182880"/>
          </a:xfrm>
          <a:prstGeom prst="rect">
            <a:avLst/>
          </a:prstGeom>
          <a:noFill/>
          <a:ln/>
        </p:spPr>
        <p:txBody>
          <a:bodyPr wrap="square" lIns="0" tIns="0" rIns="0" bIns="0" rtlCol="0" anchor="ctr"/>
          <a:lstStyle/>
          <a:p>
            <a:pPr marL="0" indent="0" algn="r">
              <a:buNone/>
            </a:pPr>
            <a:r>
              <a:rPr lang="en-US" sz="800" i="1">
                <a:solidFill>
                  <a:srgbClr val="7A6F73"/>
                </a:solidFill>
                <a:latin typeface="Garamond" pitchFamily="34" charset="0"/>
                <a:ea typeface="Garamond" pitchFamily="34" charset="-122"/>
                <a:cs typeface="Garamond" pitchFamily="34" charset="-120"/>
              </a:rPr>
              <a:t>Equipo 5</a:t>
            </a:r>
            <a:endParaRPr lang="en-US" sz="800"/>
          </a:p>
        </p:txBody>
      </p:sp>
      <p:sp>
        <p:nvSpPr>
          <p:cNvPr id="11" name="Text 2">
            <a:extLst>
              <a:ext uri="{FF2B5EF4-FFF2-40B4-BE49-F238E27FC236}">
                <a16:creationId xmlns:a16="http://schemas.microsoft.com/office/drawing/2014/main" id="{DFE215D0-63C7-C957-629E-F329B8AD90AD}"/>
              </a:ext>
            </a:extLst>
          </p:cNvPr>
          <p:cNvSpPr/>
          <p:nvPr/>
        </p:nvSpPr>
        <p:spPr>
          <a:xfrm>
            <a:off x="640080" y="868680"/>
            <a:ext cx="4572000" cy="228600"/>
          </a:xfrm>
          <a:prstGeom prst="rect">
            <a:avLst/>
          </a:prstGeom>
          <a:noFill/>
          <a:ln/>
        </p:spPr>
        <p:txBody>
          <a:bodyPr wrap="square" lIns="0" tIns="0" rIns="0" bIns="0" rtlCol="0" anchor="t"/>
          <a:lstStyle/>
          <a:p>
            <a:pPr marL="0" indent="0" algn="l">
              <a:buNone/>
            </a:pPr>
            <a:r>
              <a:rPr lang="en-US" sz="900" b="1" kern="0" spc="300">
                <a:solidFill>
                  <a:srgbClr val="8C6A38"/>
                </a:solidFill>
                <a:latin typeface="Inter" pitchFamily="34" charset="0"/>
                <a:ea typeface="Inter" pitchFamily="34" charset="-122"/>
                <a:cs typeface="Inter" pitchFamily="34" charset="-120"/>
              </a:rPr>
              <a:t>SECCION 3</a:t>
            </a:r>
            <a:endParaRPr lang="en-US" sz="900" spc="300"/>
          </a:p>
        </p:txBody>
      </p:sp>
      <p:sp>
        <p:nvSpPr>
          <p:cNvPr id="16" name="Shape 9">
            <a:extLst>
              <a:ext uri="{FF2B5EF4-FFF2-40B4-BE49-F238E27FC236}">
                <a16:creationId xmlns:a16="http://schemas.microsoft.com/office/drawing/2014/main" id="{D37F55C4-1B2A-848D-E057-A51E298510FC}"/>
              </a:ext>
            </a:extLst>
          </p:cNvPr>
          <p:cNvSpPr/>
          <p:nvPr/>
        </p:nvSpPr>
        <p:spPr>
          <a:xfrm>
            <a:off x="548640" y="6473952"/>
            <a:ext cx="11094415" cy="10973"/>
          </a:xfrm>
          <a:prstGeom prst="rect">
            <a:avLst/>
          </a:prstGeom>
          <a:solidFill>
            <a:srgbClr val="E0D8CC"/>
          </a:solidFill>
          <a:ln w="12700">
            <a:solidFill>
              <a:srgbClr val="E0D8CC"/>
            </a:solidFill>
            <a:prstDash val="solid"/>
          </a:ln>
        </p:spPr>
        <p:txBody>
          <a:bodyPr/>
          <a:lstStyle/>
          <a:p>
            <a:endParaRPr lang="en-MX"/>
          </a:p>
        </p:txBody>
      </p:sp>
      <p:sp>
        <p:nvSpPr>
          <p:cNvPr id="17" name="Text 10">
            <a:extLst>
              <a:ext uri="{FF2B5EF4-FFF2-40B4-BE49-F238E27FC236}">
                <a16:creationId xmlns:a16="http://schemas.microsoft.com/office/drawing/2014/main" id="{54F4D160-085A-21CA-DFC1-E7749C8F6FE8}"/>
              </a:ext>
            </a:extLst>
          </p:cNvPr>
          <p:cNvSpPr/>
          <p:nvPr/>
        </p:nvSpPr>
        <p:spPr>
          <a:xfrm>
            <a:off x="548640" y="6565392"/>
            <a:ext cx="1828800" cy="182880"/>
          </a:xfrm>
          <a:prstGeom prst="rect">
            <a:avLst/>
          </a:prstGeom>
          <a:noFill/>
          <a:ln/>
        </p:spPr>
        <p:txBody>
          <a:bodyPr wrap="square" lIns="0" tIns="0" rIns="0" bIns="0" rtlCol="0" anchor="ctr"/>
          <a:lstStyle/>
          <a:p>
            <a:pPr marL="0" indent="0" algn="l">
              <a:buNone/>
            </a:pPr>
            <a:r>
              <a:rPr lang="en-US" sz="800" b="1" kern="0" spc="400">
                <a:solidFill>
                  <a:srgbClr val="7A6F73"/>
                </a:solidFill>
                <a:latin typeface="Inter" pitchFamily="34" charset="0"/>
                <a:ea typeface="Inter" pitchFamily="34" charset="-122"/>
                <a:cs typeface="Inter" pitchFamily="34" charset="-120"/>
              </a:rPr>
              <a:t>M.C.D.I.</a:t>
            </a:r>
            <a:endParaRPr lang="en-US" sz="800"/>
          </a:p>
        </p:txBody>
      </p:sp>
      <p:sp>
        <p:nvSpPr>
          <p:cNvPr id="22" name="Text 11">
            <a:extLst>
              <a:ext uri="{FF2B5EF4-FFF2-40B4-BE49-F238E27FC236}">
                <a16:creationId xmlns:a16="http://schemas.microsoft.com/office/drawing/2014/main" id="{228BF189-6D60-9DB9-81F6-E8FCA1B200CA}"/>
              </a:ext>
            </a:extLst>
          </p:cNvPr>
          <p:cNvSpPr/>
          <p:nvPr/>
        </p:nvSpPr>
        <p:spPr>
          <a:xfrm>
            <a:off x="4724248" y="6565392"/>
            <a:ext cx="2743200" cy="182880"/>
          </a:xfrm>
          <a:prstGeom prst="rect">
            <a:avLst/>
          </a:prstGeom>
          <a:noFill/>
          <a:ln/>
        </p:spPr>
        <p:txBody>
          <a:bodyPr wrap="square" lIns="0" tIns="0" rIns="0" bIns="0" rtlCol="0" anchor="ctr"/>
          <a:lstStyle/>
          <a:p>
            <a:pPr marL="0" indent="0" algn="ctr">
              <a:buNone/>
            </a:pPr>
            <a:r>
              <a:rPr lang="en-US" sz="900" i="1">
                <a:solidFill>
                  <a:srgbClr val="8C6A38"/>
                </a:solidFill>
                <a:latin typeface="Garamond" pitchFamily="34" charset="0"/>
                <a:ea typeface="Garamond" pitchFamily="34" charset="-122"/>
                <a:cs typeface="Garamond" pitchFamily="34" charset="-120"/>
              </a:rPr>
              <a:t>—  12 / 20  —</a:t>
            </a:r>
            <a:endParaRPr lang="en-US" sz="900"/>
          </a:p>
        </p:txBody>
      </p:sp>
      <p:sp>
        <p:nvSpPr>
          <p:cNvPr id="23" name="Text 12">
            <a:extLst>
              <a:ext uri="{FF2B5EF4-FFF2-40B4-BE49-F238E27FC236}">
                <a16:creationId xmlns:a16="http://schemas.microsoft.com/office/drawing/2014/main" id="{EEBD1F20-37AA-32BB-2DD6-BF50CFE17BDA}"/>
              </a:ext>
            </a:extLst>
          </p:cNvPr>
          <p:cNvSpPr/>
          <p:nvPr/>
        </p:nvSpPr>
        <p:spPr>
          <a:xfrm>
            <a:off x="8899855" y="6565392"/>
            <a:ext cx="2743200" cy="182880"/>
          </a:xfrm>
          <a:prstGeom prst="rect">
            <a:avLst/>
          </a:prstGeom>
          <a:noFill/>
          <a:ln/>
        </p:spPr>
        <p:txBody>
          <a:bodyPr wrap="square" lIns="0" tIns="0" rIns="0" bIns="0" rtlCol="0" anchor="ctr"/>
          <a:lstStyle/>
          <a:p>
            <a:pPr marL="0" indent="0" algn="r">
              <a:buNone/>
            </a:pPr>
            <a:r>
              <a:rPr lang="en-US" sz="800" i="1">
                <a:solidFill>
                  <a:srgbClr val="7A6F73"/>
                </a:solidFill>
                <a:latin typeface="Garamond" pitchFamily="34" charset="0"/>
                <a:ea typeface="Garamond" pitchFamily="34" charset="-122"/>
                <a:cs typeface="Garamond" pitchFamily="34" charset="-120"/>
              </a:rPr>
              <a:t>Equipo 5</a:t>
            </a:r>
            <a:endParaRPr lang="en-US" sz="800"/>
          </a:p>
        </p:txBody>
      </p:sp>
      <p:sp>
        <p:nvSpPr>
          <p:cNvPr id="24" name="CuadroTexto 23">
            <a:extLst>
              <a:ext uri="{FF2B5EF4-FFF2-40B4-BE49-F238E27FC236}">
                <a16:creationId xmlns:a16="http://schemas.microsoft.com/office/drawing/2014/main" id="{1A54383F-B34F-AC5C-F21D-60595D0AC33C}"/>
              </a:ext>
            </a:extLst>
          </p:cNvPr>
          <p:cNvSpPr txBox="1"/>
          <p:nvPr/>
        </p:nvSpPr>
        <p:spPr>
          <a:xfrm>
            <a:off x="727587" y="6161330"/>
            <a:ext cx="746027" cy="369332"/>
          </a:xfrm>
          <a:prstGeom prst="rect">
            <a:avLst/>
          </a:prstGeom>
          <a:noFill/>
        </p:spPr>
        <p:txBody>
          <a:bodyPr wrap="square">
            <a:spAutoFit/>
          </a:bodyPr>
          <a:lstStyle/>
          <a:p>
            <a:r>
              <a:rPr lang="es-MX" sz="1800">
                <a:ea typeface="Aptos" panose="020B0004020202020204" pitchFamily="34" charset="0"/>
                <a:cs typeface="Times New Roman" panose="02020603050405020304" pitchFamily="18" charset="0"/>
              </a:rPr>
              <a:t>m = 3</a:t>
            </a:r>
            <a:endParaRPr lang="en-US"/>
          </a:p>
        </p:txBody>
      </p:sp>
      <p:sp>
        <p:nvSpPr>
          <p:cNvPr id="25" name="CuadroTexto 24">
            <a:extLst>
              <a:ext uri="{FF2B5EF4-FFF2-40B4-BE49-F238E27FC236}">
                <a16:creationId xmlns:a16="http://schemas.microsoft.com/office/drawing/2014/main" id="{1FE684C6-AD61-6688-BE62-7B82D430ABC9}"/>
              </a:ext>
            </a:extLst>
          </p:cNvPr>
          <p:cNvSpPr txBox="1"/>
          <p:nvPr/>
        </p:nvSpPr>
        <p:spPr>
          <a:xfrm>
            <a:off x="6651822" y="6161330"/>
            <a:ext cx="746027" cy="369332"/>
          </a:xfrm>
          <a:prstGeom prst="rect">
            <a:avLst/>
          </a:prstGeom>
          <a:noFill/>
        </p:spPr>
        <p:txBody>
          <a:bodyPr wrap="square">
            <a:spAutoFit/>
          </a:bodyPr>
          <a:lstStyle/>
          <a:p>
            <a:r>
              <a:rPr lang="es-MX" sz="1800">
                <a:ea typeface="Aptos" panose="020B0004020202020204" pitchFamily="34" charset="0"/>
                <a:cs typeface="Times New Roman" panose="02020603050405020304" pitchFamily="18" charset="0"/>
              </a:rPr>
              <a:t>n = 5</a:t>
            </a:r>
            <a:endParaRPr lang="en-US"/>
          </a:p>
        </p:txBody>
      </p:sp>
    </p:spTree>
    <p:extLst>
      <p:ext uri="{BB962C8B-B14F-4D97-AF65-F5344CB8AC3E}">
        <p14:creationId xmlns:p14="http://schemas.microsoft.com/office/powerpoint/2010/main" val="477980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228600"/>
          </a:xfrm>
          <a:prstGeom prst="rect">
            <a:avLst/>
          </a:prstGeom>
          <a:noFill/>
          <a:ln/>
        </p:spPr>
        <p:txBody>
          <a:bodyPr wrap="square" lIns="0" tIns="0" rIns="0" bIns="0" rtlCol="0" anchor="ctr"/>
          <a:lstStyle/>
          <a:p>
            <a:pPr marL="0" indent="0" algn="l">
              <a:buNone/>
            </a:pPr>
            <a:r>
              <a:rPr lang="en-US" sz="800" b="1" kern="0" spc="600">
                <a:solidFill>
                  <a:srgbClr val="4A0F22"/>
                </a:solidFill>
                <a:latin typeface="Inter" pitchFamily="34" charset="0"/>
                <a:ea typeface="Inter" pitchFamily="34" charset="-122"/>
                <a:cs typeface="Inter" pitchFamily="34" charset="-120"/>
              </a:rPr>
              <a:t>INFOTEC   ·   M.C.D.I.   ·   Matemáticas 2026-1</a:t>
            </a:r>
            <a:endParaRPr lang="en-US" sz="800"/>
          </a:p>
        </p:txBody>
      </p:sp>
      <p:sp>
        <p:nvSpPr>
          <p:cNvPr id="3" name="Shape 1"/>
          <p:cNvSpPr/>
          <p:nvPr/>
        </p:nvSpPr>
        <p:spPr>
          <a:xfrm>
            <a:off x="548640" y="566928"/>
            <a:ext cx="11094415" cy="10973"/>
          </a:xfrm>
          <a:prstGeom prst="rect">
            <a:avLst/>
          </a:prstGeom>
          <a:solidFill>
            <a:srgbClr val="000000"/>
          </a:solidFill>
          <a:ln w="12700">
            <a:solidFill>
              <a:srgbClr val="333333"/>
            </a:solidFill>
            <a:prstDash val="solid"/>
          </a:ln>
        </p:spPr>
        <p:txBody>
          <a:bodyPr/>
          <a:lstStyle/>
          <a:p>
            <a:endParaRPr lang="en-MX"/>
          </a:p>
        </p:txBody>
      </p:sp>
      <p:sp>
        <p:nvSpPr>
          <p:cNvPr id="5" name="Text 3"/>
          <p:cNvSpPr/>
          <p:nvPr/>
        </p:nvSpPr>
        <p:spPr>
          <a:xfrm>
            <a:off x="640080" y="1097280"/>
            <a:ext cx="10911535" cy="868680"/>
          </a:xfrm>
          <a:prstGeom prst="rect">
            <a:avLst/>
          </a:prstGeom>
          <a:noFill/>
          <a:ln/>
        </p:spPr>
        <p:txBody>
          <a:bodyPr wrap="square" lIns="0" tIns="0" rIns="0" bIns="0" rtlCol="0" anchor="t"/>
          <a:lstStyle/>
          <a:p>
            <a:r>
              <a:rPr lang="es-ES" sz="3000" b="1">
                <a:solidFill>
                  <a:srgbClr val="B89058"/>
                </a:solidFill>
                <a:latin typeface="Garamond"/>
              </a:rPr>
              <a:t>16.</a:t>
            </a:r>
            <a:r>
              <a:rPr sz="3000" b="1">
                <a:solidFill>
                  <a:srgbClr val="B89058"/>
                </a:solidFill>
                <a:latin typeface="Garamond"/>
              </a:rPr>
              <a:t> </a:t>
            </a:r>
            <a:r>
              <a:rPr sz="3000" b="1" err="1">
                <a:solidFill>
                  <a:srgbClr val="4A0F22"/>
                </a:solidFill>
                <a:latin typeface="Garamond"/>
              </a:rPr>
              <a:t>Flujo</a:t>
            </a:r>
            <a:r>
              <a:rPr sz="3000" b="1">
                <a:solidFill>
                  <a:srgbClr val="4A0F22"/>
                </a:solidFill>
                <a:latin typeface="Garamond"/>
              </a:rPr>
              <a:t> de </a:t>
            </a:r>
            <a:r>
              <a:rPr sz="3000" b="1" err="1">
                <a:solidFill>
                  <a:srgbClr val="4A0F22"/>
                </a:solidFill>
                <a:latin typeface="Garamond"/>
              </a:rPr>
              <a:t>Solución</a:t>
            </a:r>
            <a:r>
              <a:rPr sz="3000" b="1">
                <a:solidFill>
                  <a:srgbClr val="4A0F22"/>
                </a:solidFill>
                <a:latin typeface="Garamond"/>
              </a:rPr>
              <a:t>: </a:t>
            </a:r>
            <a:r>
              <a:rPr lang="es-ES" sz="3000" b="1">
                <a:solidFill>
                  <a:srgbClr val="4A0F22"/>
                </a:solidFill>
                <a:latin typeface="Garamond"/>
              </a:rPr>
              <a:t>Optimización</a:t>
            </a:r>
          </a:p>
        </p:txBody>
      </p:sp>
      <p:sp>
        <p:nvSpPr>
          <p:cNvPr id="6" name="Shape 4"/>
          <p:cNvSpPr/>
          <p:nvPr/>
        </p:nvSpPr>
        <p:spPr>
          <a:xfrm>
            <a:off x="640080" y="2057400"/>
            <a:ext cx="10911535" cy="10973"/>
          </a:xfrm>
          <a:prstGeom prst="rect">
            <a:avLst/>
          </a:prstGeom>
          <a:solidFill>
            <a:srgbClr val="000000"/>
          </a:solidFill>
          <a:ln w="12700">
            <a:solidFill>
              <a:srgbClr val="333333"/>
            </a:solidFill>
            <a:prstDash val="solid"/>
          </a:ln>
        </p:spPr>
        <p:txBody>
          <a:bodyPr/>
          <a:lstStyle/>
          <a:p>
            <a:endParaRPr lang="en-MX"/>
          </a:p>
        </p:txBody>
      </p:sp>
      <p:sp>
        <p:nvSpPr>
          <p:cNvPr id="26" name="Shape 9">
            <a:extLst>
              <a:ext uri="{FF2B5EF4-FFF2-40B4-BE49-F238E27FC236}">
                <a16:creationId xmlns:a16="http://schemas.microsoft.com/office/drawing/2014/main" id="{59999397-FEB8-B8BE-0528-ACE7720FA7A9}"/>
              </a:ext>
            </a:extLst>
          </p:cNvPr>
          <p:cNvSpPr/>
          <p:nvPr/>
        </p:nvSpPr>
        <p:spPr>
          <a:xfrm>
            <a:off x="548640" y="6473952"/>
            <a:ext cx="11094415" cy="10973"/>
          </a:xfrm>
          <a:prstGeom prst="rect">
            <a:avLst/>
          </a:prstGeom>
          <a:solidFill>
            <a:srgbClr val="E0D8CC"/>
          </a:solidFill>
          <a:ln w="12700">
            <a:solidFill>
              <a:srgbClr val="E0D8CC"/>
            </a:solidFill>
            <a:prstDash val="solid"/>
          </a:ln>
        </p:spPr>
        <p:txBody>
          <a:bodyPr/>
          <a:lstStyle/>
          <a:p>
            <a:endParaRPr lang="en-MX"/>
          </a:p>
        </p:txBody>
      </p:sp>
      <p:sp>
        <p:nvSpPr>
          <p:cNvPr id="27" name="Text 10">
            <a:extLst>
              <a:ext uri="{FF2B5EF4-FFF2-40B4-BE49-F238E27FC236}">
                <a16:creationId xmlns:a16="http://schemas.microsoft.com/office/drawing/2014/main" id="{93C5511F-A1B6-C835-B7CA-49F41060249B}"/>
              </a:ext>
            </a:extLst>
          </p:cNvPr>
          <p:cNvSpPr/>
          <p:nvPr/>
        </p:nvSpPr>
        <p:spPr>
          <a:xfrm>
            <a:off x="548640" y="6565392"/>
            <a:ext cx="1828800" cy="182880"/>
          </a:xfrm>
          <a:prstGeom prst="rect">
            <a:avLst/>
          </a:prstGeom>
          <a:noFill/>
          <a:ln/>
        </p:spPr>
        <p:txBody>
          <a:bodyPr wrap="square" lIns="0" tIns="0" rIns="0" bIns="0" rtlCol="0" anchor="ctr"/>
          <a:lstStyle/>
          <a:p>
            <a:pPr marL="0" indent="0" algn="l">
              <a:buNone/>
            </a:pPr>
            <a:r>
              <a:rPr lang="en-US" sz="800" b="1" kern="0" spc="400">
                <a:solidFill>
                  <a:srgbClr val="7A6F73"/>
                </a:solidFill>
                <a:latin typeface="Inter" pitchFamily="34" charset="0"/>
                <a:ea typeface="Inter" pitchFamily="34" charset="-122"/>
                <a:cs typeface="Inter" pitchFamily="34" charset="-120"/>
              </a:rPr>
              <a:t>M.C.D.I.</a:t>
            </a:r>
            <a:endParaRPr lang="en-US" sz="800"/>
          </a:p>
        </p:txBody>
      </p:sp>
      <p:sp>
        <p:nvSpPr>
          <p:cNvPr id="28" name="Text 11">
            <a:extLst>
              <a:ext uri="{FF2B5EF4-FFF2-40B4-BE49-F238E27FC236}">
                <a16:creationId xmlns:a16="http://schemas.microsoft.com/office/drawing/2014/main" id="{ADF8208C-86E6-44CA-A428-5C4E5286E4BB}"/>
              </a:ext>
            </a:extLst>
          </p:cNvPr>
          <p:cNvSpPr/>
          <p:nvPr/>
        </p:nvSpPr>
        <p:spPr>
          <a:xfrm>
            <a:off x="4724248" y="6565392"/>
            <a:ext cx="2743200" cy="182880"/>
          </a:xfrm>
          <a:prstGeom prst="rect">
            <a:avLst/>
          </a:prstGeom>
          <a:noFill/>
          <a:ln/>
        </p:spPr>
        <p:txBody>
          <a:bodyPr wrap="square" lIns="0" tIns="0" rIns="0" bIns="0" rtlCol="0" anchor="ctr"/>
          <a:lstStyle/>
          <a:p>
            <a:pPr marL="0" indent="0" algn="ctr">
              <a:buNone/>
            </a:pPr>
            <a:r>
              <a:rPr lang="en-US" sz="900" i="1">
                <a:solidFill>
                  <a:srgbClr val="8C6A38"/>
                </a:solidFill>
                <a:latin typeface="Garamond" pitchFamily="34" charset="0"/>
                <a:ea typeface="Garamond" pitchFamily="34" charset="-122"/>
                <a:cs typeface="Garamond" pitchFamily="34" charset="-120"/>
              </a:rPr>
              <a:t>—  13 / 20  —</a:t>
            </a:r>
            <a:endParaRPr lang="en-US" sz="900"/>
          </a:p>
        </p:txBody>
      </p:sp>
      <p:sp>
        <p:nvSpPr>
          <p:cNvPr id="29" name="Text 12">
            <a:extLst>
              <a:ext uri="{FF2B5EF4-FFF2-40B4-BE49-F238E27FC236}">
                <a16:creationId xmlns:a16="http://schemas.microsoft.com/office/drawing/2014/main" id="{99CF585E-5874-ACAA-E9CC-68E4A1169118}"/>
              </a:ext>
            </a:extLst>
          </p:cNvPr>
          <p:cNvSpPr/>
          <p:nvPr/>
        </p:nvSpPr>
        <p:spPr>
          <a:xfrm>
            <a:off x="8899855" y="6565392"/>
            <a:ext cx="2743200" cy="182880"/>
          </a:xfrm>
          <a:prstGeom prst="rect">
            <a:avLst/>
          </a:prstGeom>
          <a:noFill/>
          <a:ln/>
        </p:spPr>
        <p:txBody>
          <a:bodyPr wrap="square" lIns="0" tIns="0" rIns="0" bIns="0" rtlCol="0" anchor="ctr"/>
          <a:lstStyle/>
          <a:p>
            <a:pPr marL="0" indent="0" algn="r">
              <a:buNone/>
            </a:pPr>
            <a:r>
              <a:rPr lang="en-US" sz="800" i="1">
                <a:solidFill>
                  <a:srgbClr val="7A6F73"/>
                </a:solidFill>
                <a:latin typeface="Garamond" pitchFamily="34" charset="0"/>
                <a:ea typeface="Garamond" pitchFamily="34" charset="-122"/>
                <a:cs typeface="Garamond" pitchFamily="34" charset="-120"/>
              </a:rPr>
              <a:t>Equipo 5</a:t>
            </a:r>
            <a:endParaRPr lang="en-US" sz="800"/>
          </a:p>
        </p:txBody>
      </p:sp>
      <p:sp>
        <p:nvSpPr>
          <p:cNvPr id="11" name="Text 2">
            <a:extLst>
              <a:ext uri="{FF2B5EF4-FFF2-40B4-BE49-F238E27FC236}">
                <a16:creationId xmlns:a16="http://schemas.microsoft.com/office/drawing/2014/main" id="{F84EFC55-FAE7-B7DC-639C-EEFEC43F57C1}"/>
              </a:ext>
            </a:extLst>
          </p:cNvPr>
          <p:cNvSpPr/>
          <p:nvPr/>
        </p:nvSpPr>
        <p:spPr>
          <a:xfrm>
            <a:off x="640080" y="868680"/>
            <a:ext cx="4572000" cy="228600"/>
          </a:xfrm>
          <a:prstGeom prst="rect">
            <a:avLst/>
          </a:prstGeom>
          <a:noFill/>
          <a:ln/>
        </p:spPr>
        <p:txBody>
          <a:bodyPr wrap="square" lIns="0" tIns="0" rIns="0" bIns="0" rtlCol="0" anchor="t"/>
          <a:lstStyle/>
          <a:p>
            <a:pPr marL="0" indent="0" algn="l">
              <a:buNone/>
            </a:pPr>
            <a:r>
              <a:rPr lang="en-US" sz="900" b="1" kern="0" spc="300">
                <a:solidFill>
                  <a:srgbClr val="8C6A38"/>
                </a:solidFill>
                <a:latin typeface="Inter" pitchFamily="34" charset="0"/>
                <a:ea typeface="Inter" pitchFamily="34" charset="-122"/>
                <a:cs typeface="Inter" pitchFamily="34" charset="-120"/>
              </a:rPr>
              <a:t>SECCION 3</a:t>
            </a:r>
            <a:endParaRPr lang="en-US" sz="900" spc="300"/>
          </a:p>
        </p:txBody>
      </p:sp>
      <p:pic>
        <p:nvPicPr>
          <p:cNvPr id="4" name="Imagen 3">
            <a:extLst>
              <a:ext uri="{FF2B5EF4-FFF2-40B4-BE49-F238E27FC236}">
                <a16:creationId xmlns:a16="http://schemas.microsoft.com/office/drawing/2014/main" id="{568B7399-CFFF-AB3A-B0DA-C8818D99AA3C}"/>
              </a:ext>
            </a:extLst>
          </p:cNvPr>
          <p:cNvPicPr>
            <a:picLocks noChangeAspect="1"/>
          </p:cNvPicPr>
          <p:nvPr/>
        </p:nvPicPr>
        <p:blipFill>
          <a:blip r:embed="rId4"/>
          <a:srcRect t="7561" b="31571"/>
          <a:stretch>
            <a:fillRect/>
          </a:stretch>
        </p:blipFill>
        <p:spPr>
          <a:xfrm>
            <a:off x="824051" y="2336667"/>
            <a:ext cx="10543592" cy="1460635"/>
          </a:xfrm>
          <a:prstGeom prst="rect">
            <a:avLst/>
          </a:prstGeom>
        </p:spPr>
      </p:pic>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4D0AF1C7-E561-53C8-4D6D-265F903E72FD}"/>
                  </a:ext>
                </a:extLst>
              </p:cNvPr>
              <p:cNvSpPr txBox="1"/>
              <p:nvPr/>
            </p:nvSpPr>
            <p:spPr>
              <a:xfrm>
                <a:off x="9013313" y="4527275"/>
                <a:ext cx="2748132" cy="62747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sz="1600" i="1" smtClean="0">
                          <a:latin typeface="Cambria Math" panose="02040503050406030204" pitchFamily="18" charset="0"/>
                        </a:rPr>
                        <m:t>𝑀𝑖𝑛</m:t>
                      </m:r>
                      <m:r>
                        <a:rPr lang="es-MX" sz="1600" i="0">
                          <a:latin typeface="Cambria Math" panose="02040503050406030204" pitchFamily="18" charset="0"/>
                        </a:rPr>
                        <m:t> </m:t>
                      </m:r>
                      <m:r>
                        <a:rPr lang="es-MX" sz="1600" i="1">
                          <a:latin typeface="Cambria Math" panose="02040503050406030204" pitchFamily="18" charset="0"/>
                        </a:rPr>
                        <m:t>𝑍</m:t>
                      </m:r>
                      <m:r>
                        <a:rPr lang="es-MX" sz="1600" i="0">
                          <a:latin typeface="Cambria Math" panose="02040503050406030204" pitchFamily="18" charset="0"/>
                        </a:rPr>
                        <m:t>=</m:t>
                      </m:r>
                      <m:nary>
                        <m:naryPr>
                          <m:chr m:val="∑"/>
                          <m:limLoc m:val="subSup"/>
                          <m:ctrlPr>
                            <a:rPr lang="es-MX" sz="1600" i="1">
                              <a:latin typeface="Cambria Math" panose="02040503050406030204" pitchFamily="18" charset="0"/>
                            </a:rPr>
                          </m:ctrlPr>
                        </m:naryPr>
                        <m:sub>
                          <m:r>
                            <a:rPr lang="es-MX" sz="1600" i="1">
                              <a:latin typeface="Cambria Math" panose="02040503050406030204" pitchFamily="18" charset="0"/>
                            </a:rPr>
                            <m:t>𝑖</m:t>
                          </m:r>
                          <m:r>
                            <a:rPr lang="es-MX" sz="1600" i="0">
                              <a:latin typeface="Cambria Math" panose="02040503050406030204" pitchFamily="18" charset="0"/>
                            </a:rPr>
                            <m:t>=1</m:t>
                          </m:r>
                        </m:sub>
                        <m:sup>
                          <m:r>
                            <a:rPr lang="es-MX" sz="1600" i="0">
                              <a:latin typeface="Cambria Math" panose="02040503050406030204" pitchFamily="18" charset="0"/>
                            </a:rPr>
                            <m:t>3</m:t>
                          </m:r>
                        </m:sup>
                        <m:e>
                          <m:nary>
                            <m:naryPr>
                              <m:chr m:val="∑"/>
                              <m:limLoc m:val="subSup"/>
                              <m:ctrlPr>
                                <a:rPr lang="es-MX" sz="1600" i="1">
                                  <a:latin typeface="Cambria Math" panose="02040503050406030204" pitchFamily="18" charset="0"/>
                                </a:rPr>
                              </m:ctrlPr>
                            </m:naryPr>
                            <m:sub>
                              <m:r>
                                <a:rPr lang="es-MX" sz="1600" i="1">
                                  <a:latin typeface="Cambria Math" panose="02040503050406030204" pitchFamily="18" charset="0"/>
                                </a:rPr>
                                <m:t>𝑗</m:t>
                              </m:r>
                              <m:r>
                                <a:rPr lang="es-MX" sz="1600" i="0">
                                  <a:latin typeface="Cambria Math" panose="02040503050406030204" pitchFamily="18" charset="0"/>
                                </a:rPr>
                                <m:t>=1</m:t>
                              </m:r>
                            </m:sub>
                            <m:sup>
                              <m:r>
                                <a:rPr lang="es-MX" sz="1600" i="0">
                                  <a:latin typeface="Cambria Math" panose="02040503050406030204" pitchFamily="18" charset="0"/>
                                </a:rPr>
                                <m:t>5</m:t>
                              </m:r>
                            </m:sup>
                            <m:e>
                              <m:sSub>
                                <m:sSubPr>
                                  <m:ctrlPr>
                                    <a:rPr lang="es-MX" sz="1600" i="1">
                                      <a:solidFill>
                                        <a:srgbClr val="836967"/>
                                      </a:solidFill>
                                      <a:latin typeface="Cambria Math" panose="02040503050406030204" pitchFamily="18" charset="0"/>
                                    </a:rPr>
                                  </m:ctrlPr>
                                </m:sSubPr>
                                <m:e>
                                  <m:r>
                                    <a:rPr lang="es-MX" sz="1600" i="1">
                                      <a:latin typeface="Cambria Math" panose="02040503050406030204" pitchFamily="18" charset="0"/>
                                    </a:rPr>
                                    <m:t>𝑐</m:t>
                                  </m:r>
                                </m:e>
                                <m:sub>
                                  <m:r>
                                    <a:rPr lang="es-MX" sz="1600" i="1">
                                      <a:latin typeface="Cambria Math" panose="02040503050406030204" pitchFamily="18" charset="0"/>
                                    </a:rPr>
                                    <m:t>𝑖𝑗</m:t>
                                  </m:r>
                                </m:sub>
                              </m:sSub>
                              <m:sSub>
                                <m:sSubPr>
                                  <m:ctrlPr>
                                    <a:rPr lang="es-MX" sz="1600" i="1">
                                      <a:solidFill>
                                        <a:srgbClr val="836967"/>
                                      </a:solidFill>
                                      <a:latin typeface="Cambria Math" panose="02040503050406030204" pitchFamily="18" charset="0"/>
                                    </a:rPr>
                                  </m:ctrlPr>
                                </m:sSubPr>
                                <m:e>
                                  <m:r>
                                    <a:rPr lang="es-MX" sz="1600" i="1">
                                      <a:latin typeface="Cambria Math" panose="02040503050406030204" pitchFamily="18" charset="0"/>
                                    </a:rPr>
                                    <m:t>𝑋</m:t>
                                  </m:r>
                                </m:e>
                                <m:sub>
                                  <m:r>
                                    <a:rPr lang="es-MX" sz="1600" i="1">
                                      <a:latin typeface="Cambria Math" panose="02040503050406030204" pitchFamily="18" charset="0"/>
                                    </a:rPr>
                                    <m:t>𝑖𝑗</m:t>
                                  </m:r>
                                </m:sub>
                              </m:sSub>
                            </m:e>
                          </m:nary>
                        </m:e>
                      </m:nary>
                    </m:oMath>
                  </m:oMathPara>
                </a14:m>
                <a:endParaRPr lang="es-MX" sz="1600"/>
              </a:p>
            </p:txBody>
          </p:sp>
        </mc:Choice>
        <mc:Fallback xmlns="">
          <p:sp>
            <p:nvSpPr>
              <p:cNvPr id="12" name="CuadroTexto 11">
                <a:extLst>
                  <a:ext uri="{FF2B5EF4-FFF2-40B4-BE49-F238E27FC236}">
                    <a16:creationId xmlns:a16="http://schemas.microsoft.com/office/drawing/2014/main" id="{4D0AF1C7-E561-53C8-4D6D-265F903E72FD}"/>
                  </a:ext>
                </a:extLst>
              </p:cNvPr>
              <p:cNvSpPr txBox="1">
                <a:spLocks noRot="1" noChangeAspect="1" noMove="1" noResize="1" noEditPoints="1" noAdjustHandles="1" noChangeArrowheads="1" noChangeShapeType="1" noTextEdit="1"/>
              </p:cNvSpPr>
              <p:nvPr/>
            </p:nvSpPr>
            <p:spPr>
              <a:xfrm>
                <a:off x="9013313" y="4527275"/>
                <a:ext cx="2748132" cy="627479"/>
              </a:xfrm>
              <a:prstGeom prst="rect">
                <a:avLst/>
              </a:prstGeom>
              <a:blipFill>
                <a:blip r:embed="rId5"/>
                <a:stretch>
                  <a:fillRect t="-133333" b="-196078"/>
                </a:stretch>
              </a:blipFill>
            </p:spPr>
            <p:txBody>
              <a:bodyPr/>
              <a:lstStyle/>
              <a:p>
                <a:r>
                  <a:rPr lang="en-MX">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43EAC899-4FC1-B20B-5C88-10BC13FFDBA0}"/>
                  </a:ext>
                </a:extLst>
              </p:cNvPr>
              <p:cNvSpPr txBox="1"/>
              <p:nvPr/>
            </p:nvSpPr>
            <p:spPr>
              <a:xfrm>
                <a:off x="786316" y="4052679"/>
                <a:ext cx="1686231" cy="328167"/>
              </a:xfrm>
              <a:prstGeom prst="rect">
                <a:avLst/>
              </a:prstGeom>
              <a:noFill/>
            </p:spPr>
            <p:txBody>
              <a:bodyPr wrap="none" rtlCol="0">
                <a:spAutoFit/>
              </a:bodyPr>
              <a:lstStyle/>
              <a:p>
                <a:r>
                  <a:rPr lang="es-MX" sz="1400" b="1"/>
                  <a:t>Matriz de costos </a:t>
                </a:r>
                <a14:m>
                  <m:oMath xmlns:m="http://schemas.openxmlformats.org/officeDocument/2006/math">
                    <m:sSub>
                      <m:sSubPr>
                        <m:ctrlPr>
                          <a:rPr lang="es-MX" sz="1400" b="1" i="1" smtClean="0">
                            <a:solidFill>
                              <a:srgbClr val="836967"/>
                            </a:solidFill>
                            <a:latin typeface="Cambria Math" panose="02040503050406030204" pitchFamily="18" charset="0"/>
                          </a:rPr>
                        </m:ctrlPr>
                      </m:sSubPr>
                      <m:e>
                        <m:r>
                          <a:rPr lang="es-MX" sz="1400" b="1" i="1" smtClean="0">
                            <a:latin typeface="Cambria Math" panose="02040503050406030204" pitchFamily="18" charset="0"/>
                          </a:rPr>
                          <m:t>𝒄</m:t>
                        </m:r>
                      </m:e>
                      <m:sub>
                        <m:r>
                          <a:rPr lang="es-MX" sz="1400" b="1" i="1" smtClean="0">
                            <a:latin typeface="Cambria Math" panose="02040503050406030204" pitchFamily="18" charset="0"/>
                          </a:rPr>
                          <m:t>𝒊𝒋</m:t>
                        </m:r>
                      </m:sub>
                    </m:sSub>
                  </m:oMath>
                </a14:m>
                <a:r>
                  <a:rPr lang="es-MX" sz="1400" b="1"/>
                  <a:t> </a:t>
                </a:r>
              </a:p>
            </p:txBody>
          </p:sp>
        </mc:Choice>
        <mc:Fallback xmlns="">
          <p:sp>
            <p:nvSpPr>
              <p:cNvPr id="13" name="CuadroTexto 12">
                <a:extLst>
                  <a:ext uri="{FF2B5EF4-FFF2-40B4-BE49-F238E27FC236}">
                    <a16:creationId xmlns:a16="http://schemas.microsoft.com/office/drawing/2014/main" id="{43EAC899-4FC1-B20B-5C88-10BC13FFDBA0}"/>
                  </a:ext>
                </a:extLst>
              </p:cNvPr>
              <p:cNvSpPr txBox="1">
                <a:spLocks noRot="1" noChangeAspect="1" noMove="1" noResize="1" noEditPoints="1" noAdjustHandles="1" noChangeArrowheads="1" noChangeShapeType="1" noTextEdit="1"/>
              </p:cNvSpPr>
              <p:nvPr/>
            </p:nvSpPr>
            <p:spPr>
              <a:xfrm>
                <a:off x="786316" y="4052679"/>
                <a:ext cx="1686231" cy="328167"/>
              </a:xfrm>
              <a:prstGeom prst="rect">
                <a:avLst/>
              </a:prstGeom>
              <a:blipFill>
                <a:blip r:embed="rId6"/>
                <a:stretch>
                  <a:fillRect l="-746" t="-3704" b="-11111"/>
                </a:stretch>
              </a:blipFill>
            </p:spPr>
            <p:txBody>
              <a:bodyPr/>
              <a:lstStyle/>
              <a:p>
                <a:r>
                  <a:rPr lang="en-MX">
                    <a:noFill/>
                  </a:rPr>
                  <a:t> </a:t>
                </a:r>
              </a:p>
            </p:txBody>
          </p:sp>
        </mc:Fallback>
      </mc:AlternateContent>
      <p:sp>
        <p:nvSpPr>
          <p:cNvPr id="14" name="CuadroTexto 13">
            <a:extLst>
              <a:ext uri="{FF2B5EF4-FFF2-40B4-BE49-F238E27FC236}">
                <a16:creationId xmlns:a16="http://schemas.microsoft.com/office/drawing/2014/main" id="{89458963-AF14-EA24-4D26-94BA77D85B74}"/>
              </a:ext>
            </a:extLst>
          </p:cNvPr>
          <p:cNvSpPr txBox="1"/>
          <p:nvPr/>
        </p:nvSpPr>
        <p:spPr>
          <a:xfrm>
            <a:off x="4051964" y="4062874"/>
            <a:ext cx="1154098" cy="307777"/>
          </a:xfrm>
          <a:prstGeom prst="rect">
            <a:avLst/>
          </a:prstGeom>
          <a:noFill/>
        </p:spPr>
        <p:txBody>
          <a:bodyPr wrap="none" rtlCol="0">
            <a:spAutoFit/>
          </a:bodyPr>
          <a:lstStyle/>
          <a:p>
            <a:r>
              <a:rPr lang="es-MX" sz="1400" b="1"/>
              <a:t>Librería </a:t>
            </a:r>
            <a:r>
              <a:rPr lang="es-MX" sz="1400" b="1" err="1"/>
              <a:t>PuLP</a:t>
            </a:r>
            <a:endParaRPr lang="es-MX" sz="1400" b="1"/>
          </a:p>
        </p:txBody>
      </p:sp>
      <p:sp>
        <p:nvSpPr>
          <p:cNvPr id="16" name="CuadroTexto 15">
            <a:extLst>
              <a:ext uri="{FF2B5EF4-FFF2-40B4-BE49-F238E27FC236}">
                <a16:creationId xmlns:a16="http://schemas.microsoft.com/office/drawing/2014/main" id="{D6DE09DD-5BDD-F51D-CEE2-EBC730F2458F}"/>
              </a:ext>
            </a:extLst>
          </p:cNvPr>
          <p:cNvSpPr txBox="1"/>
          <p:nvPr/>
        </p:nvSpPr>
        <p:spPr>
          <a:xfrm>
            <a:off x="6535417" y="3861168"/>
            <a:ext cx="2181110" cy="523220"/>
          </a:xfrm>
          <a:prstGeom prst="rect">
            <a:avLst/>
          </a:prstGeom>
          <a:noFill/>
        </p:spPr>
        <p:txBody>
          <a:bodyPr wrap="none" lIns="91440" tIns="45720" rIns="91440" bIns="45720" rtlCol="0" anchor="t">
            <a:spAutoFit/>
          </a:bodyPr>
          <a:lstStyle/>
          <a:p>
            <a:pPr algn="ctr"/>
            <a:r>
              <a:rPr lang="es-MX" sz="1400" b="1" err="1"/>
              <a:t>Solver</a:t>
            </a:r>
            <a:r>
              <a:rPr lang="es-MX" sz="1400" b="1"/>
              <a:t> </a:t>
            </a:r>
            <a:endParaRPr lang="es-ES"/>
          </a:p>
          <a:p>
            <a:pPr algn="ctr"/>
            <a:r>
              <a:rPr lang="es-MX" sz="1400" b="1"/>
              <a:t>Algoritmo Branch &amp; </a:t>
            </a:r>
            <a:r>
              <a:rPr lang="es-MX" sz="1400" b="1" err="1"/>
              <a:t>Bound</a:t>
            </a:r>
            <a:endParaRPr lang="es-MX" sz="1400" b="1">
              <a:ea typeface="Calibri"/>
              <a:cs typeface="Calibri"/>
            </a:endParaRPr>
          </a:p>
        </p:txBody>
      </p:sp>
      <p:sp>
        <p:nvSpPr>
          <p:cNvPr id="17" name="CuadroTexto 16">
            <a:extLst>
              <a:ext uri="{FF2B5EF4-FFF2-40B4-BE49-F238E27FC236}">
                <a16:creationId xmlns:a16="http://schemas.microsoft.com/office/drawing/2014/main" id="{9955718C-B204-F93B-5471-59F857B5ED38}"/>
              </a:ext>
            </a:extLst>
          </p:cNvPr>
          <p:cNvSpPr txBox="1"/>
          <p:nvPr/>
        </p:nvSpPr>
        <p:spPr>
          <a:xfrm>
            <a:off x="9686258" y="4062874"/>
            <a:ext cx="1402243" cy="307777"/>
          </a:xfrm>
          <a:prstGeom prst="rect">
            <a:avLst/>
          </a:prstGeom>
          <a:noFill/>
        </p:spPr>
        <p:txBody>
          <a:bodyPr wrap="none" rtlCol="0">
            <a:spAutoFit/>
          </a:bodyPr>
          <a:lstStyle/>
          <a:p>
            <a:r>
              <a:rPr lang="es-MX" sz="1400" b="1"/>
              <a:t>Optimo Global Z</a:t>
            </a:r>
          </a:p>
        </p:txBody>
      </p:sp>
      <p:sp>
        <p:nvSpPr>
          <p:cNvPr id="18" name="CuadroTexto 17">
            <a:extLst>
              <a:ext uri="{FF2B5EF4-FFF2-40B4-BE49-F238E27FC236}">
                <a16:creationId xmlns:a16="http://schemas.microsoft.com/office/drawing/2014/main" id="{236F96AD-9239-C4B9-1D29-80E7DFF36EC7}"/>
              </a:ext>
            </a:extLst>
          </p:cNvPr>
          <p:cNvSpPr txBox="1"/>
          <p:nvPr/>
        </p:nvSpPr>
        <p:spPr>
          <a:xfrm>
            <a:off x="463104" y="4545990"/>
            <a:ext cx="2332654" cy="307777"/>
          </a:xfrm>
          <a:prstGeom prst="rect">
            <a:avLst/>
          </a:prstGeom>
          <a:noFill/>
        </p:spPr>
        <p:txBody>
          <a:bodyPr wrap="square" rtlCol="0">
            <a:spAutoFit/>
          </a:bodyPr>
          <a:lstStyle/>
          <a:p>
            <a:pPr algn="just"/>
            <a:r>
              <a:rPr lang="es-MX" sz="1400"/>
              <a:t>Matriz 3x5 de costo por ruta </a:t>
            </a:r>
          </a:p>
        </p:txBody>
      </p:sp>
      <p:sp>
        <p:nvSpPr>
          <p:cNvPr id="19" name="CuadroTexto 18">
            <a:extLst>
              <a:ext uri="{FF2B5EF4-FFF2-40B4-BE49-F238E27FC236}">
                <a16:creationId xmlns:a16="http://schemas.microsoft.com/office/drawing/2014/main" id="{A14A37C3-7812-40B2-6199-A024A62D66AD}"/>
              </a:ext>
            </a:extLst>
          </p:cNvPr>
          <p:cNvSpPr txBox="1"/>
          <p:nvPr/>
        </p:nvSpPr>
        <p:spPr>
          <a:xfrm>
            <a:off x="3254947" y="4545990"/>
            <a:ext cx="2748132" cy="738664"/>
          </a:xfrm>
          <a:prstGeom prst="rect">
            <a:avLst/>
          </a:prstGeom>
          <a:noFill/>
        </p:spPr>
        <p:txBody>
          <a:bodyPr wrap="square" rtlCol="0">
            <a:spAutoFit/>
          </a:bodyPr>
          <a:lstStyle/>
          <a:p>
            <a:pPr algn="just"/>
            <a:r>
              <a:rPr lang="es-MX" sz="1400">
                <a:effectLst/>
                <a:ea typeface="Aptos" panose="020B0004020202020204" pitchFamily="34" charset="0"/>
                <a:cs typeface="Times New Roman" panose="02020603050405020304" pitchFamily="18" charset="0"/>
              </a:rPr>
              <a:t>Modelador de optimización lineal que interactúa con </a:t>
            </a:r>
            <a:r>
              <a:rPr lang="es-MX" sz="1400" err="1">
                <a:effectLst/>
                <a:ea typeface="Aptos" panose="020B0004020202020204" pitchFamily="34" charset="0"/>
                <a:cs typeface="Times New Roman" panose="02020603050405020304" pitchFamily="18" charset="0"/>
              </a:rPr>
              <a:t>solvers</a:t>
            </a:r>
            <a:r>
              <a:rPr lang="es-MX" sz="1400">
                <a:effectLst/>
                <a:ea typeface="Aptos" panose="020B0004020202020204" pitchFamily="34" charset="0"/>
                <a:cs typeface="Times New Roman" panose="02020603050405020304" pitchFamily="18" charset="0"/>
              </a:rPr>
              <a:t>  como CBC o GLPK</a:t>
            </a:r>
            <a:endParaRPr lang="es-MX" sz="1400"/>
          </a:p>
        </p:txBody>
      </p:sp>
      <p:sp>
        <p:nvSpPr>
          <p:cNvPr id="20" name="CuadroTexto 19">
            <a:extLst>
              <a:ext uri="{FF2B5EF4-FFF2-40B4-BE49-F238E27FC236}">
                <a16:creationId xmlns:a16="http://schemas.microsoft.com/office/drawing/2014/main" id="{2FEA779B-3608-06D0-9DFA-980F1DB63B93}"/>
              </a:ext>
            </a:extLst>
          </p:cNvPr>
          <p:cNvSpPr txBox="1"/>
          <p:nvPr/>
        </p:nvSpPr>
        <p:spPr>
          <a:xfrm>
            <a:off x="6462268" y="4522027"/>
            <a:ext cx="2332654" cy="1600438"/>
          </a:xfrm>
          <a:prstGeom prst="rect">
            <a:avLst/>
          </a:prstGeom>
          <a:noFill/>
        </p:spPr>
        <p:txBody>
          <a:bodyPr wrap="square" rtlCol="0">
            <a:spAutoFit/>
          </a:bodyPr>
          <a:lstStyle/>
          <a:p>
            <a:pPr algn="just"/>
            <a:r>
              <a:rPr lang="es-MX" sz="1400">
                <a:cs typeface="Times New Roman" panose="02020603050405020304" pitchFamily="18" charset="0"/>
              </a:rPr>
              <a:t>Restricciones:</a:t>
            </a:r>
          </a:p>
          <a:p>
            <a:pPr marL="342900" indent="-342900" algn="just">
              <a:buFont typeface="+mj-lt"/>
              <a:buAutoNum type="arabicPeriod"/>
            </a:pPr>
            <a:r>
              <a:rPr lang="es-MX" sz="1400">
                <a:effectLst/>
                <a:ea typeface="Aptos" panose="020B0004020202020204" pitchFamily="34" charset="0"/>
                <a:cs typeface="Times New Roman" panose="02020603050405020304" pitchFamily="18" charset="0"/>
              </a:rPr>
              <a:t>Disponibilidad en Mega Centros</a:t>
            </a:r>
          </a:p>
          <a:p>
            <a:pPr marL="342900" indent="-342900" algn="just">
              <a:buFont typeface="+mj-lt"/>
              <a:buAutoNum type="arabicPeriod"/>
            </a:pPr>
            <a:r>
              <a:rPr lang="es-MX" sz="1400">
                <a:effectLst/>
                <a:ea typeface="Aptos" panose="020B0004020202020204" pitchFamily="34" charset="0"/>
                <a:cs typeface="Times New Roman" panose="02020603050405020304" pitchFamily="18" charset="0"/>
              </a:rPr>
              <a:t>Requerimientos en el destino</a:t>
            </a:r>
          </a:p>
          <a:p>
            <a:pPr marL="342900" indent="-342900" algn="just">
              <a:buFont typeface="+mj-lt"/>
              <a:buAutoNum type="arabicPeriod"/>
            </a:pPr>
            <a:r>
              <a:rPr lang="es-MX" sz="1400">
                <a:cs typeface="Times New Roman" panose="02020603050405020304" pitchFamily="18" charset="0"/>
              </a:rPr>
              <a:t>No negatividad</a:t>
            </a:r>
          </a:p>
          <a:p>
            <a:pPr marL="342900" indent="-342900" algn="just">
              <a:buFont typeface="+mj-lt"/>
              <a:buAutoNum type="arabicPeriod"/>
            </a:pPr>
            <a:r>
              <a:rPr lang="es-MX" sz="1400">
                <a:cs typeface="Times New Roman" panose="02020603050405020304" pitchFamily="18" charset="0"/>
              </a:rPr>
              <a:t>Variables enteras</a:t>
            </a:r>
            <a:endParaRPr lang="es-MX" sz="1400"/>
          </a:p>
        </p:txBody>
      </p:sp>
    </p:spTree>
    <p:extLst>
      <p:ext uri="{BB962C8B-B14F-4D97-AF65-F5344CB8AC3E}">
        <p14:creationId xmlns:p14="http://schemas.microsoft.com/office/powerpoint/2010/main" val="236563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228600"/>
          </a:xfrm>
          <a:prstGeom prst="rect">
            <a:avLst/>
          </a:prstGeom>
          <a:noFill/>
          <a:ln/>
        </p:spPr>
        <p:txBody>
          <a:bodyPr wrap="square" lIns="0" tIns="0" rIns="0" bIns="0" rtlCol="0" anchor="ctr"/>
          <a:lstStyle/>
          <a:p>
            <a:pPr marL="0" indent="0" algn="l">
              <a:buNone/>
            </a:pPr>
            <a:r>
              <a:rPr lang="en-US" sz="800" b="1" kern="0" spc="600">
                <a:solidFill>
                  <a:srgbClr val="4A0F22"/>
                </a:solidFill>
                <a:latin typeface="Inter" pitchFamily="34" charset="0"/>
                <a:ea typeface="Inter" pitchFamily="34" charset="-122"/>
                <a:cs typeface="Inter" pitchFamily="34" charset="-120"/>
              </a:rPr>
              <a:t>INFOTEC   ·   M.C.D.I.   ·   Matemáticas 2026-1</a:t>
            </a:r>
            <a:endParaRPr lang="en-US" sz="800"/>
          </a:p>
        </p:txBody>
      </p:sp>
      <p:sp>
        <p:nvSpPr>
          <p:cNvPr id="3" name="Shape 1"/>
          <p:cNvSpPr/>
          <p:nvPr/>
        </p:nvSpPr>
        <p:spPr>
          <a:xfrm>
            <a:off x="548640" y="566928"/>
            <a:ext cx="11094415" cy="10973"/>
          </a:xfrm>
          <a:prstGeom prst="rect">
            <a:avLst/>
          </a:prstGeom>
          <a:solidFill>
            <a:srgbClr val="000000"/>
          </a:solidFill>
          <a:ln w="12700">
            <a:solidFill>
              <a:srgbClr val="333333"/>
            </a:solidFill>
            <a:prstDash val="solid"/>
          </a:ln>
        </p:spPr>
        <p:txBody>
          <a:bodyPr/>
          <a:lstStyle/>
          <a:p>
            <a:endParaRPr lang="en-MX"/>
          </a:p>
        </p:txBody>
      </p:sp>
      <p:sp>
        <p:nvSpPr>
          <p:cNvPr id="5" name="Text 3"/>
          <p:cNvSpPr/>
          <p:nvPr/>
        </p:nvSpPr>
        <p:spPr>
          <a:xfrm>
            <a:off x="640080" y="1097280"/>
            <a:ext cx="10911535" cy="868680"/>
          </a:xfrm>
          <a:prstGeom prst="rect">
            <a:avLst/>
          </a:prstGeom>
          <a:noFill/>
          <a:ln/>
        </p:spPr>
        <p:txBody>
          <a:bodyPr wrap="square" lIns="0" tIns="0" rIns="0" bIns="0" rtlCol="0" anchor="t"/>
          <a:lstStyle/>
          <a:p>
            <a:r>
              <a:rPr lang="es-ES" sz="3000" b="1">
                <a:solidFill>
                  <a:srgbClr val="B89058"/>
                </a:solidFill>
                <a:latin typeface="Garamond"/>
              </a:rPr>
              <a:t>17.</a:t>
            </a:r>
            <a:r>
              <a:rPr sz="3000" b="1">
                <a:solidFill>
                  <a:srgbClr val="B89058"/>
                </a:solidFill>
                <a:latin typeface="Garamond"/>
              </a:rPr>
              <a:t> </a:t>
            </a:r>
            <a:r>
              <a:rPr lang="es-ES" sz="3000" b="1">
                <a:solidFill>
                  <a:srgbClr val="4A0F22"/>
                </a:solidFill>
                <a:latin typeface="Garamond"/>
              </a:rPr>
              <a:t>Análisis Primal: Resultados</a:t>
            </a:r>
            <a:r>
              <a:rPr sz="3000" b="1">
                <a:solidFill>
                  <a:srgbClr val="4A0F22"/>
                </a:solidFill>
                <a:latin typeface="Garamond"/>
              </a:rPr>
              <a:t> de </a:t>
            </a:r>
            <a:r>
              <a:rPr sz="3000" b="1" err="1">
                <a:solidFill>
                  <a:srgbClr val="4A0F22"/>
                </a:solidFill>
                <a:latin typeface="Garamond"/>
              </a:rPr>
              <a:t>Optimización</a:t>
            </a:r>
            <a:endParaRPr lang="en-US" sz="3800"/>
          </a:p>
        </p:txBody>
      </p:sp>
      <p:sp>
        <p:nvSpPr>
          <p:cNvPr id="6" name="Shape 4"/>
          <p:cNvSpPr/>
          <p:nvPr/>
        </p:nvSpPr>
        <p:spPr>
          <a:xfrm>
            <a:off x="640080" y="2057400"/>
            <a:ext cx="10911535" cy="10973"/>
          </a:xfrm>
          <a:prstGeom prst="rect">
            <a:avLst/>
          </a:prstGeom>
          <a:solidFill>
            <a:srgbClr val="000000"/>
          </a:solidFill>
          <a:ln w="12700">
            <a:solidFill>
              <a:srgbClr val="333333"/>
            </a:solidFill>
            <a:prstDash val="solid"/>
          </a:ln>
        </p:spPr>
        <p:txBody>
          <a:bodyPr/>
          <a:lstStyle/>
          <a:p>
            <a:endParaRPr lang="en-MX"/>
          </a:p>
        </p:txBody>
      </p:sp>
      <p:sp>
        <p:nvSpPr>
          <p:cNvPr id="36" name="Shape 9">
            <a:extLst>
              <a:ext uri="{FF2B5EF4-FFF2-40B4-BE49-F238E27FC236}">
                <a16:creationId xmlns:a16="http://schemas.microsoft.com/office/drawing/2014/main" id="{1FDA6317-2F74-D2E4-2689-F24398BFF639}"/>
              </a:ext>
            </a:extLst>
          </p:cNvPr>
          <p:cNvSpPr/>
          <p:nvPr/>
        </p:nvSpPr>
        <p:spPr>
          <a:xfrm>
            <a:off x="548640" y="6473952"/>
            <a:ext cx="11094415" cy="10973"/>
          </a:xfrm>
          <a:prstGeom prst="rect">
            <a:avLst/>
          </a:prstGeom>
          <a:solidFill>
            <a:srgbClr val="E0D8CC"/>
          </a:solidFill>
          <a:ln w="12700">
            <a:solidFill>
              <a:srgbClr val="E0D8CC"/>
            </a:solidFill>
            <a:prstDash val="solid"/>
          </a:ln>
        </p:spPr>
        <p:txBody>
          <a:bodyPr/>
          <a:lstStyle/>
          <a:p>
            <a:endParaRPr lang="en-MX"/>
          </a:p>
        </p:txBody>
      </p:sp>
      <p:sp>
        <p:nvSpPr>
          <p:cNvPr id="37" name="Text 10">
            <a:extLst>
              <a:ext uri="{FF2B5EF4-FFF2-40B4-BE49-F238E27FC236}">
                <a16:creationId xmlns:a16="http://schemas.microsoft.com/office/drawing/2014/main" id="{3E794420-F17C-B793-DF33-40E903202D21}"/>
              </a:ext>
            </a:extLst>
          </p:cNvPr>
          <p:cNvSpPr/>
          <p:nvPr/>
        </p:nvSpPr>
        <p:spPr>
          <a:xfrm>
            <a:off x="548640" y="6565392"/>
            <a:ext cx="1828800" cy="182880"/>
          </a:xfrm>
          <a:prstGeom prst="rect">
            <a:avLst/>
          </a:prstGeom>
          <a:noFill/>
          <a:ln/>
        </p:spPr>
        <p:txBody>
          <a:bodyPr wrap="square" lIns="0" tIns="0" rIns="0" bIns="0" rtlCol="0" anchor="ctr"/>
          <a:lstStyle/>
          <a:p>
            <a:pPr marL="0" indent="0" algn="l">
              <a:buNone/>
            </a:pPr>
            <a:r>
              <a:rPr lang="en-US" sz="800" b="1" kern="0" spc="400">
                <a:solidFill>
                  <a:srgbClr val="7A6F73"/>
                </a:solidFill>
                <a:latin typeface="Inter" pitchFamily="34" charset="0"/>
                <a:ea typeface="Inter" pitchFamily="34" charset="-122"/>
                <a:cs typeface="Inter" pitchFamily="34" charset="-120"/>
              </a:rPr>
              <a:t>M.C.D.I.</a:t>
            </a:r>
            <a:endParaRPr lang="en-US" sz="800"/>
          </a:p>
        </p:txBody>
      </p:sp>
      <p:sp>
        <p:nvSpPr>
          <p:cNvPr id="38" name="Text 11">
            <a:extLst>
              <a:ext uri="{FF2B5EF4-FFF2-40B4-BE49-F238E27FC236}">
                <a16:creationId xmlns:a16="http://schemas.microsoft.com/office/drawing/2014/main" id="{17FD1C3B-403B-8E86-6E20-1F36DC773F04}"/>
              </a:ext>
            </a:extLst>
          </p:cNvPr>
          <p:cNvSpPr/>
          <p:nvPr/>
        </p:nvSpPr>
        <p:spPr>
          <a:xfrm>
            <a:off x="4724248" y="6565392"/>
            <a:ext cx="2743200" cy="182880"/>
          </a:xfrm>
          <a:prstGeom prst="rect">
            <a:avLst/>
          </a:prstGeom>
          <a:noFill/>
          <a:ln/>
        </p:spPr>
        <p:txBody>
          <a:bodyPr wrap="square" lIns="0" tIns="0" rIns="0" bIns="0" rtlCol="0" anchor="ctr"/>
          <a:lstStyle/>
          <a:p>
            <a:pPr marL="0" indent="0" algn="ctr">
              <a:buNone/>
            </a:pPr>
            <a:r>
              <a:rPr lang="en-US" sz="900" i="1">
                <a:solidFill>
                  <a:srgbClr val="8C6A38"/>
                </a:solidFill>
                <a:latin typeface="Garamond" pitchFamily="34" charset="0"/>
                <a:ea typeface="Garamond" pitchFamily="34" charset="-122"/>
                <a:cs typeface="Garamond" pitchFamily="34" charset="-120"/>
              </a:rPr>
              <a:t>—  14 / 20  —</a:t>
            </a:r>
            <a:endParaRPr lang="en-US" sz="900"/>
          </a:p>
        </p:txBody>
      </p:sp>
      <p:sp>
        <p:nvSpPr>
          <p:cNvPr id="39" name="Text 12">
            <a:extLst>
              <a:ext uri="{FF2B5EF4-FFF2-40B4-BE49-F238E27FC236}">
                <a16:creationId xmlns:a16="http://schemas.microsoft.com/office/drawing/2014/main" id="{09DC7272-8329-CBF8-634C-A13C17FF02AE}"/>
              </a:ext>
            </a:extLst>
          </p:cNvPr>
          <p:cNvSpPr/>
          <p:nvPr/>
        </p:nvSpPr>
        <p:spPr>
          <a:xfrm>
            <a:off x="8899855" y="6565392"/>
            <a:ext cx="2743200" cy="182880"/>
          </a:xfrm>
          <a:prstGeom prst="rect">
            <a:avLst/>
          </a:prstGeom>
          <a:noFill/>
          <a:ln/>
        </p:spPr>
        <p:txBody>
          <a:bodyPr wrap="square" lIns="0" tIns="0" rIns="0" bIns="0" rtlCol="0" anchor="ctr"/>
          <a:lstStyle/>
          <a:p>
            <a:pPr marL="0" indent="0" algn="r">
              <a:buNone/>
            </a:pPr>
            <a:r>
              <a:rPr lang="en-US" sz="800" i="1">
                <a:solidFill>
                  <a:srgbClr val="7A6F73"/>
                </a:solidFill>
                <a:latin typeface="Garamond" pitchFamily="34" charset="0"/>
                <a:ea typeface="Garamond" pitchFamily="34" charset="-122"/>
                <a:cs typeface="Garamond" pitchFamily="34" charset="-120"/>
              </a:rPr>
              <a:t>Equipo 5</a:t>
            </a:r>
            <a:endParaRPr lang="en-US" sz="800"/>
          </a:p>
        </p:txBody>
      </p:sp>
      <p:sp>
        <p:nvSpPr>
          <p:cNvPr id="21" name="Text 2">
            <a:extLst>
              <a:ext uri="{FF2B5EF4-FFF2-40B4-BE49-F238E27FC236}">
                <a16:creationId xmlns:a16="http://schemas.microsoft.com/office/drawing/2014/main" id="{BCF1F8A6-DF76-FE96-B1E4-5E22E47ED905}"/>
              </a:ext>
            </a:extLst>
          </p:cNvPr>
          <p:cNvSpPr/>
          <p:nvPr/>
        </p:nvSpPr>
        <p:spPr>
          <a:xfrm>
            <a:off x="640080" y="868680"/>
            <a:ext cx="4572000" cy="228600"/>
          </a:xfrm>
          <a:prstGeom prst="rect">
            <a:avLst/>
          </a:prstGeom>
          <a:noFill/>
          <a:ln/>
        </p:spPr>
        <p:txBody>
          <a:bodyPr wrap="square" lIns="0" tIns="0" rIns="0" bIns="0" rtlCol="0" anchor="t"/>
          <a:lstStyle/>
          <a:p>
            <a:pPr marL="0" indent="0" algn="l">
              <a:buNone/>
            </a:pPr>
            <a:r>
              <a:rPr lang="en-US" sz="900" b="1" kern="0" spc="300">
                <a:solidFill>
                  <a:srgbClr val="8C6A38"/>
                </a:solidFill>
                <a:latin typeface="Inter" pitchFamily="34" charset="0"/>
                <a:ea typeface="Inter" pitchFamily="34" charset="-122"/>
                <a:cs typeface="Inter" pitchFamily="34" charset="-120"/>
              </a:rPr>
              <a:t>SECCION 3</a:t>
            </a:r>
            <a:endParaRPr lang="en-US" sz="900" spc="300"/>
          </a:p>
        </p:txBody>
      </p:sp>
      <p:grpSp>
        <p:nvGrpSpPr>
          <p:cNvPr id="4" name="Grupo 3">
            <a:extLst>
              <a:ext uri="{FF2B5EF4-FFF2-40B4-BE49-F238E27FC236}">
                <a16:creationId xmlns:a16="http://schemas.microsoft.com/office/drawing/2014/main" id="{B9D60F16-29AE-DD4A-5FD4-9175A679A0AB}"/>
              </a:ext>
            </a:extLst>
          </p:cNvPr>
          <p:cNvGrpSpPr/>
          <p:nvPr/>
        </p:nvGrpSpPr>
        <p:grpSpPr>
          <a:xfrm>
            <a:off x="489776" y="2132956"/>
            <a:ext cx="6518079" cy="4267297"/>
            <a:chOff x="87939" y="211106"/>
            <a:chExt cx="9539706" cy="6422768"/>
          </a:xfrm>
        </p:grpSpPr>
        <p:pic>
          <p:nvPicPr>
            <p:cNvPr id="22" name="Imagen 21">
              <a:extLst>
                <a:ext uri="{FF2B5EF4-FFF2-40B4-BE49-F238E27FC236}">
                  <a16:creationId xmlns:a16="http://schemas.microsoft.com/office/drawing/2014/main" id="{2E1416A5-28AB-41C5-CAE1-6689FC24ACA6}"/>
                </a:ext>
              </a:extLst>
            </p:cNvPr>
            <p:cNvPicPr>
              <a:picLocks noChangeAspect="1"/>
            </p:cNvPicPr>
            <p:nvPr/>
          </p:nvPicPr>
          <p:blipFill>
            <a:blip r:embed="rId4">
              <a:alphaModFix/>
            </a:blip>
            <a:stretch>
              <a:fillRect/>
            </a:stretch>
          </p:blipFill>
          <p:spPr>
            <a:xfrm>
              <a:off x="193462" y="224827"/>
              <a:ext cx="9434183" cy="6409047"/>
            </a:xfrm>
            <a:prstGeom prst="rect">
              <a:avLst/>
            </a:prstGeom>
            <a:ln>
              <a:noFill/>
            </a:ln>
          </p:spPr>
        </p:pic>
        <p:sp>
          <p:nvSpPr>
            <p:cNvPr id="23" name="CuadroTexto 22">
              <a:extLst>
                <a:ext uri="{FF2B5EF4-FFF2-40B4-BE49-F238E27FC236}">
                  <a16:creationId xmlns:a16="http://schemas.microsoft.com/office/drawing/2014/main" id="{6F0846A7-25E1-FCD5-7E1F-AE775F06F729}"/>
                </a:ext>
              </a:extLst>
            </p:cNvPr>
            <p:cNvSpPr txBox="1"/>
            <p:nvPr/>
          </p:nvSpPr>
          <p:spPr>
            <a:xfrm>
              <a:off x="5026305" y="2977515"/>
              <a:ext cx="697267" cy="416915"/>
            </a:xfrm>
            <a:prstGeom prst="rect">
              <a:avLst/>
            </a:prstGeom>
            <a:noFill/>
          </p:spPr>
          <p:txBody>
            <a:bodyPr wrap="none" rtlCol="0">
              <a:spAutoFit/>
            </a:bodyPr>
            <a:lstStyle/>
            <a:p>
              <a:pPr algn="ctr"/>
              <a:r>
                <a:rPr lang="es-MX" sz="1200" b="1">
                  <a:solidFill>
                    <a:schemeClr val="accent1"/>
                  </a:solidFill>
                </a:rPr>
                <a:t>MTY</a:t>
              </a:r>
            </a:p>
          </p:txBody>
        </p:sp>
        <p:sp>
          <p:nvSpPr>
            <p:cNvPr id="24" name="CuadroTexto 23">
              <a:extLst>
                <a:ext uri="{FF2B5EF4-FFF2-40B4-BE49-F238E27FC236}">
                  <a16:creationId xmlns:a16="http://schemas.microsoft.com/office/drawing/2014/main" id="{9AA06A2B-47CD-3143-BEBD-86B23B91D781}"/>
                </a:ext>
              </a:extLst>
            </p:cNvPr>
            <p:cNvSpPr txBox="1"/>
            <p:nvPr/>
          </p:nvSpPr>
          <p:spPr>
            <a:xfrm>
              <a:off x="4137386" y="4622593"/>
              <a:ext cx="652691" cy="416915"/>
            </a:xfrm>
            <a:prstGeom prst="rect">
              <a:avLst/>
            </a:prstGeom>
            <a:noFill/>
          </p:spPr>
          <p:txBody>
            <a:bodyPr wrap="none" rtlCol="0">
              <a:spAutoFit/>
            </a:bodyPr>
            <a:lstStyle/>
            <a:p>
              <a:pPr algn="ctr"/>
              <a:r>
                <a:rPr lang="es-MX" sz="1200" b="1">
                  <a:solidFill>
                    <a:schemeClr val="accent1"/>
                  </a:solidFill>
                </a:rPr>
                <a:t>GDL</a:t>
              </a:r>
            </a:p>
          </p:txBody>
        </p:sp>
        <p:sp>
          <p:nvSpPr>
            <p:cNvPr id="26" name="CuadroTexto 25">
              <a:extLst>
                <a:ext uri="{FF2B5EF4-FFF2-40B4-BE49-F238E27FC236}">
                  <a16:creationId xmlns:a16="http://schemas.microsoft.com/office/drawing/2014/main" id="{27ADC597-7E2B-3A2B-855A-F703C4E4F1E3}"/>
                </a:ext>
              </a:extLst>
            </p:cNvPr>
            <p:cNvSpPr txBox="1"/>
            <p:nvPr/>
          </p:nvSpPr>
          <p:spPr>
            <a:xfrm>
              <a:off x="5275974" y="4522920"/>
              <a:ext cx="854456" cy="416915"/>
            </a:xfrm>
            <a:prstGeom prst="rect">
              <a:avLst/>
            </a:prstGeom>
            <a:noFill/>
          </p:spPr>
          <p:txBody>
            <a:bodyPr wrap="none" rtlCol="0">
              <a:spAutoFit/>
            </a:bodyPr>
            <a:lstStyle/>
            <a:p>
              <a:pPr algn="ctr"/>
              <a:r>
                <a:rPr lang="es-MX" sz="1200" b="1">
                  <a:solidFill>
                    <a:schemeClr val="accent1"/>
                  </a:solidFill>
                </a:rPr>
                <a:t>CDMX</a:t>
              </a:r>
            </a:p>
          </p:txBody>
        </p:sp>
        <p:sp>
          <p:nvSpPr>
            <p:cNvPr id="27" name="CuadroTexto 26">
              <a:extLst>
                <a:ext uri="{FF2B5EF4-FFF2-40B4-BE49-F238E27FC236}">
                  <a16:creationId xmlns:a16="http://schemas.microsoft.com/office/drawing/2014/main" id="{9CDC5F02-8FD7-FFAA-0969-5C6C431DC7D7}"/>
                </a:ext>
              </a:extLst>
            </p:cNvPr>
            <p:cNvSpPr txBox="1"/>
            <p:nvPr/>
          </p:nvSpPr>
          <p:spPr>
            <a:xfrm>
              <a:off x="87939" y="211106"/>
              <a:ext cx="518961" cy="416915"/>
            </a:xfrm>
            <a:prstGeom prst="rect">
              <a:avLst/>
            </a:prstGeom>
            <a:noFill/>
          </p:spPr>
          <p:txBody>
            <a:bodyPr wrap="none" rtlCol="0">
              <a:spAutoFit/>
            </a:bodyPr>
            <a:lstStyle/>
            <a:p>
              <a:pPr algn="ctr"/>
              <a:r>
                <a:rPr lang="es-MX" sz="1200" b="1"/>
                <a:t>TIJ</a:t>
              </a:r>
            </a:p>
          </p:txBody>
        </p:sp>
        <p:sp>
          <p:nvSpPr>
            <p:cNvPr id="28" name="CuadroTexto 27">
              <a:extLst>
                <a:ext uri="{FF2B5EF4-FFF2-40B4-BE49-F238E27FC236}">
                  <a16:creationId xmlns:a16="http://schemas.microsoft.com/office/drawing/2014/main" id="{0139D3C5-E42E-6E49-78B7-14AE762D6399}"/>
                </a:ext>
              </a:extLst>
            </p:cNvPr>
            <p:cNvSpPr txBox="1"/>
            <p:nvPr/>
          </p:nvSpPr>
          <p:spPr>
            <a:xfrm>
              <a:off x="1803981" y="1835953"/>
              <a:ext cx="762959" cy="416915"/>
            </a:xfrm>
            <a:prstGeom prst="rect">
              <a:avLst/>
            </a:prstGeom>
            <a:noFill/>
          </p:spPr>
          <p:txBody>
            <a:bodyPr wrap="none" rtlCol="0">
              <a:spAutoFit/>
            </a:bodyPr>
            <a:lstStyle/>
            <a:p>
              <a:pPr algn="ctr"/>
              <a:r>
                <a:rPr lang="es-MX" sz="1200" b="1"/>
                <a:t>HMO</a:t>
              </a:r>
            </a:p>
          </p:txBody>
        </p:sp>
        <p:sp>
          <p:nvSpPr>
            <p:cNvPr id="29" name="CuadroTexto 28">
              <a:extLst>
                <a:ext uri="{FF2B5EF4-FFF2-40B4-BE49-F238E27FC236}">
                  <a16:creationId xmlns:a16="http://schemas.microsoft.com/office/drawing/2014/main" id="{9E540098-9178-7BF3-5826-F5968BEE5C63}"/>
                </a:ext>
              </a:extLst>
            </p:cNvPr>
            <p:cNvSpPr txBox="1"/>
            <p:nvPr/>
          </p:nvSpPr>
          <p:spPr>
            <a:xfrm>
              <a:off x="8229275" y="4522920"/>
              <a:ext cx="704305" cy="416915"/>
            </a:xfrm>
            <a:prstGeom prst="rect">
              <a:avLst/>
            </a:prstGeom>
            <a:noFill/>
          </p:spPr>
          <p:txBody>
            <a:bodyPr wrap="none" rtlCol="0">
              <a:spAutoFit/>
            </a:bodyPr>
            <a:lstStyle/>
            <a:p>
              <a:pPr algn="ctr"/>
              <a:r>
                <a:rPr lang="es-MX" sz="1200" b="1"/>
                <a:t>MER</a:t>
              </a:r>
            </a:p>
          </p:txBody>
        </p:sp>
        <p:sp>
          <p:nvSpPr>
            <p:cNvPr id="30" name="CuadroTexto 29">
              <a:extLst>
                <a:ext uri="{FF2B5EF4-FFF2-40B4-BE49-F238E27FC236}">
                  <a16:creationId xmlns:a16="http://schemas.microsoft.com/office/drawing/2014/main" id="{025EFD04-6EA0-80C2-4947-3D597A6620A4}"/>
                </a:ext>
              </a:extLst>
            </p:cNvPr>
            <p:cNvSpPr txBox="1"/>
            <p:nvPr/>
          </p:nvSpPr>
          <p:spPr>
            <a:xfrm>
              <a:off x="5001416" y="4223997"/>
              <a:ext cx="702148" cy="416915"/>
            </a:xfrm>
            <a:prstGeom prst="rect">
              <a:avLst/>
            </a:prstGeom>
            <a:noFill/>
          </p:spPr>
          <p:txBody>
            <a:bodyPr wrap="none" rtlCol="0">
              <a:spAutoFit/>
            </a:bodyPr>
            <a:lstStyle/>
            <a:p>
              <a:pPr algn="ctr"/>
              <a:r>
                <a:rPr lang="es-MX" sz="1200" b="1"/>
                <a:t>QRO</a:t>
              </a:r>
            </a:p>
          </p:txBody>
        </p:sp>
        <p:sp>
          <p:nvSpPr>
            <p:cNvPr id="31" name="CuadroTexto 30">
              <a:extLst>
                <a:ext uri="{FF2B5EF4-FFF2-40B4-BE49-F238E27FC236}">
                  <a16:creationId xmlns:a16="http://schemas.microsoft.com/office/drawing/2014/main" id="{327B0296-62D9-B4BD-FD50-4A0E9BC34738}"/>
                </a:ext>
              </a:extLst>
            </p:cNvPr>
            <p:cNvSpPr txBox="1"/>
            <p:nvPr/>
          </p:nvSpPr>
          <p:spPr>
            <a:xfrm>
              <a:off x="5682850" y="5139031"/>
              <a:ext cx="647998" cy="416915"/>
            </a:xfrm>
            <a:prstGeom prst="rect">
              <a:avLst/>
            </a:prstGeom>
            <a:noFill/>
          </p:spPr>
          <p:txBody>
            <a:bodyPr wrap="none" rtlCol="0">
              <a:spAutoFit/>
            </a:bodyPr>
            <a:lstStyle/>
            <a:p>
              <a:pPr algn="ctr"/>
              <a:r>
                <a:rPr lang="es-MX" sz="1200" b="1"/>
                <a:t>PUE</a:t>
              </a:r>
            </a:p>
          </p:txBody>
        </p:sp>
        <p:cxnSp>
          <p:nvCxnSpPr>
            <p:cNvPr id="32" name="Conector recto de flecha 31">
              <a:extLst>
                <a:ext uri="{FF2B5EF4-FFF2-40B4-BE49-F238E27FC236}">
                  <a16:creationId xmlns:a16="http://schemas.microsoft.com/office/drawing/2014/main" id="{54A3929D-EA82-F2F5-E3C1-FECB12FE118E}"/>
                </a:ext>
              </a:extLst>
            </p:cNvPr>
            <p:cNvCxnSpPr>
              <a:cxnSpLocks/>
              <a:stCxn id="26" idx="2"/>
              <a:endCxn id="31" idx="0"/>
            </p:cNvCxnSpPr>
            <p:nvPr/>
          </p:nvCxnSpPr>
          <p:spPr>
            <a:xfrm>
              <a:off x="5703202" y="4939835"/>
              <a:ext cx="303647" cy="199196"/>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33" name="Conector recto de flecha 32">
              <a:extLst>
                <a:ext uri="{FF2B5EF4-FFF2-40B4-BE49-F238E27FC236}">
                  <a16:creationId xmlns:a16="http://schemas.microsoft.com/office/drawing/2014/main" id="{304237D5-0131-A506-2420-3A5917021D28}"/>
                </a:ext>
              </a:extLst>
            </p:cNvPr>
            <p:cNvCxnSpPr>
              <a:cxnSpLocks/>
              <a:stCxn id="24" idx="0"/>
              <a:endCxn id="30" idx="2"/>
            </p:cNvCxnSpPr>
            <p:nvPr/>
          </p:nvCxnSpPr>
          <p:spPr>
            <a:xfrm>
              <a:off x="4463732" y="4622593"/>
              <a:ext cx="888758" cy="18319"/>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34" name="Conector recto de flecha 33">
              <a:extLst>
                <a:ext uri="{FF2B5EF4-FFF2-40B4-BE49-F238E27FC236}">
                  <a16:creationId xmlns:a16="http://schemas.microsoft.com/office/drawing/2014/main" id="{1FD774CD-E6FD-A266-D04B-DA60315F2369}"/>
                </a:ext>
              </a:extLst>
            </p:cNvPr>
            <p:cNvCxnSpPr>
              <a:cxnSpLocks/>
              <a:stCxn id="26" idx="2"/>
              <a:endCxn id="29" idx="0"/>
            </p:cNvCxnSpPr>
            <p:nvPr/>
          </p:nvCxnSpPr>
          <p:spPr>
            <a:xfrm flipV="1">
              <a:off x="5703202" y="4522920"/>
              <a:ext cx="2878225" cy="416915"/>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35" name="Conector recto de flecha 34">
              <a:extLst>
                <a:ext uri="{FF2B5EF4-FFF2-40B4-BE49-F238E27FC236}">
                  <a16:creationId xmlns:a16="http://schemas.microsoft.com/office/drawing/2014/main" id="{ACB47449-2E2B-DCC5-95CD-9AC90B67E2E3}"/>
                </a:ext>
              </a:extLst>
            </p:cNvPr>
            <p:cNvCxnSpPr>
              <a:cxnSpLocks/>
              <a:stCxn id="24" idx="0"/>
              <a:endCxn id="27" idx="2"/>
            </p:cNvCxnSpPr>
            <p:nvPr/>
          </p:nvCxnSpPr>
          <p:spPr>
            <a:xfrm flipH="1" flipV="1">
              <a:off x="347419" y="628021"/>
              <a:ext cx="4116312" cy="399457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0" name="Conector recto de flecha 39">
              <a:extLst>
                <a:ext uri="{FF2B5EF4-FFF2-40B4-BE49-F238E27FC236}">
                  <a16:creationId xmlns:a16="http://schemas.microsoft.com/office/drawing/2014/main" id="{B99A6C95-F564-7530-A4CD-36AF17F6804E}"/>
                </a:ext>
              </a:extLst>
            </p:cNvPr>
            <p:cNvCxnSpPr>
              <a:cxnSpLocks/>
              <a:stCxn id="23" idx="0"/>
            </p:cNvCxnSpPr>
            <p:nvPr/>
          </p:nvCxnSpPr>
          <p:spPr>
            <a:xfrm flipH="1" flipV="1">
              <a:off x="2185459" y="1835953"/>
              <a:ext cx="3189481" cy="1141561"/>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1" name="Conector recto de flecha 40">
              <a:extLst>
                <a:ext uri="{FF2B5EF4-FFF2-40B4-BE49-F238E27FC236}">
                  <a16:creationId xmlns:a16="http://schemas.microsoft.com/office/drawing/2014/main" id="{5CF0D7A0-EC24-238A-9508-25363BFC41B8}"/>
                </a:ext>
              </a:extLst>
            </p:cNvPr>
            <p:cNvCxnSpPr>
              <a:cxnSpLocks/>
              <a:stCxn id="23" idx="0"/>
              <a:endCxn id="27" idx="2"/>
            </p:cNvCxnSpPr>
            <p:nvPr/>
          </p:nvCxnSpPr>
          <p:spPr>
            <a:xfrm flipH="1" flipV="1">
              <a:off x="347419" y="628021"/>
              <a:ext cx="5027519" cy="2349493"/>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42" name="CuadroTexto 41">
              <a:extLst>
                <a:ext uri="{FF2B5EF4-FFF2-40B4-BE49-F238E27FC236}">
                  <a16:creationId xmlns:a16="http://schemas.microsoft.com/office/drawing/2014/main" id="{325653B5-1E6D-6E8C-24F3-476CA4016701}"/>
                </a:ext>
              </a:extLst>
            </p:cNvPr>
            <p:cNvSpPr txBox="1"/>
            <p:nvPr/>
          </p:nvSpPr>
          <p:spPr>
            <a:xfrm rot="21127696">
              <a:off x="6631158" y="4434972"/>
              <a:ext cx="766813" cy="277000"/>
            </a:xfrm>
            <a:prstGeom prst="rect">
              <a:avLst/>
            </a:prstGeom>
            <a:noFill/>
          </p:spPr>
          <p:txBody>
            <a:bodyPr wrap="none" rtlCol="0">
              <a:spAutoFit/>
            </a:bodyPr>
            <a:lstStyle/>
            <a:p>
              <a:r>
                <a:rPr lang="es-MX" sz="1200" b="1"/>
                <a:t>15 Lotes</a:t>
              </a:r>
            </a:p>
          </p:txBody>
        </p:sp>
        <p:sp>
          <p:nvSpPr>
            <p:cNvPr id="43" name="CuadroTexto 42">
              <a:extLst>
                <a:ext uri="{FF2B5EF4-FFF2-40B4-BE49-F238E27FC236}">
                  <a16:creationId xmlns:a16="http://schemas.microsoft.com/office/drawing/2014/main" id="{F3F25A6E-605E-659A-58F8-D783F5CCB9C8}"/>
                </a:ext>
              </a:extLst>
            </p:cNvPr>
            <p:cNvSpPr txBox="1"/>
            <p:nvPr/>
          </p:nvSpPr>
          <p:spPr>
            <a:xfrm rot="2112870">
              <a:off x="5163399" y="5045415"/>
              <a:ext cx="766813" cy="277000"/>
            </a:xfrm>
            <a:prstGeom prst="rect">
              <a:avLst/>
            </a:prstGeom>
            <a:noFill/>
          </p:spPr>
          <p:txBody>
            <a:bodyPr wrap="none" rtlCol="0">
              <a:spAutoFit/>
            </a:bodyPr>
            <a:lstStyle/>
            <a:p>
              <a:r>
                <a:rPr lang="es-MX" sz="1200" b="1"/>
                <a:t>25 Lotes</a:t>
              </a:r>
            </a:p>
          </p:txBody>
        </p:sp>
        <p:sp>
          <p:nvSpPr>
            <p:cNvPr id="44" name="CuadroTexto 43">
              <a:extLst>
                <a:ext uri="{FF2B5EF4-FFF2-40B4-BE49-F238E27FC236}">
                  <a16:creationId xmlns:a16="http://schemas.microsoft.com/office/drawing/2014/main" id="{539CB967-6598-2C11-C174-8AC349B35AFE}"/>
                </a:ext>
              </a:extLst>
            </p:cNvPr>
            <p:cNvSpPr txBox="1"/>
            <p:nvPr/>
          </p:nvSpPr>
          <p:spPr>
            <a:xfrm>
              <a:off x="4363443" y="4252113"/>
              <a:ext cx="983493" cy="393753"/>
            </a:xfrm>
            <a:prstGeom prst="rect">
              <a:avLst/>
            </a:prstGeom>
            <a:noFill/>
            <a:effectLst/>
          </p:spPr>
          <p:txBody>
            <a:bodyPr wrap="none" rtlCol="0">
              <a:spAutoFit/>
            </a:bodyPr>
            <a:lstStyle/>
            <a:p>
              <a:r>
                <a:rPr lang="es-MX" sz="1100" b="1"/>
                <a:t>30 Lotes</a:t>
              </a:r>
            </a:p>
          </p:txBody>
        </p:sp>
        <p:sp>
          <p:nvSpPr>
            <p:cNvPr id="45" name="CuadroTexto 44">
              <a:extLst>
                <a:ext uri="{FF2B5EF4-FFF2-40B4-BE49-F238E27FC236}">
                  <a16:creationId xmlns:a16="http://schemas.microsoft.com/office/drawing/2014/main" id="{9D07B6AB-A324-8373-376A-3F5BC3D43B11}"/>
                </a:ext>
              </a:extLst>
            </p:cNvPr>
            <p:cNvSpPr txBox="1"/>
            <p:nvPr/>
          </p:nvSpPr>
          <p:spPr>
            <a:xfrm rot="2658499">
              <a:off x="2716321" y="2863540"/>
              <a:ext cx="766813" cy="277000"/>
            </a:xfrm>
            <a:prstGeom prst="rect">
              <a:avLst/>
            </a:prstGeom>
            <a:noFill/>
          </p:spPr>
          <p:txBody>
            <a:bodyPr wrap="none" rtlCol="0">
              <a:spAutoFit/>
            </a:bodyPr>
            <a:lstStyle/>
            <a:p>
              <a:r>
                <a:rPr lang="es-MX" sz="1200" b="1"/>
                <a:t>15 Lotes</a:t>
              </a:r>
            </a:p>
          </p:txBody>
        </p:sp>
        <p:sp>
          <p:nvSpPr>
            <p:cNvPr id="46" name="CuadroTexto 45">
              <a:extLst>
                <a:ext uri="{FF2B5EF4-FFF2-40B4-BE49-F238E27FC236}">
                  <a16:creationId xmlns:a16="http://schemas.microsoft.com/office/drawing/2014/main" id="{B20A17C0-ED3A-A8C7-178C-F74DE1C12C40}"/>
                </a:ext>
              </a:extLst>
            </p:cNvPr>
            <p:cNvSpPr txBox="1"/>
            <p:nvPr/>
          </p:nvSpPr>
          <p:spPr>
            <a:xfrm rot="1056055">
              <a:off x="3122507" y="2287906"/>
              <a:ext cx="766813" cy="276999"/>
            </a:xfrm>
            <a:prstGeom prst="rect">
              <a:avLst/>
            </a:prstGeom>
            <a:noFill/>
          </p:spPr>
          <p:txBody>
            <a:bodyPr wrap="none" rtlCol="0">
              <a:spAutoFit/>
            </a:bodyPr>
            <a:lstStyle/>
            <a:p>
              <a:r>
                <a:rPr lang="es-MX" sz="1200" b="1"/>
                <a:t>30 Lotes</a:t>
              </a:r>
            </a:p>
          </p:txBody>
        </p:sp>
        <p:sp>
          <p:nvSpPr>
            <p:cNvPr id="47" name="CuadroTexto 46">
              <a:extLst>
                <a:ext uri="{FF2B5EF4-FFF2-40B4-BE49-F238E27FC236}">
                  <a16:creationId xmlns:a16="http://schemas.microsoft.com/office/drawing/2014/main" id="{C978DD27-EA32-89A5-BB0E-8A80A02BA6F8}"/>
                </a:ext>
              </a:extLst>
            </p:cNvPr>
            <p:cNvSpPr txBox="1"/>
            <p:nvPr/>
          </p:nvSpPr>
          <p:spPr>
            <a:xfrm rot="1370994">
              <a:off x="2722187" y="1527223"/>
              <a:ext cx="685059" cy="277000"/>
            </a:xfrm>
            <a:prstGeom prst="rect">
              <a:avLst/>
            </a:prstGeom>
            <a:noFill/>
          </p:spPr>
          <p:txBody>
            <a:bodyPr wrap="none" rtlCol="0">
              <a:spAutoFit/>
            </a:bodyPr>
            <a:lstStyle/>
            <a:p>
              <a:r>
                <a:rPr lang="es-MX" sz="1200" b="1"/>
                <a:t>5 Lotes</a:t>
              </a:r>
            </a:p>
          </p:txBody>
        </p:sp>
      </p:grpSp>
      <p:sp>
        <p:nvSpPr>
          <p:cNvPr id="56" name="Text 5">
            <a:extLst>
              <a:ext uri="{FF2B5EF4-FFF2-40B4-BE49-F238E27FC236}">
                <a16:creationId xmlns:a16="http://schemas.microsoft.com/office/drawing/2014/main" id="{B56E41A4-FA82-26D4-AA33-E9D6B2C3EEEA}"/>
              </a:ext>
            </a:extLst>
          </p:cNvPr>
          <p:cNvSpPr/>
          <p:nvPr/>
        </p:nvSpPr>
        <p:spPr>
          <a:xfrm>
            <a:off x="7261860" y="2174748"/>
            <a:ext cx="1737360" cy="704088"/>
          </a:xfrm>
          <a:prstGeom prst="rect">
            <a:avLst/>
          </a:prstGeom>
          <a:noFill/>
          <a:ln/>
        </p:spPr>
        <p:txBody>
          <a:bodyPr wrap="square" lIns="0" tIns="0" rIns="0" bIns="0" rtlCol="0" anchor="t"/>
          <a:lstStyle/>
          <a:p>
            <a:pPr marL="0" indent="0" algn="l">
              <a:buNone/>
            </a:pPr>
            <a:r>
              <a:rPr lang="en-US" sz="4600" b="1" kern="0" spc="-300">
                <a:solidFill>
                  <a:srgbClr val="4A0F22"/>
                </a:solidFill>
                <a:latin typeface="Garamond" pitchFamily="34" charset="0"/>
                <a:ea typeface="Garamond" pitchFamily="34" charset="-122"/>
                <a:cs typeface="Garamond" pitchFamily="34" charset="-120"/>
              </a:rPr>
              <a:t>$171,500</a:t>
            </a:r>
            <a:endParaRPr lang="en-US" sz="7200"/>
          </a:p>
        </p:txBody>
      </p:sp>
      <p:sp>
        <p:nvSpPr>
          <p:cNvPr id="57" name="Text 6">
            <a:extLst>
              <a:ext uri="{FF2B5EF4-FFF2-40B4-BE49-F238E27FC236}">
                <a16:creationId xmlns:a16="http://schemas.microsoft.com/office/drawing/2014/main" id="{1AE24A0B-1840-E240-0CC5-B0BBFDEE4813}"/>
              </a:ext>
            </a:extLst>
          </p:cNvPr>
          <p:cNvSpPr/>
          <p:nvPr/>
        </p:nvSpPr>
        <p:spPr>
          <a:xfrm>
            <a:off x="8982763" y="2558795"/>
            <a:ext cx="565097" cy="274320"/>
          </a:xfrm>
          <a:prstGeom prst="rect">
            <a:avLst/>
          </a:prstGeom>
          <a:noFill/>
          <a:ln/>
        </p:spPr>
        <p:txBody>
          <a:bodyPr wrap="square" lIns="0" tIns="0" rIns="0" bIns="0" rtlCol="0" anchor="t"/>
          <a:lstStyle/>
          <a:p>
            <a:pPr marL="0" indent="0" algn="l">
              <a:buNone/>
            </a:pPr>
            <a:r>
              <a:rPr lang="en-US" sz="1400" i="1">
                <a:solidFill>
                  <a:srgbClr val="B89058"/>
                </a:solidFill>
                <a:latin typeface="Garamond" pitchFamily="34" charset="0"/>
                <a:ea typeface="Garamond" pitchFamily="34" charset="-122"/>
                <a:cs typeface="Garamond" pitchFamily="34" charset="-120"/>
              </a:rPr>
              <a:t>MXN</a:t>
            </a:r>
            <a:endParaRPr lang="en-US" sz="1400"/>
          </a:p>
        </p:txBody>
      </p:sp>
      <p:sp>
        <p:nvSpPr>
          <p:cNvPr id="58" name="Text 7">
            <a:extLst>
              <a:ext uri="{FF2B5EF4-FFF2-40B4-BE49-F238E27FC236}">
                <a16:creationId xmlns:a16="http://schemas.microsoft.com/office/drawing/2014/main" id="{578D281C-8004-DFCA-CB78-FEBBE923F3BB}"/>
              </a:ext>
            </a:extLst>
          </p:cNvPr>
          <p:cNvSpPr/>
          <p:nvPr/>
        </p:nvSpPr>
        <p:spPr>
          <a:xfrm>
            <a:off x="7272833" y="2845003"/>
            <a:ext cx="2459735" cy="274320"/>
          </a:xfrm>
          <a:prstGeom prst="rect">
            <a:avLst/>
          </a:prstGeom>
          <a:noFill/>
          <a:ln/>
        </p:spPr>
        <p:txBody>
          <a:bodyPr wrap="square" lIns="0" tIns="0" rIns="0" bIns="0" rtlCol="0" anchor="t"/>
          <a:lstStyle/>
          <a:p>
            <a:pPr marL="0" indent="0" algn="l">
              <a:buNone/>
            </a:pPr>
            <a:r>
              <a:rPr lang="en-US" sz="900" b="1" kern="0" spc="800">
                <a:solidFill>
                  <a:srgbClr val="8C6A38"/>
                </a:solidFill>
                <a:latin typeface="Inter" pitchFamily="34" charset="0"/>
                <a:ea typeface="Inter" pitchFamily="34" charset="-122"/>
                <a:cs typeface="Inter" pitchFamily="34" charset="-120"/>
              </a:rPr>
              <a:t>ÓPTIMO GLOBAL Z</a:t>
            </a:r>
            <a:endParaRPr lang="en-US" sz="900"/>
          </a:p>
        </p:txBody>
      </p:sp>
      <p:sp>
        <p:nvSpPr>
          <p:cNvPr id="59" name="Text 8">
            <a:extLst>
              <a:ext uri="{FF2B5EF4-FFF2-40B4-BE49-F238E27FC236}">
                <a16:creationId xmlns:a16="http://schemas.microsoft.com/office/drawing/2014/main" id="{EFA7DCB1-80B6-B583-0467-5EC89E6E440A}"/>
              </a:ext>
            </a:extLst>
          </p:cNvPr>
          <p:cNvSpPr/>
          <p:nvPr/>
        </p:nvSpPr>
        <p:spPr>
          <a:xfrm>
            <a:off x="7272833" y="2997708"/>
            <a:ext cx="3562807" cy="265174"/>
          </a:xfrm>
          <a:prstGeom prst="rect">
            <a:avLst/>
          </a:prstGeom>
          <a:noFill/>
          <a:ln/>
        </p:spPr>
        <p:txBody>
          <a:bodyPr wrap="square" lIns="0" tIns="0" rIns="0" bIns="0" rtlCol="0" anchor="t"/>
          <a:lstStyle/>
          <a:p>
            <a:pPr marL="0" indent="0" algn="l">
              <a:lnSpc>
                <a:spcPct val="130000"/>
              </a:lnSpc>
              <a:buNone/>
            </a:pPr>
            <a:r>
              <a:rPr lang="en-US" sz="1000">
                <a:solidFill>
                  <a:srgbClr val="7A6F73"/>
                </a:solidFill>
                <a:latin typeface="Inter" pitchFamily="34" charset="0"/>
                <a:ea typeface="Inter" pitchFamily="34" charset="-122"/>
                <a:cs typeface="Inter" pitchFamily="34" charset="-120"/>
              </a:rPr>
              <a:t>Costo </a:t>
            </a:r>
            <a:r>
              <a:rPr lang="en-US" sz="1000" err="1">
                <a:solidFill>
                  <a:srgbClr val="7A6F73"/>
                </a:solidFill>
                <a:latin typeface="Inter" pitchFamily="34" charset="0"/>
                <a:ea typeface="Inter" pitchFamily="34" charset="-122"/>
                <a:cs typeface="Inter" pitchFamily="34" charset="-120"/>
              </a:rPr>
              <a:t>mínimo</a:t>
            </a:r>
            <a:r>
              <a:rPr lang="en-US" sz="1000">
                <a:solidFill>
                  <a:srgbClr val="7A6F73"/>
                </a:solidFill>
                <a:latin typeface="Inter" pitchFamily="34" charset="0"/>
                <a:ea typeface="Inter" pitchFamily="34" charset="-122"/>
                <a:cs typeface="Inter" pitchFamily="34" charset="-120"/>
              </a:rPr>
              <a:t> </a:t>
            </a:r>
            <a:r>
              <a:rPr lang="en-US" sz="1000" err="1">
                <a:solidFill>
                  <a:srgbClr val="7A6F73"/>
                </a:solidFill>
                <a:latin typeface="Inter" pitchFamily="34" charset="0"/>
                <a:ea typeface="Inter" pitchFamily="34" charset="-122"/>
                <a:cs typeface="Inter" pitchFamily="34" charset="-120"/>
              </a:rPr>
              <a:t>distribución</a:t>
            </a:r>
            <a:r>
              <a:rPr lang="en-US" sz="1000">
                <a:solidFill>
                  <a:srgbClr val="7A6F73"/>
                </a:solidFill>
                <a:latin typeface="Inter" pitchFamily="34" charset="0"/>
                <a:ea typeface="Inter" pitchFamily="34" charset="-122"/>
                <a:cs typeface="Inter" pitchFamily="34" charset="-120"/>
              </a:rPr>
              <a:t> 120 </a:t>
            </a:r>
            <a:r>
              <a:rPr lang="en-US" sz="1000" err="1">
                <a:solidFill>
                  <a:srgbClr val="7A6F73"/>
                </a:solidFill>
                <a:latin typeface="Inter" pitchFamily="34" charset="0"/>
                <a:ea typeface="Inter" pitchFamily="34" charset="-122"/>
                <a:cs typeface="Inter" pitchFamily="34" charset="-120"/>
              </a:rPr>
              <a:t>lotes</a:t>
            </a:r>
            <a:r>
              <a:rPr lang="en-US" sz="1000">
                <a:solidFill>
                  <a:srgbClr val="7A6F73"/>
                </a:solidFill>
                <a:latin typeface="Inter" pitchFamily="34" charset="0"/>
                <a:ea typeface="Inter" pitchFamily="34" charset="-122"/>
                <a:cs typeface="Inter" pitchFamily="34" charset="-120"/>
              </a:rPr>
              <a:t> iPhone 18</a:t>
            </a:r>
            <a:endParaRPr lang="en-US" sz="1000"/>
          </a:p>
        </p:txBody>
      </p:sp>
      <p:sp>
        <p:nvSpPr>
          <p:cNvPr id="60" name="Shape 9">
            <a:extLst>
              <a:ext uri="{FF2B5EF4-FFF2-40B4-BE49-F238E27FC236}">
                <a16:creationId xmlns:a16="http://schemas.microsoft.com/office/drawing/2014/main" id="{EE2A6EEC-5653-7EB8-393E-F2FEB2A4AE5E}"/>
              </a:ext>
            </a:extLst>
          </p:cNvPr>
          <p:cNvSpPr/>
          <p:nvPr/>
        </p:nvSpPr>
        <p:spPr>
          <a:xfrm rot="16200000">
            <a:off x="8627974" y="1910182"/>
            <a:ext cx="10973" cy="2743200"/>
          </a:xfrm>
          <a:prstGeom prst="rect">
            <a:avLst/>
          </a:prstGeom>
          <a:solidFill>
            <a:srgbClr val="E0D8CC"/>
          </a:solidFill>
          <a:ln w="12700">
            <a:solidFill>
              <a:srgbClr val="E0D8CC"/>
            </a:solidFill>
            <a:prstDash val="solid"/>
          </a:ln>
        </p:spPr>
        <p:txBody>
          <a:bodyPr/>
          <a:lstStyle/>
          <a:p>
            <a:endParaRPr lang="en-MX"/>
          </a:p>
        </p:txBody>
      </p:sp>
      <p:sp>
        <p:nvSpPr>
          <p:cNvPr id="61" name="Text 10">
            <a:extLst>
              <a:ext uri="{FF2B5EF4-FFF2-40B4-BE49-F238E27FC236}">
                <a16:creationId xmlns:a16="http://schemas.microsoft.com/office/drawing/2014/main" id="{EA637D5B-3CE8-28BB-D1A4-D3FFD54089BF}"/>
              </a:ext>
            </a:extLst>
          </p:cNvPr>
          <p:cNvSpPr/>
          <p:nvPr/>
        </p:nvSpPr>
        <p:spPr>
          <a:xfrm>
            <a:off x="7261860" y="3521506"/>
            <a:ext cx="2250672" cy="693115"/>
          </a:xfrm>
          <a:prstGeom prst="rect">
            <a:avLst/>
          </a:prstGeom>
          <a:noFill/>
          <a:ln/>
        </p:spPr>
        <p:txBody>
          <a:bodyPr wrap="square" lIns="0" tIns="0" rIns="0" bIns="0" rtlCol="0" anchor="t"/>
          <a:lstStyle/>
          <a:p>
            <a:pPr marL="0" indent="0" algn="l">
              <a:buNone/>
            </a:pPr>
            <a:r>
              <a:rPr lang="en-US" sz="4600" b="1" kern="0" spc="-300">
                <a:solidFill>
                  <a:srgbClr val="4A0F22"/>
                </a:solidFill>
                <a:latin typeface="Garamond" pitchFamily="34" charset="0"/>
                <a:ea typeface="Garamond" pitchFamily="34" charset="-122"/>
                <a:cs typeface="Garamond" pitchFamily="34" charset="-120"/>
              </a:rPr>
              <a:t>6/15</a:t>
            </a:r>
            <a:endParaRPr lang="en-US" sz="7200"/>
          </a:p>
        </p:txBody>
      </p:sp>
      <p:sp>
        <p:nvSpPr>
          <p:cNvPr id="62" name="Text 11">
            <a:extLst>
              <a:ext uri="{FF2B5EF4-FFF2-40B4-BE49-F238E27FC236}">
                <a16:creationId xmlns:a16="http://schemas.microsoft.com/office/drawing/2014/main" id="{FEF8CB69-BB2E-5FBA-CB03-FA62B1B0036C}"/>
              </a:ext>
            </a:extLst>
          </p:cNvPr>
          <p:cNvSpPr/>
          <p:nvPr/>
        </p:nvSpPr>
        <p:spPr>
          <a:xfrm>
            <a:off x="8285615" y="3886961"/>
            <a:ext cx="944034" cy="274320"/>
          </a:xfrm>
          <a:prstGeom prst="rect">
            <a:avLst/>
          </a:prstGeom>
          <a:noFill/>
          <a:ln/>
        </p:spPr>
        <p:txBody>
          <a:bodyPr wrap="square" lIns="0" tIns="0" rIns="0" bIns="0" rtlCol="0" anchor="t"/>
          <a:lstStyle/>
          <a:p>
            <a:pPr marL="0" indent="0" algn="l">
              <a:buNone/>
            </a:pPr>
            <a:r>
              <a:rPr lang="en-US" sz="1400" i="1" err="1">
                <a:solidFill>
                  <a:srgbClr val="B89058"/>
                </a:solidFill>
                <a:latin typeface="Garamond" pitchFamily="34" charset="0"/>
                <a:ea typeface="Garamond" pitchFamily="34" charset="-122"/>
                <a:cs typeface="Garamond" pitchFamily="34" charset="-120"/>
              </a:rPr>
              <a:t>rutas</a:t>
            </a:r>
            <a:r>
              <a:rPr lang="en-US" sz="1400" i="1">
                <a:solidFill>
                  <a:srgbClr val="B89058"/>
                </a:solidFill>
                <a:latin typeface="Garamond" pitchFamily="34" charset="0"/>
                <a:ea typeface="Garamond" pitchFamily="34" charset="-122"/>
                <a:cs typeface="Garamond" pitchFamily="34" charset="-120"/>
              </a:rPr>
              <a:t> </a:t>
            </a:r>
            <a:r>
              <a:rPr lang="en-US" sz="1400" i="1" err="1">
                <a:solidFill>
                  <a:srgbClr val="B89058"/>
                </a:solidFill>
                <a:latin typeface="Garamond" pitchFamily="34" charset="0"/>
                <a:ea typeface="Garamond" pitchFamily="34" charset="-122"/>
                <a:cs typeface="Garamond" pitchFamily="34" charset="-120"/>
              </a:rPr>
              <a:t>activas</a:t>
            </a:r>
            <a:endParaRPr lang="en-US" sz="1400"/>
          </a:p>
        </p:txBody>
      </p:sp>
      <p:sp>
        <p:nvSpPr>
          <p:cNvPr id="63" name="Text 12">
            <a:extLst>
              <a:ext uri="{FF2B5EF4-FFF2-40B4-BE49-F238E27FC236}">
                <a16:creationId xmlns:a16="http://schemas.microsoft.com/office/drawing/2014/main" id="{75F49AF9-A3F2-7199-51C9-D6A96974D536}"/>
              </a:ext>
            </a:extLst>
          </p:cNvPr>
          <p:cNvSpPr/>
          <p:nvPr/>
        </p:nvSpPr>
        <p:spPr>
          <a:xfrm>
            <a:off x="7261860" y="4188408"/>
            <a:ext cx="3314700" cy="274320"/>
          </a:xfrm>
          <a:prstGeom prst="rect">
            <a:avLst/>
          </a:prstGeom>
          <a:noFill/>
          <a:ln/>
        </p:spPr>
        <p:txBody>
          <a:bodyPr wrap="square" lIns="0" tIns="0" rIns="0" bIns="0" rtlCol="0" anchor="t"/>
          <a:lstStyle/>
          <a:p>
            <a:pPr marL="0" indent="0" algn="l">
              <a:buNone/>
            </a:pPr>
            <a:r>
              <a:rPr lang="en-US" sz="900" b="1" kern="0" spc="800">
                <a:solidFill>
                  <a:srgbClr val="8C6A38"/>
                </a:solidFill>
                <a:latin typeface="Inter" pitchFamily="34" charset="0"/>
                <a:ea typeface="Inter" pitchFamily="34" charset="-122"/>
                <a:cs typeface="Inter" pitchFamily="34" charset="-120"/>
              </a:rPr>
              <a:t>REDUCCIÓN DE RED</a:t>
            </a:r>
            <a:endParaRPr lang="en-US" sz="900"/>
          </a:p>
        </p:txBody>
      </p:sp>
      <p:sp>
        <p:nvSpPr>
          <p:cNvPr id="64" name="Text 13">
            <a:extLst>
              <a:ext uri="{FF2B5EF4-FFF2-40B4-BE49-F238E27FC236}">
                <a16:creationId xmlns:a16="http://schemas.microsoft.com/office/drawing/2014/main" id="{4DD837FD-7096-BCA4-608D-13B29E552128}"/>
              </a:ext>
            </a:extLst>
          </p:cNvPr>
          <p:cNvSpPr/>
          <p:nvPr/>
        </p:nvSpPr>
        <p:spPr>
          <a:xfrm>
            <a:off x="7261860" y="4403598"/>
            <a:ext cx="2436876" cy="251767"/>
          </a:xfrm>
          <a:prstGeom prst="rect">
            <a:avLst/>
          </a:prstGeom>
          <a:noFill/>
          <a:ln/>
        </p:spPr>
        <p:txBody>
          <a:bodyPr wrap="square" lIns="0" tIns="0" rIns="0" bIns="0" rtlCol="0" anchor="t"/>
          <a:lstStyle/>
          <a:p>
            <a:pPr marL="0" indent="0" algn="l">
              <a:lnSpc>
                <a:spcPct val="130000"/>
              </a:lnSpc>
              <a:buNone/>
            </a:pPr>
            <a:r>
              <a:rPr lang="en-US" sz="1000">
                <a:solidFill>
                  <a:srgbClr val="7A6F73"/>
                </a:solidFill>
                <a:latin typeface="Inter" pitchFamily="34" charset="0"/>
                <a:ea typeface="Inter" pitchFamily="34" charset="-122"/>
                <a:cs typeface="Inter" pitchFamily="34" charset="-120"/>
              </a:rPr>
              <a:t>6 </a:t>
            </a:r>
            <a:r>
              <a:rPr lang="en-US" sz="1000" err="1">
                <a:solidFill>
                  <a:srgbClr val="7A6F73"/>
                </a:solidFill>
                <a:latin typeface="Inter" pitchFamily="34" charset="0"/>
                <a:ea typeface="Inter" pitchFamily="34" charset="-122"/>
                <a:cs typeface="Inter" pitchFamily="34" charset="-120"/>
              </a:rPr>
              <a:t>rutas</a:t>
            </a:r>
            <a:r>
              <a:rPr lang="en-US" sz="1000">
                <a:solidFill>
                  <a:srgbClr val="7A6F73"/>
                </a:solidFill>
                <a:latin typeface="Inter" pitchFamily="34" charset="0"/>
                <a:ea typeface="Inter" pitchFamily="34" charset="-122"/>
                <a:cs typeface="Inter" pitchFamily="34" charset="-120"/>
              </a:rPr>
              <a:t> </a:t>
            </a:r>
            <a:r>
              <a:rPr lang="en-US" sz="1000" err="1">
                <a:solidFill>
                  <a:srgbClr val="7A6F73"/>
                </a:solidFill>
                <a:latin typeface="Inter" pitchFamily="34" charset="0"/>
                <a:ea typeface="Inter" pitchFamily="34" charset="-122"/>
                <a:cs typeface="Inter" pitchFamily="34" charset="-120"/>
              </a:rPr>
              <a:t>activas</a:t>
            </a:r>
            <a:endParaRPr lang="en-US" sz="1000"/>
          </a:p>
        </p:txBody>
      </p:sp>
      <p:sp>
        <p:nvSpPr>
          <p:cNvPr id="65" name="Shape 9">
            <a:extLst>
              <a:ext uri="{FF2B5EF4-FFF2-40B4-BE49-F238E27FC236}">
                <a16:creationId xmlns:a16="http://schemas.microsoft.com/office/drawing/2014/main" id="{326190EA-E07C-21E2-FDD4-025E2FCE8B92}"/>
              </a:ext>
            </a:extLst>
          </p:cNvPr>
          <p:cNvSpPr/>
          <p:nvPr/>
        </p:nvSpPr>
        <p:spPr>
          <a:xfrm rot="16200000">
            <a:off x="8638134" y="3434182"/>
            <a:ext cx="10973" cy="2743200"/>
          </a:xfrm>
          <a:prstGeom prst="rect">
            <a:avLst/>
          </a:prstGeom>
          <a:solidFill>
            <a:srgbClr val="E0D8CC"/>
          </a:solidFill>
          <a:ln w="12700">
            <a:solidFill>
              <a:srgbClr val="E0D8CC"/>
            </a:solidFill>
            <a:prstDash val="solid"/>
          </a:ln>
        </p:spPr>
        <p:txBody>
          <a:bodyPr/>
          <a:lstStyle/>
          <a:p>
            <a:endParaRPr lang="en-MX"/>
          </a:p>
        </p:txBody>
      </p:sp>
      <p:sp>
        <p:nvSpPr>
          <p:cNvPr id="66" name="Text 10">
            <a:extLst>
              <a:ext uri="{FF2B5EF4-FFF2-40B4-BE49-F238E27FC236}">
                <a16:creationId xmlns:a16="http://schemas.microsoft.com/office/drawing/2014/main" id="{5D99B12F-43E3-9CB3-0137-E395B930889C}"/>
              </a:ext>
            </a:extLst>
          </p:cNvPr>
          <p:cNvSpPr/>
          <p:nvPr/>
        </p:nvSpPr>
        <p:spPr>
          <a:xfrm>
            <a:off x="7272020" y="5045506"/>
            <a:ext cx="2250672" cy="693115"/>
          </a:xfrm>
          <a:prstGeom prst="rect">
            <a:avLst/>
          </a:prstGeom>
          <a:noFill/>
          <a:ln/>
        </p:spPr>
        <p:txBody>
          <a:bodyPr wrap="square" lIns="0" tIns="0" rIns="0" bIns="0" rtlCol="0" anchor="t"/>
          <a:lstStyle/>
          <a:p>
            <a:pPr marL="0" indent="0" algn="l">
              <a:buNone/>
            </a:pPr>
            <a:r>
              <a:rPr lang="en-US" sz="4600" b="1" kern="0" spc="-300">
                <a:solidFill>
                  <a:srgbClr val="4A0F22"/>
                </a:solidFill>
                <a:latin typeface="Garamond" pitchFamily="34" charset="0"/>
                <a:ea typeface="Garamond" pitchFamily="34" charset="-122"/>
                <a:cs typeface="Garamond" pitchFamily="34" charset="-120"/>
              </a:rPr>
              <a:t>9</a:t>
            </a:r>
            <a:endParaRPr lang="en-US" sz="7200"/>
          </a:p>
        </p:txBody>
      </p:sp>
      <p:sp>
        <p:nvSpPr>
          <p:cNvPr id="67" name="Text 11">
            <a:extLst>
              <a:ext uri="{FF2B5EF4-FFF2-40B4-BE49-F238E27FC236}">
                <a16:creationId xmlns:a16="http://schemas.microsoft.com/office/drawing/2014/main" id="{BF867FAD-1895-8E01-7D7F-3A7F6222A9C2}"/>
              </a:ext>
            </a:extLst>
          </p:cNvPr>
          <p:cNvSpPr/>
          <p:nvPr/>
        </p:nvSpPr>
        <p:spPr>
          <a:xfrm>
            <a:off x="7660640" y="5464301"/>
            <a:ext cx="1579169" cy="220980"/>
          </a:xfrm>
          <a:prstGeom prst="rect">
            <a:avLst/>
          </a:prstGeom>
          <a:noFill/>
          <a:ln/>
        </p:spPr>
        <p:txBody>
          <a:bodyPr wrap="square" lIns="0" tIns="0" rIns="0" bIns="0" rtlCol="0" anchor="t"/>
          <a:lstStyle/>
          <a:p>
            <a:pPr marL="0" indent="0" algn="l">
              <a:buNone/>
            </a:pPr>
            <a:r>
              <a:rPr lang="en-US" sz="1400" i="1" err="1">
                <a:solidFill>
                  <a:srgbClr val="B89058"/>
                </a:solidFill>
                <a:latin typeface="Garamond" pitchFamily="34" charset="0"/>
                <a:ea typeface="Garamond" pitchFamily="34" charset="-122"/>
                <a:cs typeface="Garamond" pitchFamily="34" charset="-120"/>
              </a:rPr>
              <a:t>rutas</a:t>
            </a:r>
            <a:r>
              <a:rPr lang="en-US" sz="1400" i="1">
                <a:solidFill>
                  <a:srgbClr val="B89058"/>
                </a:solidFill>
                <a:latin typeface="Garamond" pitchFamily="34" charset="0"/>
                <a:ea typeface="Garamond" pitchFamily="34" charset="-122"/>
                <a:cs typeface="Garamond" pitchFamily="34" charset="-120"/>
              </a:rPr>
              <a:t> </a:t>
            </a:r>
            <a:r>
              <a:rPr lang="en-US" sz="1400" i="1" err="1">
                <a:solidFill>
                  <a:srgbClr val="B89058"/>
                </a:solidFill>
                <a:latin typeface="Garamond" pitchFamily="34" charset="0"/>
                <a:ea typeface="Garamond" pitchFamily="34" charset="-122"/>
                <a:cs typeface="Garamond" pitchFamily="34" charset="-120"/>
              </a:rPr>
              <a:t>descartadas</a:t>
            </a:r>
            <a:endParaRPr lang="en-US" sz="1400"/>
          </a:p>
        </p:txBody>
      </p:sp>
      <p:sp>
        <p:nvSpPr>
          <p:cNvPr id="68" name="Text 12">
            <a:extLst>
              <a:ext uri="{FF2B5EF4-FFF2-40B4-BE49-F238E27FC236}">
                <a16:creationId xmlns:a16="http://schemas.microsoft.com/office/drawing/2014/main" id="{325110DA-DBA9-06FA-C585-EBEE49F62E69}"/>
              </a:ext>
            </a:extLst>
          </p:cNvPr>
          <p:cNvSpPr/>
          <p:nvPr/>
        </p:nvSpPr>
        <p:spPr>
          <a:xfrm>
            <a:off x="7272020" y="5712408"/>
            <a:ext cx="3314700" cy="274320"/>
          </a:xfrm>
          <a:prstGeom prst="rect">
            <a:avLst/>
          </a:prstGeom>
          <a:noFill/>
          <a:ln/>
        </p:spPr>
        <p:txBody>
          <a:bodyPr wrap="square" lIns="0" tIns="0" rIns="0" bIns="0" rtlCol="0" anchor="t"/>
          <a:lstStyle/>
          <a:p>
            <a:pPr marL="0" indent="0" algn="l">
              <a:buNone/>
            </a:pPr>
            <a:r>
              <a:rPr lang="en-US" sz="900" b="1" kern="0" spc="800">
                <a:solidFill>
                  <a:srgbClr val="8C6A38"/>
                </a:solidFill>
                <a:latin typeface="Inter" pitchFamily="34" charset="0"/>
                <a:ea typeface="Inter" pitchFamily="34" charset="-122"/>
                <a:cs typeface="Inter" pitchFamily="34" charset="-120"/>
              </a:rPr>
              <a:t>REDUCCIÓN DE RED</a:t>
            </a:r>
            <a:endParaRPr lang="en-US" sz="900"/>
          </a:p>
        </p:txBody>
      </p:sp>
      <mc:AlternateContent xmlns:mc="http://schemas.openxmlformats.org/markup-compatibility/2006" xmlns:a14="http://schemas.microsoft.com/office/drawing/2010/main">
        <mc:Choice Requires="a14">
          <p:sp>
            <p:nvSpPr>
              <p:cNvPr id="69" name="Text 13">
                <a:extLst>
                  <a:ext uri="{FF2B5EF4-FFF2-40B4-BE49-F238E27FC236}">
                    <a16:creationId xmlns:a16="http://schemas.microsoft.com/office/drawing/2014/main" id="{858EDAD3-C10D-9428-E156-CCBDB6C14B3C}"/>
                  </a:ext>
                </a:extLst>
              </p:cNvPr>
              <p:cNvSpPr/>
              <p:nvPr/>
            </p:nvSpPr>
            <p:spPr>
              <a:xfrm>
                <a:off x="7272020" y="5927598"/>
                <a:ext cx="2436876" cy="251767"/>
              </a:xfrm>
              <a:prstGeom prst="rect">
                <a:avLst/>
              </a:prstGeom>
              <a:noFill/>
              <a:ln/>
            </p:spPr>
            <p:txBody>
              <a:bodyPr wrap="square" lIns="0" tIns="0" rIns="0" bIns="0" rtlCol="0" anchor="t"/>
              <a:lstStyle/>
              <a:p>
                <a:pPr>
                  <a:lnSpc>
                    <a:spcPct val="130000"/>
                  </a:lnSpc>
                </a:pPr>
                <a14:m>
                  <m:oMathPara xmlns:m="http://schemas.openxmlformats.org/officeDocument/2006/math">
                    <m:oMathParaPr>
                      <m:jc m:val="left"/>
                    </m:oMathParaPr>
                    <m:oMath xmlns:m="http://schemas.openxmlformats.org/officeDocument/2006/math">
                      <m:sSub>
                        <m:sSubPr>
                          <m:ctrlPr>
                            <a:rPr lang="es-MX" sz="1000" i="1">
                              <a:solidFill>
                                <a:srgbClr val="7A6F73"/>
                              </a:solidFill>
                              <a:latin typeface="Cambria Math" panose="02040503050406030204" pitchFamily="18" charset="0"/>
                            </a:rPr>
                          </m:ctrlPr>
                        </m:sSubPr>
                        <m:e>
                          <m:r>
                            <a:rPr lang="es-MX" sz="1000">
                              <a:solidFill>
                                <a:srgbClr val="7A6F73"/>
                              </a:solidFill>
                              <a:latin typeface="Cambria Math" panose="02040503050406030204" pitchFamily="18" charset="0"/>
                            </a:rPr>
                            <m:t>𝑋</m:t>
                          </m:r>
                        </m:e>
                        <m:sub>
                          <m:r>
                            <a:rPr lang="es-MX" sz="1000">
                              <a:solidFill>
                                <a:srgbClr val="7A6F73"/>
                              </a:solidFill>
                              <a:latin typeface="Cambria Math" panose="02040503050406030204" pitchFamily="18" charset="0"/>
                            </a:rPr>
                            <m:t>𝑖𝑗</m:t>
                          </m:r>
                        </m:sub>
                      </m:sSub>
                      <m:r>
                        <a:rPr lang="es-MX" sz="1000">
                          <a:solidFill>
                            <a:srgbClr val="7A6F73"/>
                          </a:solidFill>
                          <a:latin typeface="Cambria Math" panose="02040503050406030204" pitchFamily="18" charset="0"/>
                        </a:rPr>
                        <m:t>=0</m:t>
                      </m:r>
                    </m:oMath>
                  </m:oMathPara>
                </a14:m>
                <a:endParaRPr lang="en-US" sz="1000">
                  <a:solidFill>
                    <a:srgbClr val="7A6F73"/>
                  </a:solidFill>
                  <a:latin typeface="Inter" pitchFamily="34" charset="0"/>
                  <a:ea typeface="Inter" pitchFamily="34" charset="-122"/>
                </a:endParaRPr>
              </a:p>
            </p:txBody>
          </p:sp>
        </mc:Choice>
        <mc:Fallback xmlns="">
          <p:sp>
            <p:nvSpPr>
              <p:cNvPr id="69" name="Text 13">
                <a:extLst>
                  <a:ext uri="{FF2B5EF4-FFF2-40B4-BE49-F238E27FC236}">
                    <a16:creationId xmlns:a16="http://schemas.microsoft.com/office/drawing/2014/main" id="{858EDAD3-C10D-9428-E156-CCBDB6C14B3C}"/>
                  </a:ext>
                </a:extLst>
              </p:cNvPr>
              <p:cNvSpPr>
                <a:spLocks noRot="1" noChangeAspect="1" noMove="1" noResize="1" noEditPoints="1" noAdjustHandles="1" noChangeArrowheads="1" noChangeShapeType="1" noTextEdit="1"/>
              </p:cNvSpPr>
              <p:nvPr/>
            </p:nvSpPr>
            <p:spPr>
              <a:xfrm>
                <a:off x="7272020" y="5927598"/>
                <a:ext cx="2436876" cy="251767"/>
              </a:xfrm>
              <a:prstGeom prst="rect">
                <a:avLst/>
              </a:prstGeom>
              <a:blipFill>
                <a:blip r:embed="rId5"/>
                <a:stretch>
                  <a:fillRect l="-2073"/>
                </a:stretch>
              </a:blipFill>
              <a:ln/>
            </p:spPr>
            <p:txBody>
              <a:bodyPr/>
              <a:lstStyle/>
              <a:p>
                <a:r>
                  <a:rPr lang="en-MX">
                    <a:noFill/>
                  </a:rPr>
                  <a:t> </a:t>
                </a:r>
              </a:p>
            </p:txBody>
          </p:sp>
        </mc:Fallback>
      </mc:AlternateContent>
    </p:spTree>
    <p:extLst>
      <p:ext uri="{BB962C8B-B14F-4D97-AF65-F5344CB8AC3E}">
        <p14:creationId xmlns:p14="http://schemas.microsoft.com/office/powerpoint/2010/main" val="34309970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228600"/>
          </a:xfrm>
          <a:prstGeom prst="rect">
            <a:avLst/>
          </a:prstGeom>
          <a:noFill/>
          <a:ln/>
        </p:spPr>
        <p:txBody>
          <a:bodyPr wrap="square" lIns="0" tIns="0" rIns="0" bIns="0" rtlCol="0" anchor="ctr"/>
          <a:lstStyle/>
          <a:p>
            <a:pPr marL="0" indent="0" algn="l">
              <a:buNone/>
            </a:pPr>
            <a:r>
              <a:rPr lang="en-US" sz="800" b="1" kern="0" spc="600">
                <a:solidFill>
                  <a:srgbClr val="4A0F22"/>
                </a:solidFill>
                <a:latin typeface="Inter" pitchFamily="34" charset="0"/>
                <a:ea typeface="Inter" pitchFamily="34" charset="-122"/>
                <a:cs typeface="Inter" pitchFamily="34" charset="-120"/>
              </a:rPr>
              <a:t>INFOTEC   ·   M.C.D.I.   ·   Matemáticas 2026-1</a:t>
            </a:r>
            <a:endParaRPr lang="en-US" sz="800"/>
          </a:p>
        </p:txBody>
      </p:sp>
      <p:sp>
        <p:nvSpPr>
          <p:cNvPr id="3" name="Shape 1"/>
          <p:cNvSpPr/>
          <p:nvPr/>
        </p:nvSpPr>
        <p:spPr>
          <a:xfrm>
            <a:off x="548640" y="566928"/>
            <a:ext cx="11094415" cy="10973"/>
          </a:xfrm>
          <a:prstGeom prst="rect">
            <a:avLst/>
          </a:prstGeom>
          <a:solidFill>
            <a:srgbClr val="000000"/>
          </a:solidFill>
          <a:ln w="12700">
            <a:solidFill>
              <a:srgbClr val="333333"/>
            </a:solidFill>
            <a:prstDash val="solid"/>
          </a:ln>
        </p:spPr>
        <p:txBody>
          <a:bodyPr/>
          <a:lstStyle/>
          <a:p>
            <a:endParaRPr lang="en-MX"/>
          </a:p>
        </p:txBody>
      </p:sp>
      <p:sp>
        <p:nvSpPr>
          <p:cNvPr id="5" name="Text 3"/>
          <p:cNvSpPr/>
          <p:nvPr/>
        </p:nvSpPr>
        <p:spPr>
          <a:xfrm>
            <a:off x="640080" y="1097280"/>
            <a:ext cx="10911535" cy="868680"/>
          </a:xfrm>
          <a:prstGeom prst="rect">
            <a:avLst/>
          </a:prstGeom>
          <a:noFill/>
          <a:ln/>
        </p:spPr>
        <p:txBody>
          <a:bodyPr wrap="square" lIns="0" tIns="0" rIns="0" bIns="0" rtlCol="0" anchor="t"/>
          <a:lstStyle/>
          <a:p>
            <a:r>
              <a:rPr lang="es-ES" sz="3000" b="1">
                <a:solidFill>
                  <a:srgbClr val="B89058"/>
                </a:solidFill>
                <a:latin typeface="Garamond"/>
              </a:rPr>
              <a:t>18.</a:t>
            </a:r>
            <a:r>
              <a:rPr sz="3000" b="1">
                <a:solidFill>
                  <a:srgbClr val="B89058"/>
                </a:solidFill>
                <a:latin typeface="Garamond"/>
              </a:rPr>
              <a:t> </a:t>
            </a:r>
            <a:r>
              <a:rPr sz="3000" b="1" err="1">
                <a:solidFill>
                  <a:srgbClr val="4A0F22"/>
                </a:solidFill>
                <a:latin typeface="Garamond"/>
              </a:rPr>
              <a:t>Análisis</a:t>
            </a:r>
            <a:r>
              <a:rPr sz="3000" b="1">
                <a:solidFill>
                  <a:srgbClr val="4A0F22"/>
                </a:solidFill>
                <a:latin typeface="Garamond"/>
              </a:rPr>
              <a:t> Dual: ¿</a:t>
            </a:r>
            <a:r>
              <a:rPr sz="3000" b="1" err="1">
                <a:solidFill>
                  <a:srgbClr val="4A0F22"/>
                </a:solidFill>
                <a:latin typeface="Garamond"/>
              </a:rPr>
              <a:t>Dónde</a:t>
            </a:r>
            <a:r>
              <a:rPr sz="3000" b="1">
                <a:solidFill>
                  <a:srgbClr val="4A0F22"/>
                </a:solidFill>
                <a:latin typeface="Garamond"/>
              </a:rPr>
              <a:t> </a:t>
            </a:r>
            <a:r>
              <a:rPr sz="3000" b="1" err="1">
                <a:solidFill>
                  <a:srgbClr val="4A0F22"/>
                </a:solidFill>
                <a:latin typeface="Garamond"/>
              </a:rPr>
              <a:t>Invertir</a:t>
            </a:r>
            <a:r>
              <a:rPr sz="3000" b="1">
                <a:solidFill>
                  <a:srgbClr val="4A0F22"/>
                </a:solidFill>
                <a:latin typeface="Garamond"/>
              </a:rPr>
              <a:t> </a:t>
            </a:r>
            <a:r>
              <a:rPr sz="3000" b="1" err="1">
                <a:solidFill>
                  <a:srgbClr val="4A0F22"/>
                </a:solidFill>
                <a:latin typeface="Garamond"/>
              </a:rPr>
              <a:t>Mañana</a:t>
            </a:r>
            <a:r>
              <a:rPr sz="3000" b="1">
                <a:solidFill>
                  <a:srgbClr val="4A0F22"/>
                </a:solidFill>
                <a:latin typeface="Garamond"/>
              </a:rPr>
              <a:t>?</a:t>
            </a:r>
            <a:endParaRPr lang="en-US" sz="3800"/>
          </a:p>
        </p:txBody>
      </p:sp>
      <p:sp>
        <p:nvSpPr>
          <p:cNvPr id="6" name="Shape 4"/>
          <p:cNvSpPr/>
          <p:nvPr/>
        </p:nvSpPr>
        <p:spPr>
          <a:xfrm>
            <a:off x="640080" y="2057400"/>
            <a:ext cx="10911535" cy="10973"/>
          </a:xfrm>
          <a:prstGeom prst="rect">
            <a:avLst/>
          </a:prstGeom>
          <a:solidFill>
            <a:srgbClr val="000000"/>
          </a:solidFill>
          <a:ln w="12700">
            <a:solidFill>
              <a:srgbClr val="333333"/>
            </a:solidFill>
            <a:prstDash val="solid"/>
          </a:ln>
        </p:spPr>
        <p:txBody>
          <a:bodyPr/>
          <a:lstStyle/>
          <a:p>
            <a:endParaRPr lang="en-MX"/>
          </a:p>
        </p:txBody>
      </p:sp>
      <p:sp>
        <p:nvSpPr>
          <p:cNvPr id="11" name="Shape 9"/>
          <p:cNvSpPr/>
          <p:nvPr/>
        </p:nvSpPr>
        <p:spPr>
          <a:xfrm>
            <a:off x="548640" y="6473952"/>
            <a:ext cx="11094415" cy="10973"/>
          </a:xfrm>
          <a:prstGeom prst="rect">
            <a:avLst/>
          </a:prstGeom>
          <a:solidFill>
            <a:srgbClr val="E0D8CC"/>
          </a:solidFill>
          <a:ln w="12700">
            <a:solidFill>
              <a:srgbClr val="E0D8CC"/>
            </a:solidFill>
            <a:prstDash val="solid"/>
          </a:ln>
        </p:spPr>
        <p:txBody>
          <a:bodyPr/>
          <a:lstStyle/>
          <a:p>
            <a:endParaRPr lang="en-MX"/>
          </a:p>
        </p:txBody>
      </p:sp>
      <p:sp>
        <p:nvSpPr>
          <p:cNvPr id="12" name="Text 10"/>
          <p:cNvSpPr/>
          <p:nvPr/>
        </p:nvSpPr>
        <p:spPr>
          <a:xfrm>
            <a:off x="548640" y="6565392"/>
            <a:ext cx="1828800" cy="182880"/>
          </a:xfrm>
          <a:prstGeom prst="rect">
            <a:avLst/>
          </a:prstGeom>
          <a:noFill/>
          <a:ln/>
        </p:spPr>
        <p:txBody>
          <a:bodyPr wrap="square" lIns="0" tIns="0" rIns="0" bIns="0" rtlCol="0" anchor="ctr"/>
          <a:lstStyle/>
          <a:p>
            <a:pPr marL="0" indent="0" algn="l">
              <a:buNone/>
            </a:pPr>
            <a:r>
              <a:rPr lang="en-US" sz="800" b="1" kern="0" spc="400">
                <a:solidFill>
                  <a:srgbClr val="7A6F73"/>
                </a:solidFill>
                <a:latin typeface="Inter" pitchFamily="34" charset="0"/>
                <a:ea typeface="Inter" pitchFamily="34" charset="-122"/>
                <a:cs typeface="Inter" pitchFamily="34" charset="-120"/>
              </a:rPr>
              <a:t>M.C.D.I.</a:t>
            </a:r>
            <a:endParaRPr lang="en-US" sz="800"/>
          </a:p>
        </p:txBody>
      </p:sp>
      <p:sp>
        <p:nvSpPr>
          <p:cNvPr id="13" name="Text 11"/>
          <p:cNvSpPr/>
          <p:nvPr/>
        </p:nvSpPr>
        <p:spPr>
          <a:xfrm>
            <a:off x="4724248" y="6565392"/>
            <a:ext cx="2743200" cy="182880"/>
          </a:xfrm>
          <a:prstGeom prst="rect">
            <a:avLst/>
          </a:prstGeom>
          <a:noFill/>
          <a:ln/>
        </p:spPr>
        <p:txBody>
          <a:bodyPr wrap="square" lIns="0" tIns="0" rIns="0" bIns="0" rtlCol="0" anchor="ctr"/>
          <a:lstStyle/>
          <a:p>
            <a:pPr marL="0" indent="0" algn="ctr">
              <a:buNone/>
            </a:pPr>
            <a:r>
              <a:rPr lang="en-US" sz="900" i="1">
                <a:solidFill>
                  <a:srgbClr val="8C6A38"/>
                </a:solidFill>
                <a:latin typeface="Garamond" pitchFamily="34" charset="0"/>
                <a:ea typeface="Garamond" pitchFamily="34" charset="-122"/>
                <a:cs typeface="Garamond" pitchFamily="34" charset="-120"/>
              </a:rPr>
              <a:t>—  15 / 20  —</a:t>
            </a:r>
            <a:endParaRPr lang="en-US" sz="900"/>
          </a:p>
        </p:txBody>
      </p:sp>
      <p:sp>
        <p:nvSpPr>
          <p:cNvPr id="14" name="Text 12"/>
          <p:cNvSpPr/>
          <p:nvPr/>
        </p:nvSpPr>
        <p:spPr>
          <a:xfrm>
            <a:off x="8899855" y="6565392"/>
            <a:ext cx="2743200" cy="182880"/>
          </a:xfrm>
          <a:prstGeom prst="rect">
            <a:avLst/>
          </a:prstGeom>
          <a:noFill/>
          <a:ln/>
        </p:spPr>
        <p:txBody>
          <a:bodyPr wrap="square" lIns="0" tIns="0" rIns="0" bIns="0" rtlCol="0" anchor="ctr"/>
          <a:lstStyle/>
          <a:p>
            <a:pPr marL="0" indent="0" algn="r">
              <a:buNone/>
            </a:pPr>
            <a:r>
              <a:rPr lang="en-US" sz="800" i="1">
                <a:solidFill>
                  <a:srgbClr val="7A6F73"/>
                </a:solidFill>
                <a:latin typeface="Garamond" pitchFamily="34" charset="0"/>
                <a:ea typeface="Garamond" pitchFamily="34" charset="-122"/>
                <a:cs typeface="Garamond" pitchFamily="34" charset="-120"/>
              </a:rPr>
              <a:t>Equipo 5</a:t>
            </a:r>
            <a:endParaRPr lang="en-US" sz="800"/>
          </a:p>
        </p:txBody>
      </p:sp>
      <p:sp>
        <p:nvSpPr>
          <p:cNvPr id="18" name="Text 2">
            <a:extLst>
              <a:ext uri="{FF2B5EF4-FFF2-40B4-BE49-F238E27FC236}">
                <a16:creationId xmlns:a16="http://schemas.microsoft.com/office/drawing/2014/main" id="{97813579-BBBD-5B1F-060F-1D47461FD243}"/>
              </a:ext>
            </a:extLst>
          </p:cNvPr>
          <p:cNvSpPr/>
          <p:nvPr/>
        </p:nvSpPr>
        <p:spPr>
          <a:xfrm>
            <a:off x="640080" y="868680"/>
            <a:ext cx="4572000" cy="228600"/>
          </a:xfrm>
          <a:prstGeom prst="rect">
            <a:avLst/>
          </a:prstGeom>
          <a:noFill/>
          <a:ln/>
        </p:spPr>
        <p:txBody>
          <a:bodyPr wrap="square" lIns="0" tIns="0" rIns="0" bIns="0" rtlCol="0" anchor="t"/>
          <a:lstStyle/>
          <a:p>
            <a:pPr marL="0" indent="0" algn="l">
              <a:buNone/>
            </a:pPr>
            <a:r>
              <a:rPr lang="en-US" sz="900" b="1" kern="0" spc="300">
                <a:solidFill>
                  <a:srgbClr val="8C6A38"/>
                </a:solidFill>
                <a:latin typeface="Inter" pitchFamily="34" charset="0"/>
                <a:ea typeface="Inter" pitchFamily="34" charset="-122"/>
                <a:cs typeface="Inter" pitchFamily="34" charset="-120"/>
              </a:rPr>
              <a:t>SECCION 3</a:t>
            </a:r>
            <a:endParaRPr lang="en-US" sz="900" spc="300"/>
          </a:p>
        </p:txBody>
      </p:sp>
      <p:grpSp>
        <p:nvGrpSpPr>
          <p:cNvPr id="15" name="Grupo 14">
            <a:extLst>
              <a:ext uri="{FF2B5EF4-FFF2-40B4-BE49-F238E27FC236}">
                <a16:creationId xmlns:a16="http://schemas.microsoft.com/office/drawing/2014/main" id="{501C538C-C671-40BA-DD75-9A1D48E912BF}"/>
              </a:ext>
            </a:extLst>
          </p:cNvPr>
          <p:cNvGrpSpPr/>
          <p:nvPr/>
        </p:nvGrpSpPr>
        <p:grpSpPr>
          <a:xfrm>
            <a:off x="575006" y="2140698"/>
            <a:ext cx="6411135" cy="4286838"/>
            <a:chOff x="16206" y="646837"/>
            <a:chExt cx="8769257" cy="5863610"/>
          </a:xfrm>
        </p:grpSpPr>
        <p:pic>
          <p:nvPicPr>
            <p:cNvPr id="16" name="Imagen 15">
              <a:extLst>
                <a:ext uri="{FF2B5EF4-FFF2-40B4-BE49-F238E27FC236}">
                  <a16:creationId xmlns:a16="http://schemas.microsoft.com/office/drawing/2014/main" id="{8B762329-36BA-5AD2-C79B-E7377DE0E4EC}"/>
                </a:ext>
              </a:extLst>
            </p:cNvPr>
            <p:cNvPicPr>
              <a:picLocks noChangeAspect="1"/>
            </p:cNvPicPr>
            <p:nvPr/>
          </p:nvPicPr>
          <p:blipFill>
            <a:blip r:embed="rId4"/>
            <a:stretch>
              <a:fillRect/>
            </a:stretch>
          </p:blipFill>
          <p:spPr>
            <a:xfrm>
              <a:off x="56363" y="646837"/>
              <a:ext cx="8729100" cy="5807945"/>
            </a:xfrm>
            <a:prstGeom prst="rect">
              <a:avLst/>
            </a:prstGeom>
          </p:spPr>
        </p:pic>
        <p:sp>
          <p:nvSpPr>
            <p:cNvPr id="17" name="Rectángulo 16">
              <a:extLst>
                <a:ext uri="{FF2B5EF4-FFF2-40B4-BE49-F238E27FC236}">
                  <a16:creationId xmlns:a16="http://schemas.microsoft.com/office/drawing/2014/main" id="{DA209E30-37E2-5B51-4F93-0C9AF5869058}"/>
                </a:ext>
              </a:extLst>
            </p:cNvPr>
            <p:cNvSpPr/>
            <p:nvPr/>
          </p:nvSpPr>
          <p:spPr>
            <a:xfrm rot="5400000">
              <a:off x="2443963" y="3445418"/>
              <a:ext cx="314960" cy="5090160"/>
            </a:xfrm>
            <a:prstGeom prst="rect">
              <a:avLst/>
            </a:prstGeom>
            <a:gradFill>
              <a:gsLst>
                <a:gs pos="0">
                  <a:srgbClr val="FF0400"/>
                </a:gs>
                <a:gs pos="50000">
                  <a:srgbClr val="FDC001"/>
                </a:gs>
                <a:gs pos="100000">
                  <a:srgbClr val="04B04E"/>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CuadroTexto 18">
              <a:extLst>
                <a:ext uri="{FF2B5EF4-FFF2-40B4-BE49-F238E27FC236}">
                  <a16:creationId xmlns:a16="http://schemas.microsoft.com/office/drawing/2014/main" id="{B5C25565-92C1-6B41-DC01-AF5DFAAE1531}"/>
                </a:ext>
              </a:extLst>
            </p:cNvPr>
            <p:cNvSpPr txBox="1"/>
            <p:nvPr/>
          </p:nvSpPr>
          <p:spPr>
            <a:xfrm>
              <a:off x="16206" y="5463687"/>
              <a:ext cx="3221478" cy="420982"/>
            </a:xfrm>
            <a:prstGeom prst="rect">
              <a:avLst/>
            </a:prstGeom>
            <a:noFill/>
          </p:spPr>
          <p:txBody>
            <a:bodyPr wrap="none" rtlCol="0">
              <a:spAutoFit/>
            </a:bodyPr>
            <a:lstStyle/>
            <a:p>
              <a:r>
                <a:rPr lang="es-MX" sz="1400"/>
                <a:t>Precio sombra por lote (MXN)</a:t>
              </a:r>
            </a:p>
          </p:txBody>
        </p:sp>
        <p:sp>
          <p:nvSpPr>
            <p:cNvPr id="20" name="CuadroTexto 19">
              <a:extLst>
                <a:ext uri="{FF2B5EF4-FFF2-40B4-BE49-F238E27FC236}">
                  <a16:creationId xmlns:a16="http://schemas.microsoft.com/office/drawing/2014/main" id="{61331F47-FE2C-5479-E2AB-1DF8B85D9F29}"/>
                </a:ext>
              </a:extLst>
            </p:cNvPr>
            <p:cNvSpPr txBox="1"/>
            <p:nvPr/>
          </p:nvSpPr>
          <p:spPr>
            <a:xfrm>
              <a:off x="29863" y="6089464"/>
              <a:ext cx="827054" cy="420983"/>
            </a:xfrm>
            <a:prstGeom prst="rect">
              <a:avLst/>
            </a:prstGeom>
            <a:noFill/>
          </p:spPr>
          <p:txBody>
            <a:bodyPr wrap="none" rtlCol="0">
              <a:spAutoFit/>
            </a:bodyPr>
            <a:lstStyle/>
            <a:p>
              <a:pPr algn="ctr"/>
              <a:r>
                <a:rPr lang="es-MX" sz="1400"/>
                <a:t>$-200</a:t>
              </a:r>
            </a:p>
          </p:txBody>
        </p:sp>
        <p:sp>
          <p:nvSpPr>
            <p:cNvPr id="21" name="CuadroTexto 20">
              <a:extLst>
                <a:ext uri="{FF2B5EF4-FFF2-40B4-BE49-F238E27FC236}">
                  <a16:creationId xmlns:a16="http://schemas.microsoft.com/office/drawing/2014/main" id="{ED85ED49-7E6C-0262-6AC2-F11FD56F78EC}"/>
                </a:ext>
              </a:extLst>
            </p:cNvPr>
            <p:cNvSpPr txBox="1"/>
            <p:nvPr/>
          </p:nvSpPr>
          <p:spPr>
            <a:xfrm>
              <a:off x="2161722" y="6071153"/>
              <a:ext cx="938878" cy="420983"/>
            </a:xfrm>
            <a:prstGeom prst="rect">
              <a:avLst/>
            </a:prstGeom>
            <a:noFill/>
          </p:spPr>
          <p:txBody>
            <a:bodyPr wrap="none" rtlCol="0">
              <a:spAutoFit/>
            </a:bodyPr>
            <a:lstStyle/>
            <a:p>
              <a:pPr algn="ctr"/>
              <a:r>
                <a:rPr lang="es-MX" sz="1400"/>
                <a:t>$1,350</a:t>
              </a:r>
            </a:p>
          </p:txBody>
        </p:sp>
        <p:sp>
          <p:nvSpPr>
            <p:cNvPr id="22" name="CuadroTexto 21">
              <a:extLst>
                <a:ext uri="{FF2B5EF4-FFF2-40B4-BE49-F238E27FC236}">
                  <a16:creationId xmlns:a16="http://schemas.microsoft.com/office/drawing/2014/main" id="{A8959443-B63C-69B7-945C-68CAE927B9C2}"/>
                </a:ext>
              </a:extLst>
            </p:cNvPr>
            <p:cNvSpPr txBox="1"/>
            <p:nvPr/>
          </p:nvSpPr>
          <p:spPr>
            <a:xfrm>
              <a:off x="4398384" y="6064598"/>
              <a:ext cx="938878" cy="420983"/>
            </a:xfrm>
            <a:prstGeom prst="rect">
              <a:avLst/>
            </a:prstGeom>
            <a:noFill/>
          </p:spPr>
          <p:txBody>
            <a:bodyPr wrap="none" rtlCol="0">
              <a:spAutoFit/>
            </a:bodyPr>
            <a:lstStyle/>
            <a:p>
              <a:pPr algn="ctr"/>
              <a:r>
                <a:rPr lang="es-MX" sz="1400"/>
                <a:t>$2,700</a:t>
              </a:r>
            </a:p>
          </p:txBody>
        </p:sp>
      </p:grpSp>
      <p:sp>
        <p:nvSpPr>
          <p:cNvPr id="23" name="CuadroTexto 22">
            <a:extLst>
              <a:ext uri="{FF2B5EF4-FFF2-40B4-BE49-F238E27FC236}">
                <a16:creationId xmlns:a16="http://schemas.microsoft.com/office/drawing/2014/main" id="{8B1AD343-9A0B-8621-E6CC-88285584E0CD}"/>
              </a:ext>
            </a:extLst>
          </p:cNvPr>
          <p:cNvSpPr txBox="1"/>
          <p:nvPr/>
        </p:nvSpPr>
        <p:spPr>
          <a:xfrm>
            <a:off x="7268600" y="5041287"/>
            <a:ext cx="4283015" cy="1200329"/>
          </a:xfrm>
          <a:prstGeom prst="rect">
            <a:avLst/>
          </a:prstGeom>
          <a:solidFill>
            <a:srgbClr val="622437"/>
          </a:solidFill>
        </p:spPr>
        <p:txBody>
          <a:bodyPr wrap="square">
            <a:spAutoFit/>
          </a:bodyPr>
          <a:lstStyle/>
          <a:p>
            <a:pPr algn="just"/>
            <a:r>
              <a:rPr lang="es-ES">
                <a:solidFill>
                  <a:schemeClr val="bg1"/>
                </a:solidFill>
              </a:rPr>
              <a:t>Mérida es el "cuello de botella económico". Si Mercado Libre quiere optimizar su red a futuro, debe abrir un Mega Centro en el sureste.</a:t>
            </a:r>
            <a:endParaRPr lang="es-MX">
              <a:solidFill>
                <a:schemeClr val="bg1"/>
              </a:solidFill>
            </a:endParaRPr>
          </a:p>
        </p:txBody>
      </p:sp>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039896D2-7C9A-0BE5-698D-2813628CE34C}"/>
                  </a:ext>
                </a:extLst>
              </p:cNvPr>
              <p:cNvSpPr txBox="1"/>
              <p:nvPr/>
            </p:nvSpPr>
            <p:spPr>
              <a:xfrm>
                <a:off x="7467448" y="2860024"/>
                <a:ext cx="3901745" cy="63953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rPr>
                        <m:t>𝑀𝑎𝑥</m:t>
                      </m:r>
                      <m:r>
                        <a:rPr lang="en-US" sz="1400" i="1" smtClean="0">
                          <a:latin typeface="Cambria Math" panose="02040503050406030204" pitchFamily="18" charset="0"/>
                        </a:rPr>
                        <m:t> </m:t>
                      </m:r>
                      <m:r>
                        <a:rPr lang="en-US" sz="1400" i="1" smtClean="0">
                          <a:latin typeface="Cambria Math" panose="02040503050406030204" pitchFamily="18" charset="0"/>
                        </a:rPr>
                        <m:t>𝑊</m:t>
                      </m:r>
                      <m:r>
                        <a:rPr lang="en-US" sz="1400" i="1" smtClean="0">
                          <a:latin typeface="Cambria Math" panose="02040503050406030204" pitchFamily="18" charset="0"/>
                        </a:rPr>
                        <m:t>=</m:t>
                      </m:r>
                      <m:nary>
                        <m:naryPr>
                          <m:chr m:val="∑"/>
                          <m:supHide m:val="on"/>
                          <m:ctrlPr>
                            <a:rPr lang="en-US" sz="1400" i="1">
                              <a:latin typeface="Cambria Math" panose="02040503050406030204" pitchFamily="18" charset="0"/>
                            </a:rPr>
                          </m:ctrlPr>
                        </m:naryPr>
                        <m:sub>
                          <m:r>
                            <a:rPr lang="en-US" sz="1400" i="1">
                              <a:latin typeface="Cambria Math" panose="02040503050406030204" pitchFamily="18" charset="0"/>
                            </a:rPr>
                            <m:t>𝑗</m:t>
                          </m:r>
                        </m:sub>
                        <m:sup/>
                        <m:e>
                          <m:r>
                            <a:rPr lang="en-US" sz="1400" i="1">
                              <a:latin typeface="Cambria Math" panose="02040503050406030204" pitchFamily="18" charset="0"/>
                            </a:rPr>
                            <m:t>𝐷𝑒𝑚𝑎𝑛𝑑</m:t>
                          </m:r>
                          <m:sSub>
                            <m:sSubPr>
                              <m:ctrlPr>
                                <a:rPr lang="en-US" sz="1400" i="1">
                                  <a:latin typeface="Cambria Math" panose="02040503050406030204" pitchFamily="18" charset="0"/>
                                </a:rPr>
                              </m:ctrlPr>
                            </m:sSubPr>
                            <m:e>
                              <m:r>
                                <a:rPr lang="en-US" sz="1400" i="1">
                                  <a:latin typeface="Cambria Math" panose="02040503050406030204" pitchFamily="18" charset="0"/>
                                </a:rPr>
                                <m:t>𝑎</m:t>
                              </m:r>
                            </m:e>
                            <m:sub>
                              <m:r>
                                <a:rPr lang="en-US" sz="1400" i="1">
                                  <a:latin typeface="Cambria Math" panose="02040503050406030204" pitchFamily="18" charset="0"/>
                                </a:rPr>
                                <m:t>𝑗</m:t>
                              </m:r>
                            </m:sub>
                          </m:sSub>
                        </m:e>
                      </m:nary>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𝑉</m:t>
                          </m:r>
                        </m:e>
                        <m:sub>
                          <m:r>
                            <a:rPr lang="en-US" sz="1400" i="1">
                              <a:latin typeface="Cambria Math" panose="02040503050406030204" pitchFamily="18" charset="0"/>
                            </a:rPr>
                            <m:t>𝑗</m:t>
                          </m:r>
                        </m:sub>
                      </m:sSub>
                      <m:r>
                        <a:rPr lang="en-US" sz="1400" i="1">
                          <a:latin typeface="Cambria Math" panose="02040503050406030204" pitchFamily="18" charset="0"/>
                        </a:rPr>
                        <m:t>−</m:t>
                      </m:r>
                      <m:nary>
                        <m:naryPr>
                          <m:chr m:val="∑"/>
                          <m:supHide m:val="on"/>
                          <m:ctrlPr>
                            <a:rPr lang="en-US" sz="1400" i="1">
                              <a:latin typeface="Cambria Math" panose="02040503050406030204" pitchFamily="18" charset="0"/>
                            </a:rPr>
                          </m:ctrlPr>
                        </m:naryPr>
                        <m:sub>
                          <m:r>
                            <a:rPr lang="en-US" sz="1400" i="1">
                              <a:latin typeface="Cambria Math" panose="02040503050406030204" pitchFamily="18" charset="0"/>
                            </a:rPr>
                            <m:t>𝑖</m:t>
                          </m:r>
                        </m:sub>
                        <m:sup/>
                        <m:e>
                          <m:r>
                            <a:rPr lang="en-US" sz="1400" i="1">
                              <a:latin typeface="Cambria Math" panose="02040503050406030204" pitchFamily="18" charset="0"/>
                            </a:rPr>
                            <m:t>𝑂𝑓𝑒𝑟𝑡</m:t>
                          </m:r>
                          <m:sSub>
                            <m:sSubPr>
                              <m:ctrlPr>
                                <a:rPr lang="en-US" sz="1400" i="1">
                                  <a:latin typeface="Cambria Math" panose="02040503050406030204" pitchFamily="18" charset="0"/>
                                </a:rPr>
                              </m:ctrlPr>
                            </m:sSubPr>
                            <m:e>
                              <m:r>
                                <a:rPr lang="en-US" sz="1400" i="1">
                                  <a:latin typeface="Cambria Math" panose="02040503050406030204" pitchFamily="18" charset="0"/>
                                </a:rPr>
                                <m:t>𝑎</m:t>
                              </m:r>
                            </m:e>
                            <m:sub>
                              <m:r>
                                <a:rPr lang="en-US" sz="1400" i="1">
                                  <a:latin typeface="Cambria Math" panose="02040503050406030204" pitchFamily="18" charset="0"/>
                                </a:rPr>
                                <m:t>𝑖</m:t>
                              </m:r>
                            </m:sub>
                          </m:sSub>
                        </m:e>
                      </m:nary>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𝑈</m:t>
                          </m:r>
                        </m:e>
                        <m:sub>
                          <m:r>
                            <a:rPr lang="en-US" sz="1400" i="1">
                              <a:latin typeface="Cambria Math" panose="02040503050406030204" pitchFamily="18" charset="0"/>
                            </a:rPr>
                            <m:t>𝑖</m:t>
                          </m:r>
                        </m:sub>
                      </m:sSub>
                    </m:oMath>
                  </m:oMathPara>
                </a14:m>
                <a:endParaRPr lang="en-US" sz="1400"/>
              </a:p>
            </p:txBody>
          </p:sp>
        </mc:Choice>
        <mc:Fallback xmlns="">
          <p:sp>
            <p:nvSpPr>
              <p:cNvPr id="25" name="CuadroTexto 24">
                <a:extLst>
                  <a:ext uri="{FF2B5EF4-FFF2-40B4-BE49-F238E27FC236}">
                    <a16:creationId xmlns:a16="http://schemas.microsoft.com/office/drawing/2014/main" id="{039896D2-7C9A-0BE5-698D-2813628CE34C}"/>
                  </a:ext>
                </a:extLst>
              </p:cNvPr>
              <p:cNvSpPr txBox="1">
                <a:spLocks noRot="1" noChangeAspect="1" noMove="1" noResize="1" noEditPoints="1" noAdjustHandles="1" noChangeArrowheads="1" noChangeShapeType="1" noTextEdit="1"/>
              </p:cNvSpPr>
              <p:nvPr/>
            </p:nvSpPr>
            <p:spPr>
              <a:xfrm>
                <a:off x="7467448" y="2860024"/>
                <a:ext cx="3901745" cy="639534"/>
              </a:xfrm>
              <a:prstGeom prst="rect">
                <a:avLst/>
              </a:prstGeom>
              <a:blipFill>
                <a:blip r:embed="rId5"/>
                <a:stretch>
                  <a:fillRect t="-113725" b="-160784"/>
                </a:stretch>
              </a:blipFill>
            </p:spPr>
            <p:txBody>
              <a:bodyPr/>
              <a:lstStyle/>
              <a:p>
                <a:r>
                  <a:rPr lang="en-MX">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BE00F66F-3691-6025-1BF4-378383783053}"/>
                  </a:ext>
                </a:extLst>
              </p:cNvPr>
              <p:cNvSpPr txBox="1"/>
              <p:nvPr/>
            </p:nvSpPr>
            <p:spPr>
              <a:xfrm>
                <a:off x="8473440" y="3708846"/>
                <a:ext cx="1889760" cy="3916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𝑗</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𝑖𝑗</m:t>
                          </m:r>
                        </m:sub>
                      </m:sSub>
                    </m:oMath>
                  </m:oMathPara>
                </a14:m>
                <a:endParaRPr lang="en-US"/>
              </a:p>
            </p:txBody>
          </p:sp>
        </mc:Choice>
        <mc:Fallback xmlns="">
          <p:sp>
            <p:nvSpPr>
              <p:cNvPr id="27" name="CuadroTexto 26">
                <a:extLst>
                  <a:ext uri="{FF2B5EF4-FFF2-40B4-BE49-F238E27FC236}">
                    <a16:creationId xmlns:a16="http://schemas.microsoft.com/office/drawing/2014/main" id="{BE00F66F-3691-6025-1BF4-378383783053}"/>
                  </a:ext>
                </a:extLst>
              </p:cNvPr>
              <p:cNvSpPr txBox="1">
                <a:spLocks noRot="1" noChangeAspect="1" noMove="1" noResize="1" noEditPoints="1" noAdjustHandles="1" noChangeArrowheads="1" noChangeShapeType="1" noTextEdit="1"/>
              </p:cNvSpPr>
              <p:nvPr/>
            </p:nvSpPr>
            <p:spPr>
              <a:xfrm>
                <a:off x="8473440" y="3708846"/>
                <a:ext cx="1889760" cy="391646"/>
              </a:xfrm>
              <a:prstGeom prst="rect">
                <a:avLst/>
              </a:prstGeom>
              <a:blipFill>
                <a:blip r:embed="rId6"/>
                <a:stretch>
                  <a:fillRect b="-6061"/>
                </a:stretch>
              </a:blipFill>
            </p:spPr>
            <p:txBody>
              <a:bodyPr/>
              <a:lstStyle/>
              <a:p>
                <a:r>
                  <a:rPr lang="en-MX">
                    <a:noFill/>
                  </a:rPr>
                  <a:t> </a:t>
                </a:r>
              </a:p>
            </p:txBody>
          </p:sp>
        </mc:Fallback>
      </mc:AlternateContent>
      <p:sp>
        <p:nvSpPr>
          <p:cNvPr id="7" name="CuadroTexto 6">
            <a:extLst>
              <a:ext uri="{FF2B5EF4-FFF2-40B4-BE49-F238E27FC236}">
                <a16:creationId xmlns:a16="http://schemas.microsoft.com/office/drawing/2014/main" id="{EC29F006-7974-954D-DFA1-0038B9F563BD}"/>
              </a:ext>
            </a:extLst>
          </p:cNvPr>
          <p:cNvSpPr txBox="1"/>
          <p:nvPr/>
        </p:nvSpPr>
        <p:spPr>
          <a:xfrm>
            <a:off x="8640367" y="2303550"/>
            <a:ext cx="1557093" cy="307777"/>
          </a:xfrm>
          <a:prstGeom prst="rect">
            <a:avLst/>
          </a:prstGeom>
          <a:noFill/>
        </p:spPr>
        <p:txBody>
          <a:bodyPr wrap="none" lIns="91440" tIns="45720" rIns="91440" bIns="45720" rtlCol="0" anchor="t">
            <a:spAutoFit/>
          </a:bodyPr>
          <a:lstStyle/>
          <a:p>
            <a:pPr algn="ctr"/>
            <a:r>
              <a:rPr lang="es-MX" sz="1400" b="1"/>
              <a:t>Algoritmo Simplex</a:t>
            </a:r>
            <a:endParaRPr lang="es-MX" sz="1400" b="1">
              <a:ea typeface="Calibri"/>
              <a:cs typeface="Calibri"/>
            </a:endParaRPr>
          </a:p>
        </p:txBody>
      </p:sp>
    </p:spTree>
    <p:extLst>
      <p:ext uri="{BB962C8B-B14F-4D97-AF65-F5344CB8AC3E}">
        <p14:creationId xmlns:p14="http://schemas.microsoft.com/office/powerpoint/2010/main" val="39164282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C00A9F6-B401-5D17-B3CB-591496C5CA9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2FAE33B-46C4-EF2B-D629-1D7680B2B651}"/>
              </a:ext>
            </a:extLst>
          </p:cNvPr>
          <p:cNvSpPr/>
          <p:nvPr/>
        </p:nvSpPr>
        <p:spPr>
          <a:xfrm>
            <a:off x="548640" y="320040"/>
            <a:ext cx="11094415" cy="228600"/>
          </a:xfrm>
          <a:prstGeom prst="rect">
            <a:avLst/>
          </a:prstGeom>
          <a:noFill/>
          <a:ln/>
        </p:spPr>
        <p:txBody>
          <a:bodyPr wrap="square" lIns="0" tIns="0" rIns="0" bIns="0" rtlCol="0" anchor="ctr"/>
          <a:lstStyle/>
          <a:p>
            <a:pPr marL="0" indent="0" algn="l">
              <a:buNone/>
            </a:pPr>
            <a:r>
              <a:rPr lang="en-US" sz="800" b="1" kern="0" spc="600">
                <a:solidFill>
                  <a:srgbClr val="4A0F22"/>
                </a:solidFill>
                <a:latin typeface="Inter" pitchFamily="34" charset="0"/>
                <a:ea typeface="Inter" pitchFamily="34" charset="-122"/>
                <a:cs typeface="Inter" pitchFamily="34" charset="-120"/>
              </a:rPr>
              <a:t>INFOTEC   ·   M.C.D.I.   ·   Matemáticas 2026-1</a:t>
            </a:r>
            <a:endParaRPr lang="en-US" sz="800"/>
          </a:p>
        </p:txBody>
      </p:sp>
      <p:sp>
        <p:nvSpPr>
          <p:cNvPr id="3" name="Shape 1">
            <a:extLst>
              <a:ext uri="{FF2B5EF4-FFF2-40B4-BE49-F238E27FC236}">
                <a16:creationId xmlns:a16="http://schemas.microsoft.com/office/drawing/2014/main" id="{45E52A0D-874B-9794-FB0A-290727B9DE5B}"/>
              </a:ext>
            </a:extLst>
          </p:cNvPr>
          <p:cNvSpPr/>
          <p:nvPr/>
        </p:nvSpPr>
        <p:spPr>
          <a:xfrm>
            <a:off x="548640" y="566928"/>
            <a:ext cx="11094415" cy="10973"/>
          </a:xfrm>
          <a:prstGeom prst="rect">
            <a:avLst/>
          </a:prstGeom>
          <a:solidFill>
            <a:srgbClr val="000000"/>
          </a:solidFill>
          <a:ln w="12700">
            <a:solidFill>
              <a:srgbClr val="333333"/>
            </a:solidFill>
            <a:prstDash val="solid"/>
          </a:ln>
        </p:spPr>
        <p:txBody>
          <a:bodyPr/>
          <a:lstStyle/>
          <a:p>
            <a:endParaRPr lang="en-MX"/>
          </a:p>
        </p:txBody>
      </p:sp>
      <p:sp>
        <p:nvSpPr>
          <p:cNvPr id="5" name="Text 3">
            <a:extLst>
              <a:ext uri="{FF2B5EF4-FFF2-40B4-BE49-F238E27FC236}">
                <a16:creationId xmlns:a16="http://schemas.microsoft.com/office/drawing/2014/main" id="{8C271984-69E1-4002-76A3-C27B54F0DF32}"/>
              </a:ext>
            </a:extLst>
          </p:cNvPr>
          <p:cNvSpPr/>
          <p:nvPr/>
        </p:nvSpPr>
        <p:spPr>
          <a:xfrm>
            <a:off x="640080" y="1097280"/>
            <a:ext cx="10911535" cy="868680"/>
          </a:xfrm>
          <a:prstGeom prst="rect">
            <a:avLst/>
          </a:prstGeom>
          <a:noFill/>
          <a:ln/>
        </p:spPr>
        <p:txBody>
          <a:bodyPr wrap="square" lIns="0" tIns="0" rIns="0" bIns="0" rtlCol="0" anchor="t"/>
          <a:lstStyle/>
          <a:p>
            <a:r>
              <a:rPr lang="es-ES" sz="3000" b="1">
                <a:solidFill>
                  <a:srgbClr val="B89058"/>
                </a:solidFill>
                <a:latin typeface="Garamond"/>
              </a:rPr>
              <a:t>19.</a:t>
            </a:r>
            <a:r>
              <a:rPr sz="3000" b="1">
                <a:solidFill>
                  <a:srgbClr val="B89058"/>
                </a:solidFill>
                <a:latin typeface="Garamond"/>
              </a:rPr>
              <a:t> </a:t>
            </a:r>
            <a:r>
              <a:rPr lang="es-ES" sz="3000" b="1">
                <a:solidFill>
                  <a:srgbClr val="4A0F22"/>
                </a:solidFill>
                <a:latin typeface="Garamond"/>
              </a:rPr>
              <a:t>Escalabilidad y límites del modelo</a:t>
            </a:r>
            <a:endParaRPr lang="en-US" sz="3800"/>
          </a:p>
        </p:txBody>
      </p:sp>
      <p:sp>
        <p:nvSpPr>
          <p:cNvPr id="6" name="Shape 4">
            <a:extLst>
              <a:ext uri="{FF2B5EF4-FFF2-40B4-BE49-F238E27FC236}">
                <a16:creationId xmlns:a16="http://schemas.microsoft.com/office/drawing/2014/main" id="{D18DAA3A-3647-9B3E-DEAA-1AC830A1C767}"/>
              </a:ext>
            </a:extLst>
          </p:cNvPr>
          <p:cNvSpPr/>
          <p:nvPr/>
        </p:nvSpPr>
        <p:spPr>
          <a:xfrm>
            <a:off x="640080" y="2057400"/>
            <a:ext cx="10911535" cy="10973"/>
          </a:xfrm>
          <a:prstGeom prst="rect">
            <a:avLst/>
          </a:prstGeom>
          <a:solidFill>
            <a:srgbClr val="000000"/>
          </a:solidFill>
          <a:ln w="12700">
            <a:solidFill>
              <a:srgbClr val="333333"/>
            </a:solidFill>
            <a:prstDash val="solid"/>
          </a:ln>
        </p:spPr>
        <p:txBody>
          <a:bodyPr/>
          <a:lstStyle/>
          <a:p>
            <a:endParaRPr lang="en-MX"/>
          </a:p>
        </p:txBody>
      </p:sp>
      <p:sp>
        <p:nvSpPr>
          <p:cNvPr id="11" name="Shape 9">
            <a:extLst>
              <a:ext uri="{FF2B5EF4-FFF2-40B4-BE49-F238E27FC236}">
                <a16:creationId xmlns:a16="http://schemas.microsoft.com/office/drawing/2014/main" id="{39673029-AB73-CAEB-88D1-8AE3A0BEBC1C}"/>
              </a:ext>
            </a:extLst>
          </p:cNvPr>
          <p:cNvSpPr/>
          <p:nvPr/>
        </p:nvSpPr>
        <p:spPr>
          <a:xfrm>
            <a:off x="548640" y="6473952"/>
            <a:ext cx="11094415" cy="10973"/>
          </a:xfrm>
          <a:prstGeom prst="rect">
            <a:avLst/>
          </a:prstGeom>
          <a:solidFill>
            <a:srgbClr val="E0D8CC"/>
          </a:solidFill>
          <a:ln w="12700">
            <a:solidFill>
              <a:srgbClr val="E0D8CC"/>
            </a:solidFill>
            <a:prstDash val="solid"/>
          </a:ln>
        </p:spPr>
        <p:txBody>
          <a:bodyPr/>
          <a:lstStyle/>
          <a:p>
            <a:endParaRPr lang="en-MX"/>
          </a:p>
        </p:txBody>
      </p:sp>
      <p:sp>
        <p:nvSpPr>
          <p:cNvPr id="12" name="Text 10">
            <a:extLst>
              <a:ext uri="{FF2B5EF4-FFF2-40B4-BE49-F238E27FC236}">
                <a16:creationId xmlns:a16="http://schemas.microsoft.com/office/drawing/2014/main" id="{A0071F28-8E79-05D2-3227-22AE0F9E45A4}"/>
              </a:ext>
            </a:extLst>
          </p:cNvPr>
          <p:cNvSpPr/>
          <p:nvPr/>
        </p:nvSpPr>
        <p:spPr>
          <a:xfrm>
            <a:off x="548640" y="6565392"/>
            <a:ext cx="1828800" cy="182880"/>
          </a:xfrm>
          <a:prstGeom prst="rect">
            <a:avLst/>
          </a:prstGeom>
          <a:noFill/>
          <a:ln/>
        </p:spPr>
        <p:txBody>
          <a:bodyPr wrap="square" lIns="0" tIns="0" rIns="0" bIns="0" rtlCol="0" anchor="ctr"/>
          <a:lstStyle/>
          <a:p>
            <a:pPr marL="0" indent="0" algn="l">
              <a:buNone/>
            </a:pPr>
            <a:r>
              <a:rPr lang="en-US" sz="800" b="1" kern="0" spc="400">
                <a:solidFill>
                  <a:srgbClr val="7A6F73"/>
                </a:solidFill>
                <a:latin typeface="Inter" pitchFamily="34" charset="0"/>
                <a:ea typeface="Inter" pitchFamily="34" charset="-122"/>
                <a:cs typeface="Inter" pitchFamily="34" charset="-120"/>
              </a:rPr>
              <a:t>M.C.D.I.</a:t>
            </a:r>
            <a:endParaRPr lang="en-US" sz="800"/>
          </a:p>
        </p:txBody>
      </p:sp>
      <p:sp>
        <p:nvSpPr>
          <p:cNvPr id="13" name="Text 11">
            <a:extLst>
              <a:ext uri="{FF2B5EF4-FFF2-40B4-BE49-F238E27FC236}">
                <a16:creationId xmlns:a16="http://schemas.microsoft.com/office/drawing/2014/main" id="{C0AD5C19-9F2E-4A06-DB46-4A6D5741073B}"/>
              </a:ext>
            </a:extLst>
          </p:cNvPr>
          <p:cNvSpPr/>
          <p:nvPr/>
        </p:nvSpPr>
        <p:spPr>
          <a:xfrm>
            <a:off x="4724248" y="6565392"/>
            <a:ext cx="2743200" cy="182880"/>
          </a:xfrm>
          <a:prstGeom prst="rect">
            <a:avLst/>
          </a:prstGeom>
          <a:noFill/>
          <a:ln/>
        </p:spPr>
        <p:txBody>
          <a:bodyPr wrap="square" lIns="0" tIns="0" rIns="0" bIns="0" rtlCol="0" anchor="ctr"/>
          <a:lstStyle/>
          <a:p>
            <a:pPr marL="0" indent="0" algn="ctr">
              <a:buNone/>
            </a:pPr>
            <a:r>
              <a:rPr lang="en-US" sz="900" i="1">
                <a:solidFill>
                  <a:srgbClr val="8C6A38"/>
                </a:solidFill>
                <a:latin typeface="Garamond" pitchFamily="34" charset="0"/>
                <a:ea typeface="Garamond" pitchFamily="34" charset="-122"/>
                <a:cs typeface="Garamond" pitchFamily="34" charset="-120"/>
              </a:rPr>
              <a:t>—  15 / 20  —</a:t>
            </a:r>
            <a:endParaRPr lang="en-US" sz="900"/>
          </a:p>
        </p:txBody>
      </p:sp>
      <p:sp>
        <p:nvSpPr>
          <p:cNvPr id="14" name="Text 12">
            <a:extLst>
              <a:ext uri="{FF2B5EF4-FFF2-40B4-BE49-F238E27FC236}">
                <a16:creationId xmlns:a16="http://schemas.microsoft.com/office/drawing/2014/main" id="{31DB0A1C-6E50-1EA3-480B-90C08AE953BC}"/>
              </a:ext>
            </a:extLst>
          </p:cNvPr>
          <p:cNvSpPr/>
          <p:nvPr/>
        </p:nvSpPr>
        <p:spPr>
          <a:xfrm>
            <a:off x="8899855" y="6565392"/>
            <a:ext cx="2743200" cy="182880"/>
          </a:xfrm>
          <a:prstGeom prst="rect">
            <a:avLst/>
          </a:prstGeom>
          <a:noFill/>
          <a:ln/>
        </p:spPr>
        <p:txBody>
          <a:bodyPr wrap="square" lIns="0" tIns="0" rIns="0" bIns="0" rtlCol="0" anchor="ctr"/>
          <a:lstStyle/>
          <a:p>
            <a:pPr marL="0" indent="0" algn="r">
              <a:buNone/>
            </a:pPr>
            <a:r>
              <a:rPr lang="en-US" sz="800" i="1">
                <a:solidFill>
                  <a:srgbClr val="7A6F73"/>
                </a:solidFill>
                <a:latin typeface="Garamond" pitchFamily="34" charset="0"/>
                <a:ea typeface="Garamond" pitchFamily="34" charset="-122"/>
                <a:cs typeface="Garamond" pitchFamily="34" charset="-120"/>
              </a:rPr>
              <a:t>Equipo 5</a:t>
            </a:r>
            <a:endParaRPr lang="en-US" sz="800"/>
          </a:p>
        </p:txBody>
      </p:sp>
      <p:sp>
        <p:nvSpPr>
          <p:cNvPr id="18" name="Text 2">
            <a:extLst>
              <a:ext uri="{FF2B5EF4-FFF2-40B4-BE49-F238E27FC236}">
                <a16:creationId xmlns:a16="http://schemas.microsoft.com/office/drawing/2014/main" id="{08559613-321A-C694-4123-97D3DEC4A57E}"/>
              </a:ext>
            </a:extLst>
          </p:cNvPr>
          <p:cNvSpPr/>
          <p:nvPr/>
        </p:nvSpPr>
        <p:spPr>
          <a:xfrm>
            <a:off x="640080" y="868680"/>
            <a:ext cx="4572000" cy="228600"/>
          </a:xfrm>
          <a:prstGeom prst="rect">
            <a:avLst/>
          </a:prstGeom>
          <a:noFill/>
          <a:ln/>
        </p:spPr>
        <p:txBody>
          <a:bodyPr wrap="square" lIns="0" tIns="0" rIns="0" bIns="0" rtlCol="0" anchor="t"/>
          <a:lstStyle/>
          <a:p>
            <a:pPr marL="0" indent="0" algn="l">
              <a:buNone/>
            </a:pPr>
            <a:r>
              <a:rPr lang="en-US" sz="900" b="1" kern="0" spc="300">
                <a:solidFill>
                  <a:srgbClr val="8C6A38"/>
                </a:solidFill>
                <a:latin typeface="Inter" pitchFamily="34" charset="0"/>
                <a:ea typeface="Inter" pitchFamily="34" charset="-122"/>
                <a:cs typeface="Inter" pitchFamily="34" charset="-120"/>
              </a:rPr>
              <a:t>SECCION 3</a:t>
            </a:r>
            <a:endParaRPr lang="en-US" sz="900" spc="300"/>
          </a:p>
        </p:txBody>
      </p:sp>
      <p:pic>
        <p:nvPicPr>
          <p:cNvPr id="15" name="Picture 14">
            <a:extLst>
              <a:ext uri="{FF2B5EF4-FFF2-40B4-BE49-F238E27FC236}">
                <a16:creationId xmlns:a16="http://schemas.microsoft.com/office/drawing/2014/main" id="{7B2CE4B3-A56D-C458-0A20-BA8888A5B32A}"/>
              </a:ext>
            </a:extLst>
          </p:cNvPr>
          <p:cNvPicPr>
            <a:picLocks noChangeAspect="1"/>
          </p:cNvPicPr>
          <p:nvPr/>
        </p:nvPicPr>
        <p:blipFill>
          <a:blip r:embed="rId4"/>
          <a:srcRect t="20324" b="4216"/>
          <a:stretch>
            <a:fillRect/>
          </a:stretch>
        </p:blipFill>
        <p:spPr>
          <a:xfrm>
            <a:off x="987472" y="2112733"/>
            <a:ext cx="10216749" cy="4303054"/>
          </a:xfrm>
          <a:prstGeom prst="rect">
            <a:avLst/>
          </a:prstGeom>
        </p:spPr>
      </p:pic>
    </p:spTree>
    <p:extLst>
      <p:ext uri="{BB962C8B-B14F-4D97-AF65-F5344CB8AC3E}">
        <p14:creationId xmlns:p14="http://schemas.microsoft.com/office/powerpoint/2010/main" val="5532832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228600"/>
          </a:xfrm>
          <a:prstGeom prst="rect">
            <a:avLst/>
          </a:prstGeom>
          <a:noFill/>
          <a:ln/>
        </p:spPr>
        <p:txBody>
          <a:bodyPr wrap="square" lIns="0" tIns="0" rIns="0" bIns="0" rtlCol="0" anchor="ctr"/>
          <a:lstStyle/>
          <a:p>
            <a:pPr marL="0" indent="0" algn="l">
              <a:buNone/>
            </a:pPr>
            <a:r>
              <a:rPr lang="en-US" sz="800" b="1" kern="0" spc="600">
                <a:solidFill>
                  <a:srgbClr val="4A0F22"/>
                </a:solidFill>
                <a:latin typeface="Inter" pitchFamily="34" charset="0"/>
                <a:ea typeface="Inter" pitchFamily="34" charset="-122"/>
                <a:cs typeface="Inter" pitchFamily="34" charset="-120"/>
              </a:rPr>
              <a:t>INFOTEC   ·   M.C.D.I.   ·   Matemáticas 2026-1</a:t>
            </a:r>
            <a:endParaRPr lang="en-US" sz="800"/>
          </a:p>
        </p:txBody>
      </p:sp>
      <p:sp>
        <p:nvSpPr>
          <p:cNvPr id="3" name="Shape 1"/>
          <p:cNvSpPr/>
          <p:nvPr/>
        </p:nvSpPr>
        <p:spPr>
          <a:xfrm>
            <a:off x="548640" y="566928"/>
            <a:ext cx="11094415" cy="10973"/>
          </a:xfrm>
          <a:prstGeom prst="rect">
            <a:avLst/>
          </a:prstGeom>
          <a:solidFill>
            <a:srgbClr val="000000"/>
          </a:solidFill>
          <a:ln w="12700">
            <a:solidFill>
              <a:srgbClr val="333333"/>
            </a:solidFill>
            <a:prstDash val="solid"/>
          </a:ln>
        </p:spPr>
        <p:txBody>
          <a:bodyPr/>
          <a:lstStyle/>
          <a:p>
            <a:endParaRPr lang="en-MX"/>
          </a:p>
        </p:txBody>
      </p:sp>
      <p:sp>
        <p:nvSpPr>
          <p:cNvPr id="5" name="Text 3"/>
          <p:cNvSpPr/>
          <p:nvPr/>
        </p:nvSpPr>
        <p:spPr>
          <a:xfrm>
            <a:off x="640080" y="1097280"/>
            <a:ext cx="10911535" cy="868680"/>
          </a:xfrm>
          <a:prstGeom prst="rect">
            <a:avLst/>
          </a:prstGeom>
          <a:noFill/>
          <a:ln/>
        </p:spPr>
        <p:txBody>
          <a:bodyPr wrap="square" lIns="0" tIns="0" rIns="0" bIns="0" rtlCol="0" anchor="t"/>
          <a:lstStyle/>
          <a:p>
            <a:r>
              <a:rPr lang="es-ES" sz="3000" b="1">
                <a:solidFill>
                  <a:srgbClr val="B89058"/>
                </a:solidFill>
                <a:latin typeface="Garamond"/>
              </a:rPr>
              <a:t>20.</a:t>
            </a:r>
            <a:r>
              <a:rPr sz="3000" b="1">
                <a:solidFill>
                  <a:srgbClr val="B89058"/>
                </a:solidFill>
                <a:latin typeface="Garamond"/>
              </a:rPr>
              <a:t> </a:t>
            </a:r>
            <a:r>
              <a:rPr sz="3000" b="1" err="1">
                <a:solidFill>
                  <a:srgbClr val="4A0F22"/>
                </a:solidFill>
                <a:latin typeface="Garamond"/>
              </a:rPr>
              <a:t>Ejemplo</a:t>
            </a:r>
            <a:r>
              <a:rPr sz="3000" b="1">
                <a:solidFill>
                  <a:srgbClr val="4A0F22"/>
                </a:solidFill>
                <a:latin typeface="Garamond"/>
              </a:rPr>
              <a:t> 2: </a:t>
            </a:r>
            <a:r>
              <a:rPr sz="3000" b="1" err="1">
                <a:solidFill>
                  <a:srgbClr val="4A0F22"/>
                </a:solidFill>
                <a:latin typeface="Garamond"/>
              </a:rPr>
              <a:t>Distribución</a:t>
            </a:r>
            <a:r>
              <a:rPr sz="3000" b="1">
                <a:solidFill>
                  <a:srgbClr val="4A0F22"/>
                </a:solidFill>
                <a:latin typeface="Garamond"/>
              </a:rPr>
              <a:t> de Agua </a:t>
            </a:r>
            <a:r>
              <a:rPr sz="3000" b="1" err="1">
                <a:solidFill>
                  <a:srgbClr val="4A0F22"/>
                </a:solidFill>
                <a:latin typeface="Garamond"/>
              </a:rPr>
              <a:t>en</a:t>
            </a:r>
            <a:r>
              <a:rPr sz="3000" b="1">
                <a:solidFill>
                  <a:srgbClr val="4A0F22"/>
                </a:solidFill>
                <a:latin typeface="Garamond"/>
              </a:rPr>
              <a:t> </a:t>
            </a:r>
            <a:r>
              <a:rPr sz="3000" b="1" err="1">
                <a:solidFill>
                  <a:srgbClr val="4A0F22"/>
                </a:solidFill>
                <a:latin typeface="Garamond"/>
              </a:rPr>
              <a:t>Emergencia</a:t>
            </a:r>
            <a:endParaRPr lang="en-US" sz="3800"/>
          </a:p>
        </p:txBody>
      </p:sp>
      <p:sp>
        <p:nvSpPr>
          <p:cNvPr id="6" name="Shape 4"/>
          <p:cNvSpPr/>
          <p:nvPr/>
        </p:nvSpPr>
        <p:spPr>
          <a:xfrm>
            <a:off x="640080" y="2057400"/>
            <a:ext cx="10911535" cy="10973"/>
          </a:xfrm>
          <a:prstGeom prst="rect">
            <a:avLst/>
          </a:prstGeom>
          <a:solidFill>
            <a:srgbClr val="000000"/>
          </a:solidFill>
          <a:ln w="12700">
            <a:solidFill>
              <a:srgbClr val="333333"/>
            </a:solidFill>
            <a:prstDash val="solid"/>
          </a:ln>
        </p:spPr>
        <p:txBody>
          <a:bodyPr/>
          <a:lstStyle/>
          <a:p>
            <a:endParaRPr lang="en-MX"/>
          </a:p>
        </p:txBody>
      </p:sp>
      <p:sp>
        <p:nvSpPr>
          <p:cNvPr id="11" name="Shape 9"/>
          <p:cNvSpPr/>
          <p:nvPr/>
        </p:nvSpPr>
        <p:spPr>
          <a:xfrm>
            <a:off x="548640" y="6473952"/>
            <a:ext cx="11094415" cy="10973"/>
          </a:xfrm>
          <a:prstGeom prst="rect">
            <a:avLst/>
          </a:prstGeom>
          <a:solidFill>
            <a:srgbClr val="E0D8CC"/>
          </a:solidFill>
          <a:ln w="12700">
            <a:solidFill>
              <a:srgbClr val="E0D8CC"/>
            </a:solidFill>
            <a:prstDash val="solid"/>
          </a:ln>
        </p:spPr>
        <p:txBody>
          <a:bodyPr/>
          <a:lstStyle/>
          <a:p>
            <a:endParaRPr lang="en-MX"/>
          </a:p>
        </p:txBody>
      </p:sp>
      <p:sp>
        <p:nvSpPr>
          <p:cNvPr id="12" name="Text 10"/>
          <p:cNvSpPr/>
          <p:nvPr/>
        </p:nvSpPr>
        <p:spPr>
          <a:xfrm>
            <a:off x="548640" y="6565392"/>
            <a:ext cx="1828800" cy="182880"/>
          </a:xfrm>
          <a:prstGeom prst="rect">
            <a:avLst/>
          </a:prstGeom>
          <a:noFill/>
          <a:ln/>
        </p:spPr>
        <p:txBody>
          <a:bodyPr wrap="square" lIns="0" tIns="0" rIns="0" bIns="0" rtlCol="0" anchor="ctr"/>
          <a:lstStyle/>
          <a:p>
            <a:pPr marL="0" indent="0" algn="l">
              <a:buNone/>
            </a:pPr>
            <a:r>
              <a:rPr lang="en-US" sz="800" b="1" kern="0" spc="400">
                <a:solidFill>
                  <a:srgbClr val="7A6F73"/>
                </a:solidFill>
                <a:latin typeface="Inter" pitchFamily="34" charset="0"/>
                <a:ea typeface="Inter" pitchFamily="34" charset="-122"/>
                <a:cs typeface="Inter" pitchFamily="34" charset="-120"/>
              </a:rPr>
              <a:t>M.C.D.I.</a:t>
            </a:r>
            <a:endParaRPr lang="en-US" sz="800"/>
          </a:p>
        </p:txBody>
      </p:sp>
      <p:sp>
        <p:nvSpPr>
          <p:cNvPr id="13" name="Text 11"/>
          <p:cNvSpPr/>
          <p:nvPr/>
        </p:nvSpPr>
        <p:spPr>
          <a:xfrm>
            <a:off x="4724248" y="6565392"/>
            <a:ext cx="2743200" cy="182880"/>
          </a:xfrm>
          <a:prstGeom prst="rect">
            <a:avLst/>
          </a:prstGeom>
          <a:noFill/>
          <a:ln/>
        </p:spPr>
        <p:txBody>
          <a:bodyPr wrap="square" lIns="0" tIns="0" rIns="0" bIns="0" rtlCol="0" anchor="ctr"/>
          <a:lstStyle/>
          <a:p>
            <a:pPr marL="0" indent="0" algn="ctr">
              <a:buNone/>
            </a:pPr>
            <a:r>
              <a:rPr lang="en-US" sz="900" i="1">
                <a:solidFill>
                  <a:srgbClr val="8C6A38"/>
                </a:solidFill>
                <a:latin typeface="Garamond" pitchFamily="34" charset="0"/>
                <a:ea typeface="Garamond" pitchFamily="34" charset="-122"/>
                <a:cs typeface="Garamond" pitchFamily="34" charset="-120"/>
              </a:rPr>
              <a:t>—  16 / 20  —</a:t>
            </a:r>
            <a:endParaRPr lang="en-US" sz="900"/>
          </a:p>
        </p:txBody>
      </p:sp>
      <p:sp>
        <p:nvSpPr>
          <p:cNvPr id="14" name="Text 12"/>
          <p:cNvSpPr/>
          <p:nvPr/>
        </p:nvSpPr>
        <p:spPr>
          <a:xfrm>
            <a:off x="8899855" y="6565392"/>
            <a:ext cx="2743200" cy="182880"/>
          </a:xfrm>
          <a:prstGeom prst="rect">
            <a:avLst/>
          </a:prstGeom>
          <a:noFill/>
          <a:ln/>
        </p:spPr>
        <p:txBody>
          <a:bodyPr wrap="square" lIns="0" tIns="0" rIns="0" bIns="0" rtlCol="0" anchor="ctr"/>
          <a:lstStyle/>
          <a:p>
            <a:pPr marL="0" indent="0" algn="r">
              <a:buNone/>
            </a:pPr>
            <a:r>
              <a:rPr lang="en-US" sz="800" i="1">
                <a:solidFill>
                  <a:srgbClr val="7A6F73"/>
                </a:solidFill>
                <a:latin typeface="Garamond" pitchFamily="34" charset="0"/>
                <a:ea typeface="Garamond" pitchFamily="34" charset="-122"/>
                <a:cs typeface="Garamond" pitchFamily="34" charset="-120"/>
              </a:rPr>
              <a:t>Equipo 5</a:t>
            </a:r>
            <a:endParaRPr lang="en-US" sz="800"/>
          </a:p>
        </p:txBody>
      </p:sp>
      <p:sp>
        <p:nvSpPr>
          <p:cNvPr id="18" name="Text 2">
            <a:extLst>
              <a:ext uri="{FF2B5EF4-FFF2-40B4-BE49-F238E27FC236}">
                <a16:creationId xmlns:a16="http://schemas.microsoft.com/office/drawing/2014/main" id="{D145F921-924B-97DF-BADC-28ABC98507C5}"/>
              </a:ext>
            </a:extLst>
          </p:cNvPr>
          <p:cNvSpPr/>
          <p:nvPr/>
        </p:nvSpPr>
        <p:spPr>
          <a:xfrm>
            <a:off x="640080" y="868680"/>
            <a:ext cx="4572000" cy="228600"/>
          </a:xfrm>
          <a:prstGeom prst="rect">
            <a:avLst/>
          </a:prstGeom>
          <a:noFill/>
          <a:ln/>
        </p:spPr>
        <p:txBody>
          <a:bodyPr wrap="square" lIns="0" tIns="0" rIns="0" bIns="0" rtlCol="0" anchor="t"/>
          <a:lstStyle/>
          <a:p>
            <a:pPr marL="0" indent="0" algn="l">
              <a:buNone/>
            </a:pPr>
            <a:r>
              <a:rPr lang="en-US" sz="900" b="1" kern="0" spc="300">
                <a:solidFill>
                  <a:srgbClr val="8C6A38"/>
                </a:solidFill>
                <a:latin typeface="Inter" pitchFamily="34" charset="0"/>
                <a:ea typeface="Inter" pitchFamily="34" charset="-122"/>
                <a:cs typeface="Inter" pitchFamily="34" charset="-120"/>
              </a:rPr>
              <a:t>SECCION 4</a:t>
            </a:r>
            <a:endParaRPr lang="en-US" sz="900" spc="300"/>
          </a:p>
        </p:txBody>
      </p:sp>
      <p:sp>
        <p:nvSpPr>
          <p:cNvPr id="4" name="Rectangle 3">
            <a:extLst>
              <a:ext uri="{FF2B5EF4-FFF2-40B4-BE49-F238E27FC236}">
                <a16:creationId xmlns:a16="http://schemas.microsoft.com/office/drawing/2014/main" id="{412FC26A-06B3-B88F-C73E-6E975EC77CA1}"/>
              </a:ext>
            </a:extLst>
          </p:cNvPr>
          <p:cNvSpPr/>
          <p:nvPr/>
        </p:nvSpPr>
        <p:spPr>
          <a:xfrm>
            <a:off x="-1" y="1757951"/>
            <a:ext cx="12192001" cy="5110681"/>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MX"/>
          </a:p>
        </p:txBody>
      </p:sp>
      <p:pic>
        <p:nvPicPr>
          <p:cNvPr id="9" name="Picture 8">
            <a:extLst>
              <a:ext uri="{FF2B5EF4-FFF2-40B4-BE49-F238E27FC236}">
                <a16:creationId xmlns:a16="http://schemas.microsoft.com/office/drawing/2014/main" id="{C8F0D589-718B-CB62-BCB1-2DB3E022DEDA}"/>
              </a:ext>
            </a:extLst>
          </p:cNvPr>
          <p:cNvPicPr>
            <a:picLocks noChangeAspect="1"/>
          </p:cNvPicPr>
          <p:nvPr/>
        </p:nvPicPr>
        <p:blipFill>
          <a:blip r:embed="rId4"/>
          <a:srcRect t="11854" b="3112"/>
          <a:stretch>
            <a:fillRect/>
          </a:stretch>
        </p:blipFill>
        <p:spPr>
          <a:xfrm>
            <a:off x="727170" y="1763241"/>
            <a:ext cx="10768148" cy="511068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BC1ED43-4F1E-71A9-FEB2-B4B7534BD48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15D063B-1C04-E8EF-7124-428F6BB05079}"/>
              </a:ext>
            </a:extLst>
          </p:cNvPr>
          <p:cNvSpPr/>
          <p:nvPr/>
        </p:nvSpPr>
        <p:spPr>
          <a:xfrm>
            <a:off x="548640" y="320040"/>
            <a:ext cx="11094415" cy="228600"/>
          </a:xfrm>
          <a:prstGeom prst="rect">
            <a:avLst/>
          </a:prstGeom>
          <a:noFill/>
          <a:ln/>
        </p:spPr>
        <p:txBody>
          <a:bodyPr wrap="square" lIns="0" tIns="0" rIns="0" bIns="0" rtlCol="0" anchor="ctr"/>
          <a:lstStyle/>
          <a:p>
            <a:pPr marL="0" indent="0" algn="l">
              <a:buNone/>
            </a:pPr>
            <a:r>
              <a:rPr lang="en-US" sz="800" b="1" kern="0" spc="600">
                <a:solidFill>
                  <a:srgbClr val="4A0F22"/>
                </a:solidFill>
                <a:latin typeface="Inter" pitchFamily="34" charset="0"/>
                <a:ea typeface="Inter" pitchFamily="34" charset="-122"/>
                <a:cs typeface="Inter" pitchFamily="34" charset="-120"/>
              </a:rPr>
              <a:t>INFOTEC   ·   M.C.D.I.   ·   Matemáticas 2026-1</a:t>
            </a:r>
            <a:endParaRPr lang="en-US" sz="800"/>
          </a:p>
        </p:txBody>
      </p:sp>
      <p:sp>
        <p:nvSpPr>
          <p:cNvPr id="3" name="Shape 1">
            <a:extLst>
              <a:ext uri="{FF2B5EF4-FFF2-40B4-BE49-F238E27FC236}">
                <a16:creationId xmlns:a16="http://schemas.microsoft.com/office/drawing/2014/main" id="{A7601073-8EFD-2B87-4E61-1510CF6FC2C3}"/>
              </a:ext>
            </a:extLst>
          </p:cNvPr>
          <p:cNvSpPr/>
          <p:nvPr/>
        </p:nvSpPr>
        <p:spPr>
          <a:xfrm>
            <a:off x="548640" y="566928"/>
            <a:ext cx="11094415" cy="10973"/>
          </a:xfrm>
          <a:prstGeom prst="rect">
            <a:avLst/>
          </a:prstGeom>
          <a:solidFill>
            <a:srgbClr val="000000"/>
          </a:solidFill>
          <a:ln w="12700">
            <a:solidFill>
              <a:srgbClr val="333333"/>
            </a:solidFill>
            <a:prstDash val="solid"/>
          </a:ln>
        </p:spPr>
        <p:txBody>
          <a:bodyPr/>
          <a:lstStyle/>
          <a:p>
            <a:endParaRPr lang="en-MX"/>
          </a:p>
        </p:txBody>
      </p:sp>
      <p:sp>
        <p:nvSpPr>
          <p:cNvPr id="5" name="Text 3">
            <a:extLst>
              <a:ext uri="{FF2B5EF4-FFF2-40B4-BE49-F238E27FC236}">
                <a16:creationId xmlns:a16="http://schemas.microsoft.com/office/drawing/2014/main" id="{99488B48-B739-8FE1-4203-8783FC04115A}"/>
              </a:ext>
            </a:extLst>
          </p:cNvPr>
          <p:cNvSpPr/>
          <p:nvPr/>
        </p:nvSpPr>
        <p:spPr>
          <a:xfrm>
            <a:off x="640080" y="1097280"/>
            <a:ext cx="10911535" cy="868680"/>
          </a:xfrm>
          <a:prstGeom prst="rect">
            <a:avLst/>
          </a:prstGeom>
          <a:noFill/>
          <a:ln/>
        </p:spPr>
        <p:txBody>
          <a:bodyPr wrap="square" lIns="0" tIns="0" rIns="0" bIns="0" rtlCol="0" anchor="t"/>
          <a:lstStyle/>
          <a:p>
            <a:r>
              <a:rPr lang="es-ES" sz="3000" b="1" dirty="0">
                <a:solidFill>
                  <a:srgbClr val="B89058"/>
                </a:solidFill>
                <a:latin typeface="Garamond"/>
              </a:rPr>
              <a:t>21.</a:t>
            </a:r>
            <a:r>
              <a:rPr sz="3000" b="1" dirty="0">
                <a:solidFill>
                  <a:srgbClr val="B89058"/>
                </a:solidFill>
                <a:latin typeface="Garamond"/>
              </a:rPr>
              <a:t> </a:t>
            </a:r>
            <a:r>
              <a:rPr lang="es-ES" sz="3000" b="1" dirty="0">
                <a:solidFill>
                  <a:srgbClr val="4A0F22"/>
                </a:solidFill>
                <a:latin typeface="Garamond"/>
              </a:rPr>
              <a:t>Limitaciones del Modelo Clásico</a:t>
            </a:r>
            <a:endParaRPr lang="en-US" sz="3800" dirty="0"/>
          </a:p>
        </p:txBody>
      </p:sp>
      <p:sp>
        <p:nvSpPr>
          <p:cNvPr id="6" name="Shape 4">
            <a:extLst>
              <a:ext uri="{FF2B5EF4-FFF2-40B4-BE49-F238E27FC236}">
                <a16:creationId xmlns:a16="http://schemas.microsoft.com/office/drawing/2014/main" id="{CAEB61EF-8496-3A1D-20C4-C5C87B899F7E}"/>
              </a:ext>
            </a:extLst>
          </p:cNvPr>
          <p:cNvSpPr/>
          <p:nvPr/>
        </p:nvSpPr>
        <p:spPr>
          <a:xfrm>
            <a:off x="640080" y="2057400"/>
            <a:ext cx="10911535" cy="10973"/>
          </a:xfrm>
          <a:prstGeom prst="rect">
            <a:avLst/>
          </a:prstGeom>
          <a:solidFill>
            <a:srgbClr val="000000"/>
          </a:solidFill>
          <a:ln w="12700">
            <a:solidFill>
              <a:srgbClr val="333333"/>
            </a:solidFill>
            <a:prstDash val="solid"/>
          </a:ln>
        </p:spPr>
        <p:txBody>
          <a:bodyPr/>
          <a:lstStyle/>
          <a:p>
            <a:endParaRPr lang="en-MX"/>
          </a:p>
        </p:txBody>
      </p:sp>
      <p:sp>
        <p:nvSpPr>
          <p:cNvPr id="9" name="Shape 9">
            <a:extLst>
              <a:ext uri="{FF2B5EF4-FFF2-40B4-BE49-F238E27FC236}">
                <a16:creationId xmlns:a16="http://schemas.microsoft.com/office/drawing/2014/main" id="{FB15CA3B-5E83-054B-A3B4-91EB5B92E45F}"/>
              </a:ext>
            </a:extLst>
          </p:cNvPr>
          <p:cNvSpPr/>
          <p:nvPr/>
        </p:nvSpPr>
        <p:spPr>
          <a:xfrm>
            <a:off x="548640" y="6473952"/>
            <a:ext cx="11094415" cy="10973"/>
          </a:xfrm>
          <a:prstGeom prst="rect">
            <a:avLst/>
          </a:prstGeom>
          <a:solidFill>
            <a:srgbClr val="E0D8CC"/>
          </a:solidFill>
          <a:ln w="12700">
            <a:solidFill>
              <a:srgbClr val="E0D8CC"/>
            </a:solidFill>
            <a:prstDash val="solid"/>
          </a:ln>
        </p:spPr>
        <p:txBody>
          <a:bodyPr/>
          <a:lstStyle/>
          <a:p>
            <a:endParaRPr lang="en-MX"/>
          </a:p>
        </p:txBody>
      </p:sp>
      <p:sp>
        <p:nvSpPr>
          <p:cNvPr id="18" name="Text 10">
            <a:extLst>
              <a:ext uri="{FF2B5EF4-FFF2-40B4-BE49-F238E27FC236}">
                <a16:creationId xmlns:a16="http://schemas.microsoft.com/office/drawing/2014/main" id="{1DF9E98E-350C-D8C8-9DD5-9FAA25B1FE22}"/>
              </a:ext>
            </a:extLst>
          </p:cNvPr>
          <p:cNvSpPr/>
          <p:nvPr/>
        </p:nvSpPr>
        <p:spPr>
          <a:xfrm>
            <a:off x="548640" y="6565392"/>
            <a:ext cx="1828800" cy="182880"/>
          </a:xfrm>
          <a:prstGeom prst="rect">
            <a:avLst/>
          </a:prstGeom>
          <a:noFill/>
          <a:ln/>
        </p:spPr>
        <p:txBody>
          <a:bodyPr wrap="square" lIns="0" tIns="0" rIns="0" bIns="0" rtlCol="0" anchor="ctr"/>
          <a:lstStyle/>
          <a:p>
            <a:pPr marL="0" indent="0" algn="l">
              <a:buNone/>
            </a:pPr>
            <a:r>
              <a:rPr lang="en-US" sz="800" b="1" kern="0" spc="400">
                <a:solidFill>
                  <a:srgbClr val="7A6F73"/>
                </a:solidFill>
                <a:latin typeface="Inter" pitchFamily="34" charset="0"/>
                <a:ea typeface="Inter" pitchFamily="34" charset="-122"/>
                <a:cs typeface="Inter" pitchFamily="34" charset="-120"/>
              </a:rPr>
              <a:t>M.C.D.I.</a:t>
            </a:r>
            <a:endParaRPr lang="en-US" sz="800"/>
          </a:p>
        </p:txBody>
      </p:sp>
      <p:sp>
        <p:nvSpPr>
          <p:cNvPr id="19" name="Text 11">
            <a:extLst>
              <a:ext uri="{FF2B5EF4-FFF2-40B4-BE49-F238E27FC236}">
                <a16:creationId xmlns:a16="http://schemas.microsoft.com/office/drawing/2014/main" id="{847EE60E-9752-B3D7-4C5B-DFBD8456DA62}"/>
              </a:ext>
            </a:extLst>
          </p:cNvPr>
          <p:cNvSpPr/>
          <p:nvPr/>
        </p:nvSpPr>
        <p:spPr>
          <a:xfrm>
            <a:off x="4724248" y="6565392"/>
            <a:ext cx="2743200" cy="182880"/>
          </a:xfrm>
          <a:prstGeom prst="rect">
            <a:avLst/>
          </a:prstGeom>
          <a:noFill/>
          <a:ln/>
        </p:spPr>
        <p:txBody>
          <a:bodyPr wrap="square" lIns="0" tIns="0" rIns="0" bIns="0" rtlCol="0" anchor="ctr"/>
          <a:lstStyle/>
          <a:p>
            <a:pPr marL="0" indent="0" algn="ctr">
              <a:buNone/>
            </a:pPr>
            <a:r>
              <a:rPr lang="en-US" sz="900" i="1">
                <a:solidFill>
                  <a:srgbClr val="8C6A38"/>
                </a:solidFill>
                <a:latin typeface="Garamond" pitchFamily="34" charset="0"/>
                <a:ea typeface="Garamond" pitchFamily="34" charset="-122"/>
                <a:cs typeface="Garamond" pitchFamily="34" charset="-120"/>
              </a:rPr>
              <a:t>—  17 / 20  —</a:t>
            </a:r>
            <a:endParaRPr lang="en-US" sz="900"/>
          </a:p>
        </p:txBody>
      </p:sp>
      <p:sp>
        <p:nvSpPr>
          <p:cNvPr id="20" name="Text 12">
            <a:extLst>
              <a:ext uri="{FF2B5EF4-FFF2-40B4-BE49-F238E27FC236}">
                <a16:creationId xmlns:a16="http://schemas.microsoft.com/office/drawing/2014/main" id="{5EE05844-04C2-C7B4-0923-7B0E94D15E52}"/>
              </a:ext>
            </a:extLst>
          </p:cNvPr>
          <p:cNvSpPr/>
          <p:nvPr/>
        </p:nvSpPr>
        <p:spPr>
          <a:xfrm>
            <a:off x="8899855" y="6565392"/>
            <a:ext cx="2743200" cy="182880"/>
          </a:xfrm>
          <a:prstGeom prst="rect">
            <a:avLst/>
          </a:prstGeom>
          <a:noFill/>
          <a:ln/>
        </p:spPr>
        <p:txBody>
          <a:bodyPr wrap="square" lIns="0" tIns="0" rIns="0" bIns="0" rtlCol="0" anchor="ctr"/>
          <a:lstStyle/>
          <a:p>
            <a:pPr marL="0" indent="0" algn="r">
              <a:buNone/>
            </a:pPr>
            <a:r>
              <a:rPr lang="en-US" sz="800" i="1">
                <a:solidFill>
                  <a:srgbClr val="7A6F73"/>
                </a:solidFill>
                <a:latin typeface="Garamond" pitchFamily="34" charset="0"/>
                <a:ea typeface="Garamond" pitchFamily="34" charset="-122"/>
                <a:cs typeface="Garamond" pitchFamily="34" charset="-120"/>
              </a:rPr>
              <a:t>Equipo 5</a:t>
            </a:r>
            <a:endParaRPr lang="en-US" sz="800"/>
          </a:p>
        </p:txBody>
      </p:sp>
      <p:sp>
        <p:nvSpPr>
          <p:cNvPr id="22" name="Text 2">
            <a:extLst>
              <a:ext uri="{FF2B5EF4-FFF2-40B4-BE49-F238E27FC236}">
                <a16:creationId xmlns:a16="http://schemas.microsoft.com/office/drawing/2014/main" id="{43A5064D-226F-35FC-EC50-19A1A31B625D}"/>
              </a:ext>
            </a:extLst>
          </p:cNvPr>
          <p:cNvSpPr/>
          <p:nvPr/>
        </p:nvSpPr>
        <p:spPr>
          <a:xfrm>
            <a:off x="640080" y="868680"/>
            <a:ext cx="4572000" cy="228600"/>
          </a:xfrm>
          <a:prstGeom prst="rect">
            <a:avLst/>
          </a:prstGeom>
          <a:noFill/>
          <a:ln/>
        </p:spPr>
        <p:txBody>
          <a:bodyPr wrap="square" lIns="0" tIns="0" rIns="0" bIns="0" rtlCol="0" anchor="t"/>
          <a:lstStyle/>
          <a:p>
            <a:pPr marL="0" indent="0" algn="l">
              <a:buNone/>
            </a:pPr>
            <a:r>
              <a:rPr lang="en-US" sz="900" b="1" kern="0" spc="300">
                <a:solidFill>
                  <a:srgbClr val="8C6A38"/>
                </a:solidFill>
                <a:latin typeface="Inter" pitchFamily="34" charset="0"/>
                <a:ea typeface="Inter" pitchFamily="34" charset="-122"/>
                <a:cs typeface="Inter" pitchFamily="34" charset="-120"/>
              </a:rPr>
              <a:t>SECCION 4</a:t>
            </a:r>
            <a:endParaRPr lang="en-US" sz="900" spc="300"/>
          </a:p>
        </p:txBody>
      </p:sp>
      <p:sp>
        <p:nvSpPr>
          <p:cNvPr id="17" name="Rectangle 16">
            <a:extLst>
              <a:ext uri="{FF2B5EF4-FFF2-40B4-BE49-F238E27FC236}">
                <a16:creationId xmlns:a16="http://schemas.microsoft.com/office/drawing/2014/main" id="{CE5A96E6-41D5-4F1B-3F71-B400B6F6B403}"/>
              </a:ext>
            </a:extLst>
          </p:cNvPr>
          <p:cNvSpPr/>
          <p:nvPr/>
        </p:nvSpPr>
        <p:spPr>
          <a:xfrm>
            <a:off x="-1" y="1682157"/>
            <a:ext cx="12192001" cy="5186476"/>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MX"/>
          </a:p>
        </p:txBody>
      </p:sp>
      <p:pic>
        <p:nvPicPr>
          <p:cNvPr id="16" name="Picture 15">
            <a:extLst>
              <a:ext uri="{FF2B5EF4-FFF2-40B4-BE49-F238E27FC236}">
                <a16:creationId xmlns:a16="http://schemas.microsoft.com/office/drawing/2014/main" id="{92282934-A017-3B1C-CC5E-FE60C6ACE1C8}"/>
              </a:ext>
            </a:extLst>
          </p:cNvPr>
          <p:cNvPicPr>
            <a:picLocks noChangeAspect="1"/>
          </p:cNvPicPr>
          <p:nvPr/>
        </p:nvPicPr>
        <p:blipFill>
          <a:blip r:embed="rId4"/>
          <a:srcRect t="16188" b="6171"/>
          <a:stretch>
            <a:fillRect/>
          </a:stretch>
        </p:blipFill>
        <p:spPr>
          <a:xfrm>
            <a:off x="111605" y="1682156"/>
            <a:ext cx="11968483" cy="5186476"/>
          </a:xfrm>
          <a:prstGeom prst="rect">
            <a:avLst/>
          </a:prstGeom>
        </p:spPr>
      </p:pic>
    </p:spTree>
    <p:extLst>
      <p:ext uri="{BB962C8B-B14F-4D97-AF65-F5344CB8AC3E}">
        <p14:creationId xmlns:p14="http://schemas.microsoft.com/office/powerpoint/2010/main" val="22315607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640080"/>
            <a:ext cx="5486400" cy="274320"/>
          </a:xfrm>
          <a:prstGeom prst="rect">
            <a:avLst/>
          </a:prstGeom>
          <a:noFill/>
          <a:ln/>
        </p:spPr>
        <p:txBody>
          <a:bodyPr wrap="square" lIns="0" tIns="0" rIns="0" bIns="0" rtlCol="0" anchor="t"/>
          <a:lstStyle/>
          <a:p>
            <a:pPr marL="0" indent="0" algn="l">
              <a:buNone/>
            </a:pPr>
            <a:r>
              <a:rPr lang="en-US" sz="1000" b="1" kern="0" spc="1000" dirty="0">
                <a:solidFill>
                  <a:srgbClr val="B89058"/>
                </a:solidFill>
                <a:latin typeface="Inter" pitchFamily="34" charset="0"/>
                <a:ea typeface="Inter" pitchFamily="34" charset="-122"/>
                <a:cs typeface="Inter" pitchFamily="34" charset="-120"/>
              </a:rPr>
              <a:t>SECCION 4</a:t>
            </a:r>
            <a:endParaRPr lang="en-US" sz="1000" dirty="0"/>
          </a:p>
        </p:txBody>
      </p:sp>
      <p:sp>
        <p:nvSpPr>
          <p:cNvPr id="3" name="Text 1"/>
          <p:cNvSpPr/>
          <p:nvPr/>
        </p:nvSpPr>
        <p:spPr>
          <a:xfrm>
            <a:off x="640080" y="914400"/>
            <a:ext cx="10911535" cy="1188720"/>
          </a:xfrm>
          <a:prstGeom prst="rect">
            <a:avLst/>
          </a:prstGeom>
          <a:noFill/>
          <a:ln/>
        </p:spPr>
        <p:txBody>
          <a:bodyPr wrap="square" lIns="0" tIns="0" rIns="0" bIns="0" rtlCol="0" anchor="t"/>
          <a:lstStyle/>
          <a:p>
            <a:pPr marL="0" indent="0" algn="l">
              <a:buNone/>
            </a:pPr>
            <a:r>
              <a:rPr lang="es-ES" sz="3600" b="1" dirty="0">
                <a:solidFill>
                  <a:srgbClr val="B89058"/>
                </a:solidFill>
                <a:latin typeface="Garamond"/>
              </a:rPr>
              <a:t>22.</a:t>
            </a:r>
            <a:r>
              <a:rPr sz="3600" b="1" dirty="0">
                <a:solidFill>
                  <a:srgbClr val="B89058"/>
                </a:solidFill>
                <a:latin typeface="Garamond"/>
              </a:rPr>
              <a:t> </a:t>
            </a:r>
            <a:r>
              <a:rPr sz="3600" b="1" dirty="0" err="1">
                <a:solidFill>
                  <a:srgbClr val="F0E5D8"/>
                </a:solidFill>
                <a:latin typeface="Garamond"/>
              </a:rPr>
              <a:t>Conclusiones</a:t>
            </a:r>
            <a:r>
              <a:rPr sz="3600" b="1" dirty="0">
                <a:solidFill>
                  <a:srgbClr val="F0E5D8"/>
                </a:solidFill>
                <a:latin typeface="Garamond"/>
              </a:rPr>
              <a:t> </a:t>
            </a:r>
            <a:r>
              <a:rPr lang="es-ES" sz="3600" b="1" dirty="0">
                <a:solidFill>
                  <a:srgbClr val="F0E5D8"/>
                </a:solidFill>
                <a:latin typeface="Garamond"/>
              </a:rPr>
              <a:t>Generales</a:t>
            </a:r>
            <a:endParaRPr lang="en-US" sz="5600" dirty="0"/>
          </a:p>
        </p:txBody>
      </p:sp>
      <p:sp>
        <p:nvSpPr>
          <p:cNvPr id="4" name="Shape 2"/>
          <p:cNvSpPr/>
          <p:nvPr/>
        </p:nvSpPr>
        <p:spPr>
          <a:xfrm>
            <a:off x="640080" y="2240280"/>
            <a:ext cx="10911535" cy="73152"/>
          </a:xfrm>
          <a:prstGeom prst="rect">
            <a:avLst/>
          </a:prstGeom>
          <a:solidFill>
            <a:srgbClr val="B89058"/>
          </a:solidFill>
          <a:ln w="12700">
            <a:solidFill>
              <a:srgbClr val="B89058"/>
            </a:solidFill>
            <a:prstDash val="solid"/>
          </a:ln>
        </p:spPr>
        <p:txBody>
          <a:bodyPr/>
          <a:lstStyle/>
          <a:p>
            <a:endParaRPr lang="en-MX"/>
          </a:p>
        </p:txBody>
      </p:sp>
      <p:sp>
        <p:nvSpPr>
          <p:cNvPr id="5" name="Shape 3"/>
          <p:cNvSpPr/>
          <p:nvPr/>
        </p:nvSpPr>
        <p:spPr>
          <a:xfrm>
            <a:off x="640080" y="2359152"/>
            <a:ext cx="10911535" cy="22860"/>
          </a:xfrm>
          <a:prstGeom prst="rect">
            <a:avLst/>
          </a:prstGeom>
          <a:solidFill>
            <a:srgbClr val="B89058"/>
          </a:solidFill>
          <a:ln w="12700">
            <a:solidFill>
              <a:srgbClr val="B89058"/>
            </a:solidFill>
            <a:prstDash val="solid"/>
          </a:ln>
        </p:spPr>
        <p:txBody>
          <a:bodyPr/>
          <a:lstStyle/>
          <a:p>
            <a:endParaRPr lang="en-MX"/>
          </a:p>
        </p:txBody>
      </p:sp>
      <p:sp>
        <p:nvSpPr>
          <p:cNvPr id="9" name="Shape 7"/>
          <p:cNvSpPr/>
          <p:nvPr/>
        </p:nvSpPr>
        <p:spPr>
          <a:xfrm>
            <a:off x="7452360" y="2606040"/>
            <a:ext cx="10973" cy="3291840"/>
          </a:xfrm>
          <a:prstGeom prst="rect">
            <a:avLst/>
          </a:prstGeom>
          <a:solidFill>
            <a:srgbClr val="5A2840"/>
          </a:solidFill>
          <a:ln w="12700">
            <a:solidFill>
              <a:srgbClr val="5A2840"/>
            </a:solidFill>
            <a:prstDash val="solid"/>
          </a:ln>
        </p:spPr>
        <p:txBody>
          <a:bodyPr/>
          <a:lstStyle/>
          <a:p>
            <a:endParaRPr lang="en-MX"/>
          </a:p>
        </p:txBody>
      </p:sp>
      <p:sp>
        <p:nvSpPr>
          <p:cNvPr id="11" name="Text 9"/>
          <p:cNvSpPr/>
          <p:nvPr/>
        </p:nvSpPr>
        <p:spPr>
          <a:xfrm>
            <a:off x="7680960" y="3840480"/>
            <a:ext cx="4114800" cy="822960"/>
          </a:xfrm>
          <a:prstGeom prst="rect">
            <a:avLst/>
          </a:prstGeom>
          <a:noFill/>
          <a:ln/>
        </p:spPr>
        <p:txBody>
          <a:bodyPr wrap="square" lIns="0" tIns="0" rIns="0" bIns="0" rtlCol="0" anchor="t"/>
          <a:lstStyle/>
          <a:p>
            <a:pPr marL="0" indent="0" algn="l">
              <a:lnSpc>
                <a:spcPct val="130000"/>
              </a:lnSpc>
              <a:buNone/>
            </a:pPr>
            <a:endParaRPr lang="en-US" sz="1000"/>
          </a:p>
        </p:txBody>
      </p:sp>
      <p:sp>
        <p:nvSpPr>
          <p:cNvPr id="12" name="Text 10"/>
          <p:cNvSpPr/>
          <p:nvPr/>
        </p:nvSpPr>
        <p:spPr>
          <a:xfrm>
            <a:off x="640080" y="5989320"/>
            <a:ext cx="10911535" cy="365760"/>
          </a:xfrm>
          <a:prstGeom prst="rect">
            <a:avLst/>
          </a:prstGeom>
          <a:noFill/>
          <a:ln/>
        </p:spPr>
        <p:txBody>
          <a:bodyPr wrap="square" lIns="0" tIns="0" rIns="0" bIns="0" rtlCol="0" anchor="ctr"/>
          <a:lstStyle/>
          <a:p>
            <a:pPr marL="0" indent="0" algn="ctr">
              <a:buNone/>
            </a:pPr>
            <a:endParaRPr lang="en-US" sz="1600"/>
          </a:p>
        </p:txBody>
      </p:sp>
      <p:sp>
        <p:nvSpPr>
          <p:cNvPr id="13" name="Shape 11"/>
          <p:cNvSpPr/>
          <p:nvPr/>
        </p:nvSpPr>
        <p:spPr>
          <a:xfrm>
            <a:off x="548640" y="6473952"/>
            <a:ext cx="11094415" cy="10973"/>
          </a:xfrm>
          <a:prstGeom prst="rect">
            <a:avLst/>
          </a:prstGeom>
          <a:solidFill>
            <a:srgbClr val="5A2840"/>
          </a:solidFill>
          <a:ln w="12700">
            <a:solidFill>
              <a:srgbClr val="5A2840"/>
            </a:solidFill>
            <a:prstDash val="solid"/>
          </a:ln>
        </p:spPr>
        <p:txBody>
          <a:bodyPr/>
          <a:lstStyle/>
          <a:p>
            <a:endParaRPr lang="en-MX"/>
          </a:p>
        </p:txBody>
      </p:sp>
      <p:sp>
        <p:nvSpPr>
          <p:cNvPr id="14" name="Text 12"/>
          <p:cNvSpPr/>
          <p:nvPr/>
        </p:nvSpPr>
        <p:spPr>
          <a:xfrm>
            <a:off x="548640" y="6565392"/>
            <a:ext cx="1828800" cy="182880"/>
          </a:xfrm>
          <a:prstGeom prst="rect">
            <a:avLst/>
          </a:prstGeom>
          <a:noFill/>
          <a:ln/>
        </p:spPr>
        <p:txBody>
          <a:bodyPr wrap="square" lIns="0" tIns="0" rIns="0" bIns="0" rtlCol="0" anchor="ctr"/>
          <a:lstStyle/>
          <a:p>
            <a:pPr marL="0" indent="0" algn="l">
              <a:buNone/>
            </a:pPr>
            <a:r>
              <a:rPr lang="en-US" sz="800" b="1" kern="0" spc="400">
                <a:solidFill>
                  <a:srgbClr val="B89E94"/>
                </a:solidFill>
                <a:latin typeface="Inter" pitchFamily="34" charset="0"/>
                <a:ea typeface="Inter" pitchFamily="34" charset="-122"/>
                <a:cs typeface="Inter" pitchFamily="34" charset="-120"/>
              </a:rPr>
              <a:t>M.C.D.I.</a:t>
            </a:r>
            <a:endParaRPr lang="en-US" sz="800"/>
          </a:p>
        </p:txBody>
      </p:sp>
      <p:sp>
        <p:nvSpPr>
          <p:cNvPr id="15" name="Text 13"/>
          <p:cNvSpPr/>
          <p:nvPr/>
        </p:nvSpPr>
        <p:spPr>
          <a:xfrm>
            <a:off x="4724248" y="6565392"/>
            <a:ext cx="2743200" cy="182880"/>
          </a:xfrm>
          <a:prstGeom prst="rect">
            <a:avLst/>
          </a:prstGeom>
          <a:noFill/>
          <a:ln/>
        </p:spPr>
        <p:txBody>
          <a:bodyPr wrap="square" lIns="0" tIns="0" rIns="0" bIns="0" rtlCol="0" anchor="ctr"/>
          <a:lstStyle/>
          <a:p>
            <a:pPr marL="0" indent="0" algn="ctr">
              <a:buNone/>
            </a:pPr>
            <a:r>
              <a:rPr lang="en-US" sz="900" i="1">
                <a:solidFill>
                  <a:srgbClr val="D4B988"/>
                </a:solidFill>
                <a:latin typeface="Garamond" pitchFamily="34" charset="0"/>
                <a:ea typeface="Garamond" pitchFamily="34" charset="-122"/>
                <a:cs typeface="Garamond" pitchFamily="34" charset="-120"/>
              </a:rPr>
              <a:t>—  19 / 20  —</a:t>
            </a:r>
            <a:endParaRPr lang="en-US" sz="900"/>
          </a:p>
        </p:txBody>
      </p:sp>
      <p:sp>
        <p:nvSpPr>
          <p:cNvPr id="16" name="Text 14"/>
          <p:cNvSpPr/>
          <p:nvPr/>
        </p:nvSpPr>
        <p:spPr>
          <a:xfrm>
            <a:off x="8899855" y="6565392"/>
            <a:ext cx="2743200" cy="182880"/>
          </a:xfrm>
          <a:prstGeom prst="rect">
            <a:avLst/>
          </a:prstGeom>
          <a:noFill/>
          <a:ln/>
        </p:spPr>
        <p:txBody>
          <a:bodyPr wrap="square" lIns="0" tIns="0" rIns="0" bIns="0" rtlCol="0" anchor="ctr"/>
          <a:lstStyle/>
          <a:p>
            <a:pPr marL="0" indent="0" algn="r">
              <a:buNone/>
            </a:pPr>
            <a:r>
              <a:rPr lang="en-US" sz="800" i="1">
                <a:solidFill>
                  <a:srgbClr val="B89E94"/>
                </a:solidFill>
                <a:latin typeface="Garamond" pitchFamily="34" charset="0"/>
                <a:ea typeface="Garamond" pitchFamily="34" charset="-122"/>
                <a:cs typeface="Garamond" pitchFamily="34" charset="-120"/>
              </a:rPr>
              <a:t>Equipo 5</a:t>
            </a:r>
            <a:endParaRPr lang="en-US" sz="800"/>
          </a:p>
        </p:txBody>
      </p:sp>
      <p:pic>
        <p:nvPicPr>
          <p:cNvPr id="19" name="Picture 18">
            <a:extLst>
              <a:ext uri="{FF2B5EF4-FFF2-40B4-BE49-F238E27FC236}">
                <a16:creationId xmlns:a16="http://schemas.microsoft.com/office/drawing/2014/main" id="{DD3F83B4-60CC-EC5B-43E5-BE1E334D8D0B}"/>
              </a:ext>
            </a:extLst>
          </p:cNvPr>
          <p:cNvPicPr>
            <a:picLocks noChangeAspect="1"/>
          </p:cNvPicPr>
          <p:nvPr/>
        </p:nvPicPr>
        <p:blipFill>
          <a:blip r:embed="rId4"/>
          <a:srcRect t="18320" b="4638"/>
          <a:stretch>
            <a:fillRect/>
          </a:stretch>
        </p:blipFill>
        <p:spPr>
          <a:xfrm>
            <a:off x="396240" y="1703354"/>
            <a:ext cx="11094415" cy="477059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640080"/>
            <a:ext cx="5486400" cy="274320"/>
          </a:xfrm>
          <a:prstGeom prst="rect">
            <a:avLst/>
          </a:prstGeom>
          <a:noFill/>
          <a:ln/>
        </p:spPr>
        <p:txBody>
          <a:bodyPr wrap="square" lIns="0" tIns="0" rIns="0" bIns="0" rtlCol="0" anchor="t"/>
          <a:lstStyle/>
          <a:p>
            <a:pPr marL="0" indent="0" algn="l">
              <a:buNone/>
            </a:pPr>
            <a:r>
              <a:rPr lang="en-US" sz="1000" b="1" kern="0" spc="1000">
                <a:solidFill>
                  <a:srgbClr val="B89058"/>
                </a:solidFill>
                <a:latin typeface="Inter" pitchFamily="34" charset="0"/>
                <a:ea typeface="Inter" pitchFamily="34" charset="-122"/>
                <a:cs typeface="Inter" pitchFamily="34" charset="-120"/>
              </a:rPr>
              <a:t>CIERRE</a:t>
            </a:r>
            <a:endParaRPr lang="en-US" sz="1000"/>
          </a:p>
        </p:txBody>
      </p:sp>
      <p:sp>
        <p:nvSpPr>
          <p:cNvPr id="3" name="Text 1"/>
          <p:cNvSpPr/>
          <p:nvPr/>
        </p:nvSpPr>
        <p:spPr>
          <a:xfrm>
            <a:off x="640080" y="914400"/>
            <a:ext cx="10911535" cy="1188720"/>
          </a:xfrm>
          <a:prstGeom prst="rect">
            <a:avLst/>
          </a:prstGeom>
          <a:noFill/>
          <a:ln/>
        </p:spPr>
        <p:txBody>
          <a:bodyPr wrap="square" lIns="0" tIns="0" rIns="0" bIns="0" rtlCol="0" anchor="t"/>
          <a:lstStyle/>
          <a:p>
            <a:pPr marL="0" indent="0" algn="l">
              <a:buNone/>
            </a:pPr>
            <a:r>
              <a:rPr lang="es-ES" sz="3600" b="1" dirty="0">
                <a:solidFill>
                  <a:srgbClr val="B89058"/>
                </a:solidFill>
                <a:latin typeface="Garamond"/>
              </a:rPr>
              <a:t>23.</a:t>
            </a:r>
            <a:r>
              <a:rPr sz="3600" b="1" dirty="0">
                <a:solidFill>
                  <a:srgbClr val="B89058"/>
                </a:solidFill>
                <a:latin typeface="Garamond"/>
              </a:rPr>
              <a:t> </a:t>
            </a:r>
            <a:r>
              <a:rPr lang="es-ES" sz="3600" b="1" dirty="0">
                <a:solidFill>
                  <a:srgbClr val="F0E5D8"/>
                </a:solidFill>
                <a:latin typeface="Garamond"/>
              </a:rPr>
              <a:t>Repositorio y Cierre</a:t>
            </a:r>
            <a:endParaRPr lang="en-US" sz="5600" dirty="0"/>
          </a:p>
        </p:txBody>
      </p:sp>
      <p:sp>
        <p:nvSpPr>
          <p:cNvPr id="4" name="Shape 2"/>
          <p:cNvSpPr/>
          <p:nvPr/>
        </p:nvSpPr>
        <p:spPr>
          <a:xfrm>
            <a:off x="640080" y="2240280"/>
            <a:ext cx="10911535" cy="73152"/>
          </a:xfrm>
          <a:prstGeom prst="rect">
            <a:avLst/>
          </a:prstGeom>
          <a:solidFill>
            <a:srgbClr val="B89058"/>
          </a:solidFill>
          <a:ln w="12700">
            <a:solidFill>
              <a:srgbClr val="B89058"/>
            </a:solidFill>
            <a:prstDash val="solid"/>
          </a:ln>
        </p:spPr>
        <p:txBody>
          <a:bodyPr/>
          <a:lstStyle/>
          <a:p>
            <a:endParaRPr lang="en-MX"/>
          </a:p>
        </p:txBody>
      </p:sp>
      <p:sp>
        <p:nvSpPr>
          <p:cNvPr id="5" name="Shape 3"/>
          <p:cNvSpPr/>
          <p:nvPr/>
        </p:nvSpPr>
        <p:spPr>
          <a:xfrm>
            <a:off x="640080" y="2359152"/>
            <a:ext cx="10911535" cy="22860"/>
          </a:xfrm>
          <a:prstGeom prst="rect">
            <a:avLst/>
          </a:prstGeom>
          <a:solidFill>
            <a:srgbClr val="B89058"/>
          </a:solidFill>
          <a:ln w="12700">
            <a:solidFill>
              <a:srgbClr val="B89058"/>
            </a:solidFill>
            <a:prstDash val="solid"/>
          </a:ln>
        </p:spPr>
        <p:txBody>
          <a:bodyPr/>
          <a:lstStyle/>
          <a:p>
            <a:endParaRPr lang="en-MX"/>
          </a:p>
        </p:txBody>
      </p:sp>
      <p:sp>
        <p:nvSpPr>
          <p:cNvPr id="6" name="Text 4"/>
          <p:cNvSpPr/>
          <p:nvPr/>
        </p:nvSpPr>
        <p:spPr>
          <a:xfrm>
            <a:off x="640080" y="2606040"/>
            <a:ext cx="3657600" cy="228600"/>
          </a:xfrm>
          <a:prstGeom prst="rect">
            <a:avLst/>
          </a:prstGeom>
          <a:noFill/>
          <a:ln/>
        </p:spPr>
        <p:txBody>
          <a:bodyPr wrap="square" lIns="0" tIns="0" rIns="0" bIns="0" rtlCol="0" anchor="t"/>
          <a:lstStyle/>
          <a:p>
            <a:pPr marL="0" indent="0" algn="l">
              <a:buNone/>
            </a:pPr>
            <a:r>
              <a:rPr lang="en-US" sz="900" b="1" kern="0" spc="1000" dirty="0">
                <a:solidFill>
                  <a:srgbClr val="D4B988"/>
                </a:solidFill>
                <a:latin typeface="Inter" pitchFamily="34" charset="0"/>
                <a:ea typeface="Inter" pitchFamily="34" charset="-122"/>
                <a:cs typeface="Inter" pitchFamily="34" charset="-120"/>
              </a:rPr>
              <a:t>EQUIPO</a:t>
            </a:r>
            <a:endParaRPr lang="en-US" sz="900" dirty="0"/>
          </a:p>
        </p:txBody>
      </p:sp>
      <p:sp>
        <p:nvSpPr>
          <p:cNvPr id="7" name="Text 5"/>
          <p:cNvSpPr/>
          <p:nvPr/>
        </p:nvSpPr>
        <p:spPr>
          <a:xfrm>
            <a:off x="640080" y="2926080"/>
            <a:ext cx="6766560" cy="3108960"/>
          </a:xfrm>
          <a:prstGeom prst="rect">
            <a:avLst/>
          </a:prstGeom>
          <a:noFill/>
          <a:ln/>
        </p:spPr>
        <p:txBody>
          <a:bodyPr wrap="square" lIns="0" tIns="0" rIns="0" bIns="0" rtlCol="0" anchor="t"/>
          <a:lstStyle/>
          <a:p>
            <a:pPr algn="just">
              <a:lnSpc>
                <a:spcPct val="140000"/>
              </a:lnSpc>
              <a:spcAft>
                <a:spcPts val="500"/>
              </a:spcAft>
            </a:pPr>
            <a:r>
              <a:rPr lang="en-US" sz="1150" dirty="0" err="1">
                <a:solidFill>
                  <a:srgbClr val="F0E5D8"/>
                </a:solidFill>
              </a:rPr>
              <a:t>Sección</a:t>
            </a:r>
            <a:r>
              <a:rPr lang="en-US" sz="1150" dirty="0">
                <a:solidFill>
                  <a:srgbClr val="F0E5D8"/>
                </a:solidFill>
              </a:rPr>
              <a:t> 1. Andres Rangel</a:t>
            </a:r>
          </a:p>
          <a:p>
            <a:pPr algn="just">
              <a:lnSpc>
                <a:spcPct val="140000"/>
              </a:lnSpc>
              <a:spcAft>
                <a:spcPts val="500"/>
              </a:spcAft>
            </a:pPr>
            <a:r>
              <a:rPr lang="en-US" sz="1150" dirty="0" err="1">
                <a:solidFill>
                  <a:srgbClr val="F0E5D8"/>
                </a:solidFill>
              </a:rPr>
              <a:t>Sección</a:t>
            </a:r>
            <a:r>
              <a:rPr lang="en-US" sz="1150" dirty="0">
                <a:solidFill>
                  <a:srgbClr val="F0E5D8"/>
                </a:solidFill>
              </a:rPr>
              <a:t> 2. Santiago Mendoza</a:t>
            </a:r>
          </a:p>
          <a:p>
            <a:pPr algn="just">
              <a:lnSpc>
                <a:spcPct val="140000"/>
              </a:lnSpc>
              <a:spcAft>
                <a:spcPts val="500"/>
              </a:spcAft>
            </a:pPr>
            <a:r>
              <a:rPr lang="en-US" sz="1150" dirty="0" err="1">
                <a:solidFill>
                  <a:srgbClr val="F0E5D8"/>
                </a:solidFill>
              </a:rPr>
              <a:t>Sección</a:t>
            </a:r>
            <a:r>
              <a:rPr lang="en-US" sz="1150" dirty="0">
                <a:solidFill>
                  <a:srgbClr val="F0E5D8"/>
                </a:solidFill>
              </a:rPr>
              <a:t> 3. David Rodriguez</a:t>
            </a:r>
          </a:p>
          <a:p>
            <a:pPr algn="just">
              <a:lnSpc>
                <a:spcPct val="140000"/>
              </a:lnSpc>
              <a:spcAft>
                <a:spcPts val="500"/>
              </a:spcAft>
            </a:pPr>
            <a:r>
              <a:rPr lang="en-US" sz="1150" dirty="0" err="1">
                <a:solidFill>
                  <a:srgbClr val="F0E5D8"/>
                </a:solidFill>
              </a:rPr>
              <a:t>Sección</a:t>
            </a:r>
            <a:r>
              <a:rPr lang="en-US" sz="1150" dirty="0">
                <a:solidFill>
                  <a:srgbClr val="F0E5D8"/>
                </a:solidFill>
              </a:rPr>
              <a:t> 4. Bryan Rodriguez</a:t>
            </a:r>
            <a:endParaRPr sz="1150" dirty="0">
              <a:solidFill>
                <a:srgbClr val="F0E5D8"/>
              </a:solidFill>
            </a:endParaRPr>
          </a:p>
        </p:txBody>
      </p:sp>
      <p:sp>
        <p:nvSpPr>
          <p:cNvPr id="8" name="Text 6"/>
          <p:cNvSpPr/>
          <p:nvPr/>
        </p:nvSpPr>
        <p:spPr>
          <a:xfrm>
            <a:off x="7680960" y="2606040"/>
            <a:ext cx="4114800" cy="228600"/>
          </a:xfrm>
          <a:prstGeom prst="rect">
            <a:avLst/>
          </a:prstGeom>
          <a:noFill/>
          <a:ln/>
        </p:spPr>
        <p:txBody>
          <a:bodyPr wrap="square" lIns="0" tIns="0" rIns="0" bIns="0" rtlCol="0" anchor="t"/>
          <a:lstStyle/>
          <a:p>
            <a:pPr marL="0" indent="0" algn="l">
              <a:buNone/>
            </a:pPr>
            <a:r>
              <a:rPr lang="en-US" sz="900" b="1" kern="0" spc="800">
                <a:solidFill>
                  <a:srgbClr val="D4B988"/>
                </a:solidFill>
                <a:latin typeface="Inter" pitchFamily="34" charset="0"/>
                <a:ea typeface="Inter" pitchFamily="34" charset="-122"/>
                <a:cs typeface="Inter" pitchFamily="34" charset="-120"/>
              </a:rPr>
              <a:t>REPOSITORIO</a:t>
            </a:r>
            <a:endParaRPr lang="en-US" sz="900"/>
          </a:p>
        </p:txBody>
      </p:sp>
      <p:sp>
        <p:nvSpPr>
          <p:cNvPr id="9" name="Shape 7"/>
          <p:cNvSpPr/>
          <p:nvPr/>
        </p:nvSpPr>
        <p:spPr>
          <a:xfrm>
            <a:off x="7452360" y="2606040"/>
            <a:ext cx="10973" cy="3291840"/>
          </a:xfrm>
          <a:prstGeom prst="rect">
            <a:avLst/>
          </a:prstGeom>
          <a:solidFill>
            <a:srgbClr val="5A2840"/>
          </a:solidFill>
          <a:ln w="12700">
            <a:solidFill>
              <a:srgbClr val="5A2840"/>
            </a:solidFill>
            <a:prstDash val="solid"/>
          </a:ln>
        </p:spPr>
        <p:txBody>
          <a:bodyPr/>
          <a:lstStyle/>
          <a:p>
            <a:endParaRPr lang="en-MX"/>
          </a:p>
        </p:txBody>
      </p:sp>
      <p:sp>
        <p:nvSpPr>
          <p:cNvPr id="10" name="Text 8"/>
          <p:cNvSpPr/>
          <p:nvPr/>
        </p:nvSpPr>
        <p:spPr>
          <a:xfrm>
            <a:off x="7680960" y="2926080"/>
            <a:ext cx="4114800" cy="822960"/>
          </a:xfrm>
          <a:prstGeom prst="rect">
            <a:avLst/>
          </a:prstGeom>
          <a:noFill/>
          <a:ln/>
        </p:spPr>
        <p:txBody>
          <a:bodyPr wrap="square" lIns="0" tIns="0" rIns="0" bIns="0" rtlCol="0" anchor="t"/>
          <a:lstStyle/>
          <a:p>
            <a:pPr marL="0" indent="0" algn="l">
              <a:lnSpc>
                <a:spcPct val="130000"/>
              </a:lnSpc>
              <a:spcAft>
                <a:spcPts val="400"/>
              </a:spcAft>
              <a:buNone/>
            </a:pPr>
            <a:r>
              <a:rPr sz="1100" i="1" err="1">
                <a:solidFill>
                  <a:srgbClr val="D4B988"/>
                </a:solidFill>
              </a:rPr>
              <a:t>github.com</a:t>
            </a:r>
            <a:r>
              <a:rPr sz="1100" i="1">
                <a:solidFill>
                  <a:srgbClr val="D4B988"/>
                </a:solidFill>
              </a:rPr>
              <a:t>/</a:t>
            </a:r>
            <a:r>
              <a:rPr sz="1100" i="1" err="1">
                <a:solidFill>
                  <a:srgbClr val="D4B988"/>
                </a:solidFill>
              </a:rPr>
              <a:t>vryahn</a:t>
            </a:r>
            <a:r>
              <a:rPr sz="1100" i="1">
                <a:solidFill>
                  <a:srgbClr val="D4B988"/>
                </a:solidFill>
              </a:rPr>
              <a:t>/mcdi-matematicas-eq5-problema-transporte</a:t>
            </a:r>
            <a:endParaRPr lang="es-ES" sz="1100" i="1">
              <a:solidFill>
                <a:srgbClr val="D4B988"/>
              </a:solidFill>
            </a:endParaRPr>
          </a:p>
        </p:txBody>
      </p:sp>
      <p:sp>
        <p:nvSpPr>
          <p:cNvPr id="11" name="Text 9"/>
          <p:cNvSpPr/>
          <p:nvPr/>
        </p:nvSpPr>
        <p:spPr>
          <a:xfrm>
            <a:off x="7680960" y="3840480"/>
            <a:ext cx="4114800" cy="822960"/>
          </a:xfrm>
          <a:prstGeom prst="rect">
            <a:avLst/>
          </a:prstGeom>
          <a:noFill/>
          <a:ln/>
        </p:spPr>
        <p:txBody>
          <a:bodyPr wrap="square" lIns="0" tIns="0" rIns="0" bIns="0" rtlCol="0" anchor="t"/>
          <a:lstStyle/>
          <a:p>
            <a:pPr marL="0" indent="0" algn="l">
              <a:lnSpc>
                <a:spcPct val="130000"/>
              </a:lnSpc>
              <a:buNone/>
            </a:pPr>
            <a:endParaRPr lang="en-US" sz="1000"/>
          </a:p>
        </p:txBody>
      </p:sp>
      <p:sp>
        <p:nvSpPr>
          <p:cNvPr id="12" name="Text 10"/>
          <p:cNvSpPr/>
          <p:nvPr/>
        </p:nvSpPr>
        <p:spPr>
          <a:xfrm>
            <a:off x="640080" y="5989320"/>
            <a:ext cx="10911535" cy="365760"/>
          </a:xfrm>
          <a:prstGeom prst="rect">
            <a:avLst/>
          </a:prstGeom>
          <a:noFill/>
          <a:ln/>
        </p:spPr>
        <p:txBody>
          <a:bodyPr wrap="square" lIns="0" tIns="0" rIns="0" bIns="0" rtlCol="0" anchor="ctr"/>
          <a:lstStyle/>
          <a:p>
            <a:pPr marL="0" indent="0" algn="ctr">
              <a:buNone/>
            </a:pPr>
            <a:r>
              <a:rPr lang="en-US" sz="2000" i="1" kern="0" spc="400">
                <a:solidFill>
                  <a:srgbClr val="B89058"/>
                </a:solidFill>
                <a:latin typeface="Garamond" pitchFamily="34" charset="0"/>
                <a:ea typeface="Garamond" pitchFamily="34" charset="-122"/>
                <a:cs typeface="Garamond" pitchFamily="34" charset="-120"/>
              </a:rPr>
              <a:t>¡ Gracias !</a:t>
            </a:r>
            <a:endParaRPr lang="en-US" sz="1600"/>
          </a:p>
        </p:txBody>
      </p:sp>
      <p:sp>
        <p:nvSpPr>
          <p:cNvPr id="13" name="Shape 11"/>
          <p:cNvSpPr/>
          <p:nvPr/>
        </p:nvSpPr>
        <p:spPr>
          <a:xfrm>
            <a:off x="548640" y="6473952"/>
            <a:ext cx="11094415" cy="10973"/>
          </a:xfrm>
          <a:prstGeom prst="rect">
            <a:avLst/>
          </a:prstGeom>
          <a:solidFill>
            <a:srgbClr val="5A2840"/>
          </a:solidFill>
          <a:ln w="12700">
            <a:solidFill>
              <a:srgbClr val="5A2840"/>
            </a:solidFill>
            <a:prstDash val="solid"/>
          </a:ln>
        </p:spPr>
        <p:txBody>
          <a:bodyPr/>
          <a:lstStyle/>
          <a:p>
            <a:endParaRPr lang="en-MX"/>
          </a:p>
        </p:txBody>
      </p:sp>
      <p:sp>
        <p:nvSpPr>
          <p:cNvPr id="14" name="Text 12"/>
          <p:cNvSpPr/>
          <p:nvPr/>
        </p:nvSpPr>
        <p:spPr>
          <a:xfrm>
            <a:off x="548640" y="6565392"/>
            <a:ext cx="1828800" cy="182880"/>
          </a:xfrm>
          <a:prstGeom prst="rect">
            <a:avLst/>
          </a:prstGeom>
          <a:noFill/>
          <a:ln/>
        </p:spPr>
        <p:txBody>
          <a:bodyPr wrap="square" lIns="0" tIns="0" rIns="0" bIns="0" rtlCol="0" anchor="ctr"/>
          <a:lstStyle/>
          <a:p>
            <a:pPr marL="0" indent="0" algn="l">
              <a:buNone/>
            </a:pPr>
            <a:r>
              <a:rPr lang="en-US" sz="800" b="1" kern="0" spc="400">
                <a:solidFill>
                  <a:srgbClr val="B89E94"/>
                </a:solidFill>
                <a:latin typeface="Inter" pitchFamily="34" charset="0"/>
                <a:ea typeface="Inter" pitchFamily="34" charset="-122"/>
                <a:cs typeface="Inter" pitchFamily="34" charset="-120"/>
              </a:rPr>
              <a:t>M.C.D.I.</a:t>
            </a:r>
            <a:endParaRPr lang="en-US" sz="800"/>
          </a:p>
        </p:txBody>
      </p:sp>
      <p:sp>
        <p:nvSpPr>
          <p:cNvPr id="15" name="Text 13"/>
          <p:cNvSpPr/>
          <p:nvPr/>
        </p:nvSpPr>
        <p:spPr>
          <a:xfrm>
            <a:off x="4724248" y="6565392"/>
            <a:ext cx="2743200" cy="182880"/>
          </a:xfrm>
          <a:prstGeom prst="rect">
            <a:avLst/>
          </a:prstGeom>
          <a:noFill/>
          <a:ln/>
        </p:spPr>
        <p:txBody>
          <a:bodyPr wrap="square" lIns="0" tIns="0" rIns="0" bIns="0" rtlCol="0" anchor="ctr"/>
          <a:lstStyle/>
          <a:p>
            <a:pPr marL="0" indent="0" algn="ctr">
              <a:buNone/>
            </a:pPr>
            <a:r>
              <a:rPr lang="en-US" sz="900" i="1">
                <a:solidFill>
                  <a:srgbClr val="D4B988"/>
                </a:solidFill>
                <a:latin typeface="Garamond" pitchFamily="34" charset="0"/>
                <a:ea typeface="Garamond" pitchFamily="34" charset="-122"/>
                <a:cs typeface="Garamond" pitchFamily="34" charset="-120"/>
              </a:rPr>
              <a:t>—  20 / 20  —</a:t>
            </a:r>
            <a:endParaRPr lang="en-US" sz="900"/>
          </a:p>
        </p:txBody>
      </p:sp>
      <p:sp>
        <p:nvSpPr>
          <p:cNvPr id="16" name="Text 14"/>
          <p:cNvSpPr/>
          <p:nvPr/>
        </p:nvSpPr>
        <p:spPr>
          <a:xfrm>
            <a:off x="8899855" y="6565392"/>
            <a:ext cx="2743200" cy="182880"/>
          </a:xfrm>
          <a:prstGeom prst="rect">
            <a:avLst/>
          </a:prstGeom>
          <a:noFill/>
          <a:ln/>
        </p:spPr>
        <p:txBody>
          <a:bodyPr wrap="square" lIns="0" tIns="0" rIns="0" bIns="0" rtlCol="0" anchor="ctr"/>
          <a:lstStyle/>
          <a:p>
            <a:pPr marL="0" indent="0" algn="r">
              <a:buNone/>
            </a:pPr>
            <a:r>
              <a:rPr lang="en-US" sz="800" i="1">
                <a:solidFill>
                  <a:srgbClr val="B89E94"/>
                </a:solidFill>
                <a:latin typeface="Garamond" pitchFamily="34" charset="0"/>
                <a:ea typeface="Garamond" pitchFamily="34" charset="-122"/>
                <a:cs typeface="Garamond" pitchFamily="34" charset="-120"/>
              </a:rPr>
              <a:t>Equipo 5</a:t>
            </a:r>
            <a:endParaRPr lang="en-US" sz="800"/>
          </a:p>
        </p:txBody>
      </p:sp>
      <p:pic>
        <p:nvPicPr>
          <p:cNvPr id="32" name="Picture 31">
            <a:extLst>
              <a:ext uri="{FF2B5EF4-FFF2-40B4-BE49-F238E27FC236}">
                <a16:creationId xmlns:a16="http://schemas.microsoft.com/office/drawing/2014/main" id="{5D0A5E20-DD61-5BBA-4E94-3FDF886469ED}"/>
              </a:ext>
            </a:extLst>
          </p:cNvPr>
          <p:cNvPicPr>
            <a:picLocks noChangeAspect="1"/>
          </p:cNvPicPr>
          <p:nvPr/>
        </p:nvPicPr>
        <p:blipFill>
          <a:blip r:embed="rId4"/>
          <a:stretch>
            <a:fillRect/>
          </a:stretch>
        </p:blipFill>
        <p:spPr>
          <a:xfrm>
            <a:off x="8554344" y="3495883"/>
            <a:ext cx="2063669" cy="2063669"/>
          </a:xfrm>
          <a:prstGeom prst="rect">
            <a:avLst/>
          </a:prstGeom>
          <a:effectLst>
            <a:softEdge rad="31750"/>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2335</Words>
  <Application>Microsoft Office PowerPoint</Application>
  <PresentationFormat>Widescreen</PresentationFormat>
  <Paragraphs>339</Paragraphs>
  <Slides>23</Slides>
  <Notes>23</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Bryan Rodríguez</cp:lastModifiedBy>
  <cp:revision>2</cp:revision>
  <cp:lastPrinted>2026-05-15T00:29:12Z</cp:lastPrinted>
  <dcterms:created xsi:type="dcterms:W3CDTF">2013-01-27T09:14:16Z</dcterms:created>
  <dcterms:modified xsi:type="dcterms:W3CDTF">2026-05-15T02:08:35Z</dcterms:modified>
  <cp:category/>
</cp:coreProperties>
</file>